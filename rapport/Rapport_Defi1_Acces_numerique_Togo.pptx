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A6B62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A6B62"/>
                </a:solidFill>
                <a:latin typeface="Calibri"/>
              </a:rPr>
              <a:t>Points mobile money pour 10 000 habitants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 / 10 000 hab.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0B0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Plateaux</c:v>
                  </c:pt>
                  <c:pt idx="1">
                    <c:v>Savanes</c:v>
                  </c:pt>
                  <c:pt idx="2">
                    <c:v>Maritime</c:v>
                  </c:pt>
                  <c:pt idx="3">
                    <c:v>Centrale</c:v>
                  </c:pt>
                  <c:pt idx="4">
                    <c:v>Kara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18.8</c:v>
                </c:pt>
                <c:pt idx="1">
                  <c:v>23.4</c:v>
                </c:pt>
                <c:pt idx="2">
                  <c:v>25.4</c:v>
                </c:pt>
                <c:pt idx="3">
                  <c:v>26.3</c:v>
                </c:pt>
                <c:pt idx="4">
                  <c:v>29.9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B0B0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6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12700" cap="flat">
              <a:solidFill>
                <a:srgbClr val="EFEE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6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A6B62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A6B62"/>
                </a:solidFill>
                <a:latin typeface="Calibri"/>
              </a:rPr>
              <a:t>Population des préfectures dépourvues d’agence télécom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Population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0B0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Danyi</c:v>
                  </c:pt>
                  <c:pt idx="1">
                    <c:v>Mô</c:v>
                  </c:pt>
                  <c:pt idx="2">
                    <c:v>Akébou</c:v>
                  </c:pt>
                  <c:pt idx="3">
                    <c:v>Binah</c:v>
                  </c:pt>
                  <c:pt idx="4">
                    <c:v>Kpendjal</c:v>
                  </c:pt>
                  <c:pt idx="5">
                    <c:v>Wawa</c:v>
                  </c:pt>
                  <c:pt idx="6">
                    <c:v>Amou</c:v>
                  </c:pt>
                  <c:pt idx="7">
                    <c:v>Kpendjal-Ouest</c:v>
                  </c:pt>
                  <c:pt idx="8">
                    <c:v>Tandjoaré</c:v>
                  </c:pt>
                  <c:pt idx="9">
                    <c:v>Est-Mono</c:v>
                  </c:pt>
                  <c:pt idx="10">
                    <c:v>Vo</c:v>
                  </c:pt>
                  <c:pt idx="11">
                    <c:v>Lacs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40240</c:v>
                </c:pt>
                <c:pt idx="1">
                  <c:v>52448</c:v>
                </c:pt>
                <c:pt idx="2">
                  <c:v>73830</c:v>
                </c:pt>
                <c:pt idx="3">
                  <c:v>84199</c:v>
                </c:pt>
                <c:pt idx="4">
                  <c:v>88365</c:v>
                </c:pt>
                <c:pt idx="5">
                  <c:v>101300</c:v>
                </c:pt>
                <c:pt idx="6">
                  <c:v>114172</c:v>
                </c:pt>
                <c:pt idx="7">
                  <c:v>123330</c:v>
                </c:pt>
                <c:pt idx="8">
                  <c:v>138867</c:v>
                </c:pt>
                <c:pt idx="9">
                  <c:v>164460</c:v>
                </c:pt>
                <c:pt idx="10">
                  <c:v>224411</c:v>
                </c:pt>
                <c:pt idx="11">
                  <c:v>241247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b="0" i="0" strike="noStrike" sz="1100" u="none">
                  <a:solidFill>
                    <a:srgbClr val="0B0B0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6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12700" cap="flat">
              <a:solidFill>
                <a:srgbClr val="EFEE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6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A6B62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A6B62"/>
                </a:solidFill>
                <a:latin typeface="Calibri"/>
              </a:rPr>
              <a:t>Accès observé rapporté à l’accès attendu (1,00 = proportionnel à la population)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Ratio observé / attendu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0B0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Kpendjal</c:v>
                  </c:pt>
                  <c:pt idx="1">
                    <c:v>Blitta</c:v>
                  </c:pt>
                  <c:pt idx="2">
                    <c:v>Mô</c:v>
                  </c:pt>
                  <c:pt idx="3">
                    <c:v>Moyen-Mono</c:v>
                  </c:pt>
                  <c:pt idx="4">
                    <c:v>Yoto</c:v>
                  </c:pt>
                  <c:pt idx="5">
                    <c:v>Tchamba</c:v>
                  </c:pt>
                  <c:pt idx="6">
                    <c:v>Agoè-Nyivé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0.19</c:v>
                </c:pt>
                <c:pt idx="1">
                  <c:v>0.23</c:v>
                </c:pt>
                <c:pt idx="2">
                  <c:v>0.25</c:v>
                </c:pt>
                <c:pt idx="3">
                  <c:v>0.37</c:v>
                </c:pt>
                <c:pt idx="4">
                  <c:v>0.37</c:v>
                </c:pt>
                <c:pt idx="5">
                  <c:v>0.42</c:v>
                </c:pt>
                <c:pt idx="6">
                  <c:v>0.65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B0B0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6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12700" cap="flat">
              <a:solidFill>
                <a:srgbClr val="EFEE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6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A6B62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A6B62"/>
                </a:solidFill>
                <a:latin typeface="Calibri"/>
              </a:rPr>
              <a:t>Score de priorité d’extension (base 100 = priorité maximale)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 de priorité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B0B0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Dankpen</c:v>
                  </c:pt>
                  <c:pt idx="1">
                    <c:v>Est-Mono</c:v>
                  </c:pt>
                  <c:pt idx="2">
                    <c:v>Yoto</c:v>
                  </c:pt>
                  <c:pt idx="3">
                    <c:v>Tchamba</c:v>
                  </c:pt>
                  <c:pt idx="4">
                    <c:v>Blitta</c:v>
                  </c:pt>
                  <c:pt idx="5">
                    <c:v>Haho</c:v>
                  </c:pt>
                  <c:pt idx="6">
                    <c:v>Zio</c:v>
                  </c:pt>
                  <c:pt idx="7">
                    <c:v>Agoè-Nyivé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16</c:v>
                </c:pt>
                <c:pt idx="1">
                  <c:v>16</c:v>
                </c:pt>
                <c:pt idx="2">
                  <c:v>16</c:v>
                </c:pt>
                <c:pt idx="3">
                  <c:v>18</c:v>
                </c:pt>
                <c:pt idx="4">
                  <c:v>18</c:v>
                </c:pt>
                <c:pt idx="5">
                  <c:v>23</c:v>
                </c:pt>
                <c:pt idx="6">
                  <c:v>44</c:v>
                </c:pt>
                <c:pt idx="7">
                  <c:v>100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0B0B0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6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12700" cap="flat">
              <a:solidFill>
                <a:srgbClr val="EFEE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6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message d'ouverture : le diagnostic ne porte pas sur le signal mais sur l'accès effectif au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: la valeur ajoutée est la reconstruction des noms de préfectures et de cantons, absents des polygones officiels.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de bascule de la présentation : montrer que le récit intuitif est faux.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Préciser la limite : le centroïde n’est pas le barycentre de population.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DATA CHALLENGE TOGO AI LAB · ÉCONOMIE NUMÉRIQUE, DÉFI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8308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Accès aux télécoms et aux services numériques au Togo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1089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Diagnostic territorial et priorisation de l’extension de la connectivité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3749040"/>
            <a:ext cx="2011680" cy="0"/>
          </a:xfrm>
          <a:prstGeom prst="line">
            <a:avLst/>
          </a:prstGeom>
          <a:noFill/>
          <a:ln w="31750">
            <a:solidFill>
              <a:srgbClr val="F2C23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22960" y="4069080"/>
            <a:ext cx="8778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Un Togolais sur six vit dans une préfecture où aucun opérateur</a:t>
            </a:r>
            <a:endParaRPr lang="en-US" sz="1900" dirty="0"/>
          </a:p>
          <a:p>
            <a:pPr indent="0" marL="0">
              <a:buNone/>
            </a:pPr>
            <a:r>
              <a:rPr lang="en-US" sz="1900" i="1" dirty="0">
                <a:solidFill>
                  <a:srgbClr val="0B0B0B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n’a de guichet physique.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Komi Selassi GAYI  ·  septembre 2026  ·  39 préfectures, 396 cantons, 8 095 498 habitants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MÉTHODE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Des données publiques, une chaîne reproductible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384048" cy="384048"/>
          </a:xfrm>
          <a:prstGeom prst="ellipse">
            <a:avLst/>
          </a:prstGeom>
          <a:solidFill>
            <a:srgbClr val="12345F"/>
          </a:solidFill>
          <a:ln w="12700">
            <a:solidFill>
              <a:srgbClr val="12345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74193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98448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19 788</a:t>
            </a:r>
            <a:endParaRPr lang="en-US" sz="23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63677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Agents mobile money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9842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Géoportail Géodata Togo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807208"/>
            <a:ext cx="384048" cy="384048"/>
          </a:xfrm>
          <a:prstGeom prst="ellipse">
            <a:avLst/>
          </a:prstGeom>
          <a:solidFill>
            <a:srgbClr val="12345F"/>
          </a:solidFill>
          <a:ln w="12700">
            <a:solidFill>
              <a:srgbClr val="12345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85800" y="285750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98448" y="2715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90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27523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Agences Moov et Togocom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309981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7 boutiques CANAL+ retrouvées hors Géodata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922776"/>
            <a:ext cx="384048" cy="384048"/>
          </a:xfrm>
          <a:prstGeom prst="ellipse">
            <a:avLst/>
          </a:prstGeom>
          <a:solidFill>
            <a:srgbClr val="12345F"/>
          </a:solidFill>
          <a:ln w="12700">
            <a:solidFill>
              <a:srgbClr val="12345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85800" y="397306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298448" y="383133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39 + 396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38679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Préfectures et cantons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421538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limites administratives, noms reconstruits par jointure spatiale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" y="5038344"/>
            <a:ext cx="384048" cy="384048"/>
          </a:xfrm>
          <a:prstGeom prst="ellipse">
            <a:avLst/>
          </a:prstGeom>
          <a:solidFill>
            <a:srgbClr val="12345F"/>
          </a:solidFill>
          <a:ln w="12700">
            <a:solidFill>
              <a:srgbClr val="12345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508863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98448" y="494690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8 095 498</a:t>
            </a:r>
            <a:endParaRPr lang="en-US" sz="230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4983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Habitants (RGPH-5, 2022)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383280" y="533095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somme des 39 préfectures vérifiée au chiffre près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635240" y="1600200"/>
            <a:ext cx="3886200" cy="4297680"/>
          </a:xfrm>
          <a:prstGeom prst="roundRect">
            <a:avLst>
              <a:gd name="adj" fmla="val 1882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7973568" y="1828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Méthode en quatre points</a:t>
            </a:r>
          </a:p>
        </p:txBody>
      </p:sp>
      <p:sp>
        <p:nvSpPr>
          <p:cNvPr id="26" name="Text 24"/>
          <p:cNvSpPr txBox="1"/>
          <p:nvPr/>
        </p:nvSpPr>
        <p:spPr>
          <a:xfrm>
            <a:off x="7973568" y="2286000"/>
            <a:ext cx="3246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Un inventaire, pas un échantillon. Les résultats sont descriptifs : ils mesurent la situation observée dans les données disponibles.</a:t>
            </a:r>
          </a:p>
          <a:p/>
          <a:p>
            <a:r>
              <a:t>Deux échelles. La préfecture sert au diagnostic ; le canton révèle les écarts de proximité entre les territoires.</a:t>
            </a:r>
          </a:p>
          <a:p/>
          <a:p>
            <a:r>
              <a:t>Des ratios comparables. Les volumes sont rapportés à la population pour éviter de confondre taille et niveau d’accès.</a:t>
            </a:r>
          </a:p>
          <a:p/>
          <a:p>
            <a:r>
              <a:t>Des limites explicites. La couverture radio n’est pas mesurée, le jeu CANAL+ est vide et 6,8 % des opérateurs mobile money ne sont pas renseignés.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640080" y="62362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Chaîne reproductible : données brutes, 3 scripts Python, tables d’analyse et tableau de bord.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RÉSULTAT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Rapporté aux habitants, le Sud n’est pas le mieux servi</a:t>
            </a:r>
            <a:endParaRPr lang="en-US" sz="3000" dirty="0"/>
          </a:p>
        </p:txBody>
      </p:sp>
      <p:pic>
        <p:nvPicPr>
          <p:cNvPr id="4" name="Image 0" descr="img/carte_ac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3291840" cy="4480560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4114800" y="1554480"/>
          <a:ext cx="42062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114800" y="457200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Le classement en valeur absolue dit l’inverse : Maritime concentre 45 % des points de service. C’est le dénominateur — la population — qui renverse la lecture.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8595360" y="1554480"/>
            <a:ext cx="2926080" cy="1481328"/>
          </a:xfrm>
          <a:prstGeom prst="roundRect">
            <a:avLst>
              <a:gd name="adj" fmla="val 4938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p/>
        </p:txBody>
      </p:sp>
      <p:sp>
        <p:nvSpPr>
          <p:cNvPr id="8" name="Text 4"/>
          <p:cNvSpPr txBox="1"/>
          <p:nvPr/>
        </p:nvSpPr>
        <p:spPr>
          <a:xfrm>
            <a:off x="8851392" y="1719072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3ᵉ</a:t>
            </a:r>
            <a:endParaRPr lang="en-US" sz="3400" dirty="0"/>
          </a:p>
        </p:txBody>
      </p:sp>
      <p:sp>
        <p:nvSpPr>
          <p:cNvPr id="9" name="Text 5"/>
          <p:cNvSpPr txBox="1"/>
          <p:nvPr/>
        </p:nvSpPr>
        <p:spPr>
          <a:xfrm>
            <a:off x="8851392" y="23774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Rang de Maritime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851392" y="261518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en accès par habitant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8595360" y="3200400"/>
            <a:ext cx="2926080" cy="1481328"/>
          </a:xfrm>
          <a:prstGeom prst="roundRect">
            <a:avLst>
              <a:gd name="adj" fmla="val 4938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 txBox="1"/>
          <p:nvPr/>
        </p:nvSpPr>
        <p:spPr>
          <a:xfrm>
            <a:off x="8851392" y="3364992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Plateaux</a:t>
            </a:r>
            <a:endParaRPr lang="en-US" sz="3400" dirty="0"/>
          </a:p>
        </p:txBody>
      </p:sp>
      <p:sp>
        <p:nvSpPr>
          <p:cNvPr id="13" name="Text 9"/>
          <p:cNvSpPr txBox="1"/>
          <p:nvPr/>
        </p:nvSpPr>
        <p:spPr>
          <a:xfrm>
            <a:off x="8851392" y="402336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Région la moins dotée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8851392" y="42611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18,8 points / 10 000 hab.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48920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La priorité géographique évidente — « le Nord d’abord » — ne résiste pas aux chiffres.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40080" y="62362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Source : Géoportail Géodata Togo (extraction du 9 septembre 2026) et RGPH-5, INSEED 2022.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RÉSULTAT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12 préfectures sans le moindre guichet opérateur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383280" cy="1481328"/>
          </a:xfrm>
          <a:prstGeom prst="roundRect">
            <a:avLst>
              <a:gd name="adj" fmla="val 4938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96112" y="162763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1 446 869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2860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Habitants concernés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52374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17,9 % de la population du pays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3108960"/>
            <a:ext cx="3383280" cy="1481328"/>
          </a:xfrm>
          <a:prstGeom prst="roundRect">
            <a:avLst>
              <a:gd name="adj" fmla="val 4938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96112" y="327355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12 / 39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9319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Préfectures sans agence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416966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aucun guichet opérateur ni point physique de souscription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80060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Lacs et Vo dépassent chacune 220 000 habitants. Ce ne sont pas des marges : ce sont des territoires entiers sans porte d’entrée physique vers l’offre télécom.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343400" y="1463040"/>
          <a:ext cx="71780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640080" y="62362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Une agence n’est pas qu’un point de vente : c’est le lieu de la souscription, du SAV et de la réclamation.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RÉSULTAT 3 · ÉCHELLE CANTON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2 km pour un agent, 16 km pour un opérateur</a:t>
            </a:r>
            <a:endParaRPr lang="en-US" sz="3000" dirty="0"/>
          </a:p>
        </p:txBody>
      </p:sp>
      <p:pic>
        <p:nvPicPr>
          <p:cNvPr id="4" name="Image 0" descr="img/carte_dis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371600"/>
            <a:ext cx="3200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508760"/>
            <a:ext cx="3566160" cy="1481328"/>
          </a:xfrm>
          <a:prstGeom prst="roundRect">
            <a:avLst>
              <a:gd name="adj" fmla="val 4938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896112" y="167335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2,0 km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23317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Distance médiane à un service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2569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tous services confondus, 396 cantons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389120" y="1508760"/>
            <a:ext cx="3566160" cy="1481328"/>
          </a:xfrm>
          <a:prstGeom prst="roundRect">
            <a:avLst>
              <a:gd name="adj" fmla="val 4938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645152" y="167335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16,2 km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4645152" y="23317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Distance médiane à une agence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645152" y="2569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jusqu’à 63 km dans le canton le plus isolé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40080" y="3337560"/>
            <a:ext cx="7315200" cy="1234440"/>
          </a:xfrm>
          <a:prstGeom prst="roundRect">
            <a:avLst>
              <a:gd name="adj" fmla="val 5926"/>
            </a:avLst>
          </a:prstGeom>
          <a:solidFill>
            <a:srgbClr val="0B2540"/>
          </a:solidFill>
          <a:ln w="12700">
            <a:solidFill>
              <a:srgbClr val="0B254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914400" y="352044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L’écart entre ces deux chiffres montre le rôle complémentaire du réseau d’agents : il rapproche les services des habitants quand une agence est plus éloignée.</a:t>
            </a:r>
          </a:p>
        </p:txBody>
      </p:sp>
      <p:sp>
        <p:nvSpPr>
          <p:cNvPr id="15" name="Text 12"/>
          <p:cNvSpPr txBox="1"/>
          <p:nvPr/>
        </p:nvSpPr>
        <p:spPr>
          <a:xfrm>
            <a:off x="640080" y="47548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23 cantons sur 396 ne comptent aucun point de service. Dans le canton le plus éloigné, situé à Blitta, le premier service est à 21 km. Ces écarts apparaissent seulement à l’échelle cantonale.</a:t>
            </a:r>
          </a:p>
        </p:txBody>
      </p:sp>
      <p:sp>
        <p:nvSpPr>
          <p:cNvPr id="16" name="Text 13"/>
          <p:cNvSpPr txBox="1"/>
          <p:nvPr/>
        </p:nvSpPr>
        <p:spPr>
          <a:xfrm>
            <a:off x="640080" y="62362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La couverture radio n’est pas mesurée : les zones blanches désignent ici l’absence de service physique, depuis le centroïde du canton.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RÉSULTAT 4 · ÉQUITÉ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Le marché a maillé le territoire mieux que l’institution</a:t>
            </a:r>
            <a:endParaRPr lang="en-US" sz="3000" dirty="0"/>
          </a:p>
        </p:txBody>
      </p:sp>
      <p:pic>
        <p:nvPicPr>
          <p:cNvPr id="4" name="Image 0" descr="img/loren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30936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69480" y="1600200"/>
            <a:ext cx="2011680" cy="1481328"/>
          </a:xfrm>
          <a:prstGeom prst="roundRect">
            <a:avLst>
              <a:gd name="adj" fmla="val 4938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7525512" y="176479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0,31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7525512" y="24231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Gini mobile money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525512" y="26609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réseau d’agents privés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9509760" y="1600200"/>
            <a:ext cx="2011680" cy="1481328"/>
          </a:xfrm>
          <a:prstGeom prst="roundRect">
            <a:avLst>
              <a:gd name="adj" fmla="val 4938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9765792" y="1764792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0,38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9765792" y="24231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Gini agences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765792" y="26609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réseau en propre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7269480" y="3429000"/>
            <a:ext cx="4251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Ce que cela signifie.</a:t>
            </a:r>
          </a:p>
          <a:p>
            <a:r>
              <a:t>Plus l’indice est bas, plus l’accès est également réparti. Le réseau d’agents apparaît mieux réparti que le réseau d’agences dans les données observées.</a:t>
            </a:r>
          </a:p>
          <a:p/>
          <a:p>
            <a:r>
              <a:t>Les données plaident donc en faveur d’une densification des agents, sans mesurer directement le coût ni la vitesse de déploiement.</a:t>
            </a:r>
          </a:p>
        </p:txBody>
      </p:sp>
      <p:sp>
        <p:nvSpPr>
          <p:cNvPr id="14" name="Text 11"/>
          <p:cNvSpPr txBox="1"/>
          <p:nvPr/>
        </p:nvSpPr>
        <p:spPr>
          <a:xfrm>
            <a:off x="640080" y="62362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Indice de Gini pondéré par la population, calculé sur l’accès rapporté aux habitants.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RÉSULTAT 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Le plus gros déficit est périurbain, pas rural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840480" cy="2331720"/>
          </a:xfrm>
          <a:prstGeom prst="roundRect">
            <a:avLst>
              <a:gd name="adj" fmla="val 3137"/>
            </a:avLst>
          </a:prstGeom>
          <a:solidFill>
            <a:srgbClr val="12345F"/>
          </a:solidFill>
          <a:ln w="12700">
            <a:solidFill>
              <a:srgbClr val="12345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14400" y="166420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Agoè-Nyivé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031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760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80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points de service manquants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pour 882 695 habitants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77640"/>
            <a:ext cx="38404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Agoè-Nyivé est une préfecture périurbaine fortement peuplée, mais son niveau de service reste inférieur à ce qu’impliquerait une répartition proportionnelle à la population.</a:t>
            </a:r>
          </a:p>
          <a:p/>
          <a:p>
            <a:r>
              <a:t>À l’inverse, les préfectures les mieux dotées sont les chefs-lieux régionaux : Sokodé (2,4×), Kara (2,3×) et Cinkassé (1,7×).</a:t>
            </a:r>
          </a:p>
          <a:p/>
          <a:p>
            <a:r>
              <a:t>L’implantation observée suit davantage la carte administrative que la carte démographique.</a:t>
            </a:r>
          </a:p>
        </p:txBody>
      </p:sp>
      <p:graphicFrame>
        <p:nvGraphicFramePr>
          <p:cNvPr id="9" name="Chart 0" descr=""/>
          <p:cNvGraphicFramePr/>
          <p:nvPr/>
        </p:nvGraphicFramePr>
        <p:xfrm>
          <a:off x="4846320" y="1554480"/>
          <a:ext cx="66751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40080" y="62362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« Attendu » = répartition strictement proportionnelle à la population. Hypothèse normative explicite, pas une vérité économique.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PRIORISATION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Une priorisation dont chaque paramètre est visible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 w="12700">
            <a:solidFill>
              <a:srgbClr val="EAF1F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41248" y="166420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45F"/>
                </a:solidFill>
                <a:latin typeface="Aptos" pitchFamily="34" charset="0"/>
                <a:ea typeface="Courier New" pitchFamily="34" charset="-122"/>
                <a:cs typeface="Courier New" pitchFamily="34" charset="-120"/>
              </a:rPr>
              <a:t>priorité  =  déficit  ×  (part de population)^α  ×  bonus zone blanche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Le curseur α équilibre deux priorités : corriger le déficit brut ou privilégier les territoires où davantage d’habitants sont concernés. α = 0 classe au déficit brut ; α = 1 donne davantage de poids à la population. La valeur retenue, 0,5, est réglable dans le tableau de bord.</a:t>
            </a:r>
          </a:p>
        </p:txBody>
      </p:sp>
      <p:graphicFrame>
        <p:nvGraphicFramePr>
          <p:cNvPr id="7" name="Chart 0" descr=""/>
          <p:cNvGraphicFramePr/>
          <p:nvPr/>
        </p:nvGraphicFramePr>
        <p:xfrm>
          <a:off x="4846320" y="1554480"/>
          <a:ext cx="66751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62362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Le score est transparent : aucun modèle boîte noire ni paramètre caché. Il peut être recalculé à partir de la table publiée.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RECOMMANDATIONS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Cinq recommandations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536192"/>
            <a:ext cx="384048" cy="384048"/>
          </a:xfrm>
          <a:prstGeom prst="ellipse">
            <a:avLst/>
          </a:prstGeom>
          <a:solidFill>
            <a:srgbClr val="12345F"/>
          </a:solidFill>
          <a:ln w="12700">
            <a:solidFill>
              <a:srgbClr val="12345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58648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98448" y="148132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Concentrer l’effort sur trois préfectures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98448" y="179222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Agoè-Nyivé, Zio et Haho obtiennent les scores les plus élevés : elles combinent déficit important et population nombreuse.</a:t>
            </a:r>
          </a:p>
        </p:txBody>
      </p:sp>
      <p:sp>
        <p:nvSpPr>
          <p:cNvPr id="8" name="Shape 6"/>
          <p:cNvSpPr/>
          <p:nvPr/>
        </p:nvSpPr>
        <p:spPr>
          <a:xfrm>
            <a:off x="685800" y="2523744"/>
            <a:ext cx="384048" cy="384048"/>
          </a:xfrm>
          <a:prstGeom prst="ellipse">
            <a:avLst/>
          </a:prstGeom>
          <a:solidFill>
            <a:srgbClr val="12345F"/>
          </a:solidFill>
          <a:ln w="12700">
            <a:solidFill>
              <a:srgbClr val="12345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85800" y="257403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246888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S’appuyer sur les agents, pas sur les agences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98448" y="277977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Gini 0,31 contre 0,38. Les données plaident pour densifier les agents, mieux répartis territorialement que les agences.</a:t>
            </a:r>
          </a:p>
        </p:txBody>
      </p:sp>
      <p:sp>
        <p:nvSpPr>
          <p:cNvPr id="12" name="Shape 10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12345F"/>
          </a:solidFill>
          <a:ln w="12700">
            <a:solidFill>
              <a:srgbClr val="12345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85800" y="356158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98448" y="3456432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Ouvrir un point opérateur, même mutualisé, dans les 12 préfectures sans agence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98448" y="376732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Est-Mono, Vo et Lacs n’ont aucun guichet opérateur. Leurs besoins en mobile money restent différents et doivent être traités séparément.</a:t>
            </a:r>
          </a:p>
        </p:txBody>
      </p:sp>
      <p:sp>
        <p:nvSpPr>
          <p:cNvPr id="16" name="Shape 14"/>
          <p:cNvSpPr/>
          <p:nvPr/>
        </p:nvSpPr>
        <p:spPr>
          <a:xfrm>
            <a:off x="685800" y="4498848"/>
            <a:ext cx="384048" cy="38404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45491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98448" y="4443984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Ne pas confondre urbain et desservi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298448" y="475488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Le déficit le plus lourd est périurbain. Un plan fondé uniquement sur la ruralité manquerait une importante population sous-servie.</a:t>
            </a:r>
          </a:p>
        </p:txBody>
      </p:sp>
      <p:sp>
        <p:nvSpPr>
          <p:cNvPr id="20" name="Shape 18"/>
          <p:cNvSpPr/>
          <p:nvPr/>
        </p:nvSpPr>
        <p:spPr>
          <a:xfrm>
            <a:off x="685800" y="5486400"/>
            <a:ext cx="384048" cy="38404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685800" y="55366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98448" y="543153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Fiabiliser la donnée avant de cibler plus fin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298448" y="574243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Avant un ciblage plus fin, compléter les données : boutiques CANAL+, couverture radio et opérateur des points mobile money.</a:t>
            </a:r>
          </a:p>
        </p:txBody>
      </p:sp>
      <p:sp>
        <p:nvSpPr>
          <p:cNvPr id="24" name="Text 22"/>
          <p:cNvSpPr txBox="1"/>
          <p:nvPr/>
        </p:nvSpPr>
        <p:spPr>
          <a:xfrm>
            <a:off x="640080" y="62362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Les trois premières recommandations viennent du score ; les deux dernières répondent aux limites des données.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2345F"/>
                </a:solidFill>
                <a:latin typeface="Aptos" pitchFamily="34" charset="0"/>
                <a:ea typeface="Calibri" pitchFamily="34" charset="-122"/>
                <a:cs typeface="Calibri" pitchFamily="34" charset="-120"/>
              </a:rPr>
              <a:t>CE SUR QUOI REPOSE CE DIAGNOSTIC · ET CE QU’IL NE DIT PAS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Les six hypothèses à garder en tête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822960" y="20116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H1 · Norme d’équité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22576"/>
            <a:ext cx="3337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H1 : « Attendu » signifie une répartition proportionnelle à la population. C’est une norme d’équité, pas une loi économique.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4526280" y="20116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H2 · Poids de la population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26280" y="2322576"/>
            <a:ext cx="3337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H2 : α = 0,5 est un arbitrage politique réglable dans le tableau de bord.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8229600" y="20116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H3 · Couverture radio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322576"/>
            <a:ext cx="3337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H3 : faute de données radio accessibles, une zone blanche signifie ici absence de service physique, pas absence de signal.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822960" y="36118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H4 · Centroïde du canton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922776"/>
            <a:ext cx="3337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H4 : les distances partent du centroïde du canton, faute de population infra-préfectorale.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4526280" y="36118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H5 · Noms reconstruits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922776"/>
            <a:ext cx="3337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H5 : les noms des territoires ont été reconstruits par jointure spatiale ; 39/39 préfectures concordent.</a:t>
            </a:r>
          </a:p>
        </p:txBody>
      </p:sp>
      <p:sp>
        <p:nvSpPr>
          <p:cNvPr id="14" name="Text 12"/>
          <p:cNvSpPr txBox="1"/>
          <p:nvPr/>
        </p:nvSpPr>
        <p:spPr>
          <a:xfrm>
            <a:off x="8229600" y="36118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H6 · Données et millésimes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3922776"/>
            <a:ext cx="3337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H6 : les données forment un inventaire. Population 2022, implantations de date inconnue, 6,8 % d’opérateurs non renseignés.</a:t>
            </a:r>
          </a:p>
        </p:txBody>
      </p:sp>
      <p:sp>
        <p:nvSpPr>
          <p:cNvPr id="16" name="Shape 14"/>
          <p:cNvSpPr/>
          <p:nvPr/>
        </p:nvSpPr>
        <p:spPr>
          <a:xfrm>
            <a:off x="822960" y="5257800"/>
            <a:ext cx="10515600" cy="0"/>
          </a:xfrm>
          <a:prstGeom prst="line">
            <a:avLst/>
          </a:prstGeom>
          <a:noFill/>
          <a:ln w="19050">
            <a:solidFill>
              <a:srgbClr val="1C7C54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546811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345F"/>
                </a:solidFill>
                <a:latin typeface="Aptos" pitchFamily="34" charset="0"/>
                <a:ea typeface="Cambria" pitchFamily="34" charset="-122"/>
                <a:cs typeface="Cambria" pitchFamily="34" charset="-120"/>
              </a:rPr>
              <a:t>Tableau de bord interactif, données et code reproductible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797296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8 vues filtrables par région ; analyse cantonale dans Accès local ; lecture recalculée ; export CSV ; 3 scripts Python reproductibles.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Accès aux télécoms et aux services numériques au Togo</dc:title>
  <dc:subject>PptxGenJS Presentation</dc:subject>
  <dc:creator>Komi Selassi GAYI</dc:creator>
  <cp:lastModifiedBy>Komi Selassi GAYI</cp:lastModifiedBy>
  <cp:revision>1</cp:revision>
  <dcterms:created xsi:type="dcterms:W3CDTF">2026-09-11T13:50:44Z</dcterms:created>
  <dcterms:modified xsi:type="dcterms:W3CDTF">2026-09-11T13:50:44Z</dcterms:modified>
</cp:coreProperties>
</file>