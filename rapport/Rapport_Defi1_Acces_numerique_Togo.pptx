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Points mobile money pour 10 000 habitants</a:t>
            </a:r>
          </a:p>
        </c:rich>
      </c:tx>
      <c:layout/>
      <c:overlay val="0"/>
    </c:title>
    <c:autoTitleDeleted val="0"/>
    <c:plotArea>
      <c:layout/>
      <c:barChart>
        <c:barDir val="bar"/>
        <c:grouping val="clustered"/>
        <c:varyColors val="0"/>
        <c:ser>
          <c:idx val="0"/>
          <c:order val="0"/>
          <c:tx>
            <c:strRef>
              <c:f>Sheet1!$B$1</c:f>
              <c:strCache>
                <c:ptCount val="1"/>
                <c:pt idx="0">
                  <c:v>Points / 10 000 hab.</c:v>
                </c:pt>
              </c:strCache>
            </c:strRef>
          </c:tx>
          <c:spPr>
            <a:solidFill>
              <a:srgbClr val="2A78D6"/>
            </a:solidFill>
            <a:effectLst/>
          </c:spPr>
          <c:invertIfNegative val="0"/>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Plateaux</c:v>
                  </c:pt>
                  <c:pt idx="1">
                    <c:v>Savanes</c:v>
                  </c:pt>
                  <c:pt idx="2">
                    <c:v>Maritime</c:v>
                  </c:pt>
                  <c:pt idx="3">
                    <c:v>Centrale</c:v>
                  </c:pt>
                  <c:pt idx="4">
                    <c:v>Kara</c:v>
                  </c:pt>
                </c:lvl>
              </c:multiLvlStrCache>
            </c:multiLvlStrRef>
          </c:cat>
          <c:val>
            <c:numRef>
              <c:f>Sheet1!$B$2:$B$6</c:f>
              <c:numCache>
                <c:formatCode>General</c:formatCode>
                <c:ptCount val="5"/>
                <c:pt idx="0">
                  <c:v>18.8</c:v>
                </c:pt>
                <c:pt idx="1">
                  <c:v>23.4</c:v>
                </c:pt>
                <c:pt idx="2">
                  <c:v>25.4</c:v>
                </c:pt>
                <c:pt idx="3">
                  <c:v>26.3</c:v>
                </c:pt>
                <c:pt idx="4">
                  <c:v>29.9</c:v>
                </c:pt>
              </c:numCache>
            </c:numRef>
          </c:val>
        </c:ser>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Population des préfectures dépourvues d’agence télécom</a:t>
            </a:r>
          </a:p>
        </c:rich>
      </c:tx>
      <c:layout/>
      <c:overlay val="0"/>
    </c:title>
    <c:autoTitleDeleted val="0"/>
    <c:plotArea>
      <c:layout/>
      <c:barChart>
        <c:barDir val="bar"/>
        <c:grouping val="clustered"/>
        <c:varyColors val="0"/>
        <c:ser>
          <c:idx val="0"/>
          <c:order val="0"/>
          <c:tx>
            <c:strRef>
              <c:f>Sheet1!$B$1</c:f>
              <c:strCache>
                <c:ptCount val="1"/>
                <c:pt idx="0">
                  <c:v>Population</c:v>
                </c:pt>
              </c:strCache>
            </c:strRef>
          </c:tx>
          <c:spPr>
            <a:solidFill>
              <a:srgbClr val="2A78D6"/>
            </a:solidFill>
            <a:effectLst/>
          </c:spPr>
          <c:invertIfNegative val="0"/>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Danyi</c:v>
                  </c:pt>
                  <c:pt idx="1">
                    <c:v>Mô</c:v>
                  </c:pt>
                  <c:pt idx="2">
                    <c:v>Akébou</c:v>
                  </c:pt>
                  <c:pt idx="3">
                    <c:v>Binah</c:v>
                  </c:pt>
                  <c:pt idx="4">
                    <c:v>Kpendjal</c:v>
                  </c:pt>
                  <c:pt idx="5">
                    <c:v>Wawa</c:v>
                  </c:pt>
                  <c:pt idx="6">
                    <c:v>Amou</c:v>
                  </c:pt>
                  <c:pt idx="7">
                    <c:v>Kpendjal-Ouest</c:v>
                  </c:pt>
                  <c:pt idx="8">
                    <c:v>Tandjoaré</c:v>
                  </c:pt>
                  <c:pt idx="9">
                    <c:v>Est-Mono</c:v>
                  </c:pt>
                  <c:pt idx="10">
                    <c:v>Vo</c:v>
                  </c:pt>
                  <c:pt idx="11">
                    <c:v>Lacs</c:v>
                  </c:pt>
                </c:lvl>
              </c:multiLvlStrCache>
            </c:multiLvlStrRef>
          </c:cat>
          <c:val>
            <c:numRef>
              <c:f>Sheet1!$B$2:$B$13</c:f>
              <c:numCache>
                <c:formatCode>General</c:formatCode>
                <c:ptCount val="12"/>
                <c:pt idx="0">
                  <c:v>40240</c:v>
                </c:pt>
                <c:pt idx="1">
                  <c:v>52448</c:v>
                </c:pt>
                <c:pt idx="2">
                  <c:v>73830</c:v>
                </c:pt>
                <c:pt idx="3">
                  <c:v>84199</c:v>
                </c:pt>
                <c:pt idx="4">
                  <c:v>88365</c:v>
                </c:pt>
                <c:pt idx="5">
                  <c:v>101300</c:v>
                </c:pt>
                <c:pt idx="6">
                  <c:v>114172</c:v>
                </c:pt>
                <c:pt idx="7">
                  <c:v>123330</c:v>
                </c:pt>
                <c:pt idx="8">
                  <c:v>138867</c:v>
                </c:pt>
                <c:pt idx="9">
                  <c:v>164460</c:v>
                </c:pt>
                <c:pt idx="10">
                  <c:v>224411</c:v>
                </c:pt>
                <c:pt idx="11">
                  <c:v>241247</c:v>
                </c:pt>
              </c:numCache>
            </c:numRef>
          </c:val>
        </c:ser>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Accès observé rapporté à l’accès attendu (1,00 = proportionnel à la population)</a:t>
            </a:r>
          </a:p>
        </c:rich>
      </c:tx>
      <c:layout/>
      <c:overlay val="0"/>
    </c:title>
    <c:autoTitleDeleted val="0"/>
    <c:plotArea>
      <c:layout/>
      <c:barChart>
        <c:barDir val="bar"/>
        <c:grouping val="clustered"/>
        <c:varyColors val="0"/>
        <c:ser>
          <c:idx val="0"/>
          <c:order val="0"/>
          <c:tx>
            <c:strRef>
              <c:f>Sheet1!$B$1</c:f>
              <c:strCache>
                <c:ptCount val="1"/>
                <c:pt idx="0">
                  <c:v>Ratio observé / attendu</c:v>
                </c:pt>
              </c:strCache>
            </c:strRef>
          </c:tx>
          <c:spPr>
            <a:solidFill>
              <a:srgbClr val="2A78D6"/>
            </a:solidFill>
            <a:effectLst/>
          </c:spPr>
          <c:invertIfNegative val="0"/>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Kpendjal</c:v>
                  </c:pt>
                  <c:pt idx="1">
                    <c:v>Blitta</c:v>
                  </c:pt>
                  <c:pt idx="2">
                    <c:v>Mô</c:v>
                  </c:pt>
                  <c:pt idx="3">
                    <c:v>Moyen-Mono</c:v>
                  </c:pt>
                  <c:pt idx="4">
                    <c:v>Yoto</c:v>
                  </c:pt>
                  <c:pt idx="5">
                    <c:v>Tchamba</c:v>
                  </c:pt>
                  <c:pt idx="6">
                    <c:v>Agoè-Nyivé</c:v>
                  </c:pt>
                </c:lvl>
              </c:multiLvlStrCache>
            </c:multiLvlStrRef>
          </c:cat>
          <c:val>
            <c:numRef>
              <c:f>Sheet1!$B$2:$B$8</c:f>
              <c:numCache>
                <c:formatCode>General</c:formatCode>
                <c:ptCount val="7"/>
                <c:pt idx="0">
                  <c:v>0.19</c:v>
                </c:pt>
                <c:pt idx="1">
                  <c:v>0.23</c:v>
                </c:pt>
                <c:pt idx="2">
                  <c:v>0.25</c:v>
                </c:pt>
                <c:pt idx="3">
                  <c:v>0.37</c:v>
                </c:pt>
                <c:pt idx="4">
                  <c:v>0.37</c:v>
                </c:pt>
                <c:pt idx="5">
                  <c:v>0.42</c:v>
                </c:pt>
                <c:pt idx="6">
                  <c:v>0.65</c:v>
                </c:pt>
              </c:numCache>
            </c:numRef>
          </c:val>
        </c:ser>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Score de priorité d’extension (base 100 = priorité maximale)</a:t>
            </a:r>
          </a:p>
        </c:rich>
      </c:tx>
      <c:layout/>
      <c:overlay val="0"/>
    </c:title>
    <c:autoTitleDeleted val="0"/>
    <c:plotArea>
      <c:layout/>
      <c:barChart>
        <c:barDir val="bar"/>
        <c:grouping val="clustered"/>
        <c:varyColors val="0"/>
        <c:ser>
          <c:idx val="0"/>
          <c:order val="0"/>
          <c:tx>
            <c:strRef>
              <c:f>Sheet1!$B$1</c:f>
              <c:strCache>
                <c:ptCount val="1"/>
                <c:pt idx="0">
                  <c:v>Score de priorité</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Sheet1!$A$2:$A$9</c:f>
              <c:multiLvlStrCache>
                <c:ptCount val="8"/>
                <c:lvl>
                  <c:pt idx="0">
                    <c:v>Dankpen</c:v>
                  </c:pt>
                  <c:pt idx="1">
                    <c:v>Est-Mono</c:v>
                  </c:pt>
                  <c:pt idx="2">
                    <c:v>Yoto</c:v>
                  </c:pt>
                  <c:pt idx="3">
                    <c:v>Tchamba</c:v>
                  </c:pt>
                  <c:pt idx="4">
                    <c:v>Blitta</c:v>
                  </c:pt>
                  <c:pt idx="5">
                    <c:v>Haho</c:v>
                  </c:pt>
                  <c:pt idx="6">
                    <c:v>Zio</c:v>
                  </c:pt>
                  <c:pt idx="7">
                    <c:v>Agoè-Nyivé</c:v>
                  </c:pt>
                </c:lvl>
              </c:multiLvlStrCache>
            </c:multiLvlStrRef>
          </c:cat>
          <c:val>
            <c:numRef>
              <c:f>Sheet1!$B$2:$B$9</c:f>
              <c:numCache>
                <c:formatCode>General</c:formatCode>
                <c:ptCount val="8"/>
                <c:pt idx="0">
                  <c:v>16</c:v>
                </c:pt>
                <c:pt idx="1">
                  <c:v>16</c:v>
                </c:pt>
                <c:pt idx="2">
                  <c:v>16</c:v>
                </c:pt>
                <c:pt idx="3">
                  <c:v>18</c:v>
                </c:pt>
                <c:pt idx="4">
                  <c:v>18</c:v>
                </c:pt>
                <c:pt idx="5">
                  <c:v>23</c:v>
                </c:pt>
                <c:pt idx="6">
                  <c:v>44</c:v>
                </c:pt>
                <c:pt idx="7">
                  <c:v>100</c:v>
                </c:pt>
              </c:numCache>
            </c:numRef>
          </c:val>
        </c:ser>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d'ouverture : le diagnostic ne porte pas sur le signal mais sur l'accès effectif au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la valeur ajoutée est la reconstruction des noms de préfectures et de cantons, absents des polygones officiels.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de bascule de la présentation : montrer que le récit intuitif est faux.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la limite : le centroïde n’est pas le barycentre de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274320"/>
          </a:xfrm>
          <a:prstGeom prst="rect">
            <a:avLst/>
          </a:prstGeom>
          <a:noFill/>
          <a:ln/>
        </p:spPr>
        <p:txBody>
          <a:bodyPr wrap="square" lIns="0" tIns="0" rIns="0" bIns="0" rtlCol="0" anchor="ctr"/>
          <a:lstStyle/>
          <a:p>
            <a:pPr indent="0" marL="0">
              <a:buNone/>
            </a:pPr>
            <a:r>
              <a:rPr lang="en-US" sz="1200" b="1" spc="200" kern="0" dirty="0">
                <a:solidFill>
                  <a:srgbClr val="12345F"/>
                </a:solidFill>
                <a:latin typeface="Aptos" pitchFamily="34" charset="0"/>
                <a:ea typeface="Calibri" pitchFamily="34" charset="-122"/>
                <a:cs typeface="Calibri" pitchFamily="34" charset="-120"/>
              </a:rPr>
              <a:t>DATA CHALLENGE TOGO AI LAB · ÉCONOMIE NUMÉRIQUE, DÉFI 1</a:t>
            </a:r>
            <a:endParaRPr lang="en-US" sz="1200" dirty="0"/>
          </a:p>
        </p:txBody>
      </p:sp>
      <p:sp>
        <p:nvSpPr>
          <p:cNvPr id="3" name="Text 1"/>
          <p:cNvSpPr txBox="1"/>
          <p:nvPr/>
        </p:nvSpPr>
        <p:spPr>
          <a:xfrm>
            <a:off x="822960" y="1783080"/>
            <a:ext cx="10241280" cy="1371600"/>
          </a:xfrm>
          <a:prstGeom prst="rect">
            <a:avLst/>
          </a:prstGeom>
          <a:noFill/>
          <a:ln/>
        </p:spPr>
        <p:txBody>
          <a:bodyPr wrap="square" lIns="0" tIns="0" rIns="0" bIns="0" rtlCol="0" anchor="ctr"/>
          <a:lstStyle/>
          <a:p>
            <a:pPr indent="0" marL="0">
              <a:buNone/>
            </a:pPr>
            <a:r>
              <a:rPr lang="en-US" sz="4200" b="1" dirty="0">
                <a:solidFill>
                  <a:srgbClr val="12345F"/>
                </a:solidFill>
                <a:latin typeface="Aptos" pitchFamily="34" charset="0"/>
                <a:ea typeface="Cambria" pitchFamily="34" charset="-122"/>
                <a:cs typeface="Cambria" pitchFamily="34" charset="-120"/>
              </a:rPr>
              <a:t>Accès aux télécoms et aux services numériques au Togo</a:t>
            </a:r>
            <a:endParaRPr lang="en-US" sz="4200" dirty="0"/>
          </a:p>
        </p:txBody>
      </p:sp>
      <p:sp>
        <p:nvSpPr>
          <p:cNvPr id="4" name="Text 2"/>
          <p:cNvSpPr txBox="1"/>
          <p:nvPr/>
        </p:nvSpPr>
        <p:spPr>
          <a:xfrm>
            <a:off x="822960" y="3108960"/>
            <a:ext cx="9601200" cy="457200"/>
          </a:xfrm>
          <a:prstGeom prst="rect">
            <a:avLst/>
          </a:prstGeom>
          <a:noFill/>
          <a:ln/>
        </p:spPr>
        <p:txBody>
          <a:bodyPr wrap="square" lIns="0" tIns="0" rIns="0" bIns="0" rtlCol="0" anchor="ctr"/>
          <a:lstStyle/>
          <a:p>
            <a:pPr indent="0" marL="0">
              <a:buNone/>
            </a:pPr>
            <a:r>
              <a:rPr lang="en-US" sz="1700" dirty="0">
                <a:solidFill>
                  <a:srgbClr val="12345F"/>
                </a:solidFill>
                <a:latin typeface="Aptos" pitchFamily="34" charset="0"/>
                <a:ea typeface="Calibri" pitchFamily="34" charset="-122"/>
                <a:cs typeface="Calibri" pitchFamily="34" charset="-120"/>
              </a:rPr>
              <a:t>Diagnostic territorial et priorisation de l’extension de la connectivité</a:t>
            </a:r>
            <a:endParaRPr lang="en-US" sz="1700" dirty="0"/>
          </a:p>
        </p:txBody>
      </p:sp>
      <p:sp>
        <p:nvSpPr>
          <p:cNvPr id="5" name="Shape 3"/>
          <p:cNvSpPr/>
          <p:nvPr/>
        </p:nvSpPr>
        <p:spPr>
          <a:xfrm>
            <a:off x="822960" y="3749040"/>
            <a:ext cx="2011680" cy="0"/>
          </a:xfrm>
          <a:prstGeom prst="line">
            <a:avLst/>
          </a:prstGeom>
          <a:noFill/>
          <a:ln w="31750">
            <a:solidFill>
              <a:srgbClr val="F2C230"/>
            </a:solidFill>
            <a:prstDash val="solid"/>
          </a:ln>
        </p:spPr>
        <p:txBody>
          <a:bodyPr/>
          <a:p/>
        </p:txBody>
      </p:sp>
      <p:sp>
        <p:nvSpPr>
          <p:cNvPr id="6" name="Text 4"/>
          <p:cNvSpPr txBox="1"/>
          <p:nvPr/>
        </p:nvSpPr>
        <p:spPr>
          <a:xfrm>
            <a:off x="822960" y="4069080"/>
            <a:ext cx="8778240" cy="868680"/>
          </a:xfrm>
          <a:prstGeom prst="rect">
            <a:avLst/>
          </a:prstGeom>
          <a:noFill/>
          <a:ln/>
        </p:spPr>
        <p:txBody>
          <a:bodyPr wrap="square" lIns="0" tIns="0" rIns="0" bIns="0" rtlCol="0" anchor="ctr"/>
          <a:lstStyle/>
          <a:p>
            <a:pPr indent="0" marL="0">
              <a:buNone/>
            </a:pPr>
            <a:r>
              <a:rPr lang="en-US" sz="1900" i="1" dirty="0">
                <a:solidFill>
                  <a:srgbClr val="12345F"/>
                </a:solidFill>
                <a:latin typeface="Aptos" pitchFamily="34" charset="0"/>
                <a:ea typeface="Cambria" pitchFamily="34" charset="-122"/>
                <a:cs typeface="Cambria" pitchFamily="34" charset="-120"/>
              </a:rPr>
              <a:t>Un Togolais sur six vit dans une préfecture où aucun opérateur</a:t>
            </a:r>
            <a:endParaRPr lang="en-US" sz="1900" dirty="0"/>
          </a:p>
          <a:p>
            <a:pPr indent="0" marL="0">
              <a:buNone/>
            </a:pPr>
            <a:r>
              <a:rPr lang="en-US" sz="1900" i="1" dirty="0">
                <a:solidFill>
                  <a:srgbClr val="0B0B0B"/>
                </a:solidFill>
                <a:latin typeface="Aptos" pitchFamily="34" charset="0"/>
                <a:ea typeface="Cambria" pitchFamily="34" charset="-122"/>
                <a:cs typeface="Cambria" pitchFamily="34" charset="-120"/>
              </a:rPr>
              <a:t>n’a de guichet physique.</a:t>
            </a:r>
            <a:endParaRPr lang="en-US" sz="1900" dirty="0"/>
          </a:p>
        </p:txBody>
      </p:sp>
      <p:sp>
        <p:nvSpPr>
          <p:cNvPr id="7" name="Text 5"/>
          <p:cNvSpPr txBox="1"/>
          <p:nvPr/>
        </p:nvSpPr>
        <p:spPr>
          <a:xfrm>
            <a:off x="822960" y="5943600"/>
            <a:ext cx="10515600" cy="3200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Komi Selassi GAYI  ·  septembre 2026  ·  39 préfectures, 396 cantons, 8 095 498 habitants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MÉTHODE</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De la donnée brute à la recommandation</a:t>
            </a:r>
            <a:endParaRPr lang="en-US" sz="3000" dirty="0"/>
          </a:p>
        </p:txBody>
      </p:sp>
      <p:sp>
        <p:nvSpPr>
          <p:cNvPr id="4" name="Shape 2"/>
          <p:cNvSpPr/>
          <p:nvPr/>
        </p:nvSpPr>
        <p:spPr>
          <a:xfrm>
            <a:off x="685800" y="1691640"/>
            <a:ext cx="384048" cy="384048"/>
          </a:xfrm>
          <a:prstGeom prst="ellipse">
            <a:avLst/>
          </a:prstGeom>
          <a:solidFill>
            <a:srgbClr val="12345F"/>
          </a:solidFill>
          <a:ln w="12700">
            <a:solidFill>
              <a:srgbClr val="12345F"/>
            </a:solidFill>
            <a:prstDash val="solid"/>
          </a:ln>
        </p:spPr>
        <p:txBody>
          <a:bodyPr/>
          <a:p/>
        </p:txBody>
      </p:sp>
      <p:sp>
        <p:nvSpPr>
          <p:cNvPr id="5" name="Text 3"/>
          <p:cNvSpPr txBox="1"/>
          <p:nvPr/>
        </p:nvSpPr>
        <p:spPr>
          <a:xfrm>
            <a:off x="685800" y="1741932"/>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1</a:t>
            </a:r>
            <a:endParaRPr lang="en-US" sz="1500" dirty="0"/>
          </a:p>
        </p:txBody>
      </p:sp>
      <p:sp>
        <p:nvSpPr>
          <p:cNvPr id="6" name="Text 4"/>
          <p:cNvSpPr txBox="1"/>
          <p:nvPr/>
        </p:nvSpPr>
        <p:spPr>
          <a:xfrm>
            <a:off x="1298448" y="1600200"/>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
            </a:r>
            <a:endParaRPr lang="en-US" sz="2300" dirty="0"/>
          </a:p>
        </p:txBody>
      </p:sp>
      <p:sp>
        <p:nvSpPr>
          <p:cNvPr id="7" name="Text 5"/>
          <p:cNvSpPr txBox="1"/>
          <p:nvPr/>
        </p:nvSpPr>
        <p:spPr>
          <a:xfrm>
            <a:off x="3383280" y="1636776"/>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Harmoniser les données</a:t>
            </a:r>
            <a:endParaRPr lang="en-US" sz="1400" dirty="0"/>
          </a:p>
        </p:txBody>
      </p:sp>
      <p:sp>
        <p:nvSpPr>
          <p:cNvPr id="8" name="Text 6"/>
          <p:cNvSpPr txBox="1"/>
          <p:nvPr/>
        </p:nvSpPr>
        <p:spPr>
          <a:xfrm>
            <a:off x="3383280" y="1984248"/>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Géodata Togo et INSEED
Jointure spatiale, contrôle des noms et des superficies.</a:t>
            </a:r>
            <a:endParaRPr lang="en-US" sz="1100" dirty="0"/>
          </a:p>
        </p:txBody>
      </p:sp>
      <p:sp>
        <p:nvSpPr>
          <p:cNvPr id="9" name="Shape 7"/>
          <p:cNvSpPr/>
          <p:nvPr/>
        </p:nvSpPr>
        <p:spPr>
          <a:xfrm>
            <a:off x="685800" y="2807208"/>
            <a:ext cx="384048" cy="384048"/>
          </a:xfrm>
          <a:prstGeom prst="ellipse">
            <a:avLst/>
          </a:prstGeom>
          <a:solidFill>
            <a:srgbClr val="12345F"/>
          </a:solidFill>
          <a:ln w="12700">
            <a:solidFill>
              <a:srgbClr val="12345F"/>
            </a:solidFill>
            <a:prstDash val="solid"/>
          </a:ln>
        </p:spPr>
        <p:txBody>
          <a:bodyPr/>
          <a:p/>
        </p:txBody>
      </p:sp>
      <p:sp>
        <p:nvSpPr>
          <p:cNvPr id="10" name="Text 8"/>
          <p:cNvSpPr txBox="1"/>
          <p:nvPr/>
        </p:nvSpPr>
        <p:spPr>
          <a:xfrm>
            <a:off x="685800" y="2857500"/>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2</a:t>
            </a:r>
            <a:endParaRPr lang="en-US" sz="1500" dirty="0"/>
          </a:p>
        </p:txBody>
      </p:sp>
      <p:sp>
        <p:nvSpPr>
          <p:cNvPr id="11" name="Text 9"/>
          <p:cNvSpPr txBox="1"/>
          <p:nvPr/>
        </p:nvSpPr>
        <p:spPr>
          <a:xfrm>
            <a:off x="1298448" y="2715768"/>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
            </a:r>
            <a:endParaRPr lang="en-US" sz="2300" dirty="0"/>
          </a:p>
        </p:txBody>
      </p:sp>
      <p:sp>
        <p:nvSpPr>
          <p:cNvPr id="12" name="Text 10"/>
          <p:cNvSpPr txBox="1"/>
          <p:nvPr/>
        </p:nvSpPr>
        <p:spPr>
          <a:xfrm>
            <a:off x="3383280" y="2752344"/>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Construire les indicateurs</a:t>
            </a:r>
            <a:endParaRPr lang="en-US" sz="1400" dirty="0"/>
          </a:p>
        </p:txBody>
      </p:sp>
      <p:sp>
        <p:nvSpPr>
          <p:cNvPr id="13" name="Text 11"/>
          <p:cNvSpPr txBox="1"/>
          <p:nvPr/>
        </p:nvSpPr>
        <p:spPr>
          <a:xfrm>
            <a:off x="3383280" y="3099816"/>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Comptages et taux par habitant
Observé / attendu, distances et indice de Gini.</a:t>
            </a:r>
            <a:endParaRPr lang="en-US" sz="1100" dirty="0"/>
          </a:p>
        </p:txBody>
      </p:sp>
      <p:sp>
        <p:nvSpPr>
          <p:cNvPr id="14" name="Shape 12"/>
          <p:cNvSpPr/>
          <p:nvPr/>
        </p:nvSpPr>
        <p:spPr>
          <a:xfrm>
            <a:off x="685800" y="3922776"/>
            <a:ext cx="384048" cy="384048"/>
          </a:xfrm>
          <a:prstGeom prst="ellipse">
            <a:avLst/>
          </a:prstGeom>
          <a:solidFill>
            <a:srgbClr val="12345F"/>
          </a:solidFill>
          <a:ln w="12700">
            <a:solidFill>
              <a:srgbClr val="12345F"/>
            </a:solidFill>
            <a:prstDash val="solid"/>
          </a:ln>
        </p:spPr>
        <p:txBody>
          <a:bodyPr/>
          <a:p/>
        </p:txBody>
      </p:sp>
      <p:sp>
        <p:nvSpPr>
          <p:cNvPr id="15" name="Text 13"/>
          <p:cNvSpPr txBox="1"/>
          <p:nvPr/>
        </p:nvSpPr>
        <p:spPr>
          <a:xfrm>
            <a:off x="685800" y="397306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3</a:t>
            </a:r>
            <a:endParaRPr lang="en-US" sz="1500" dirty="0"/>
          </a:p>
        </p:txBody>
      </p:sp>
      <p:sp>
        <p:nvSpPr>
          <p:cNvPr id="16" name="Text 14"/>
          <p:cNvSpPr txBox="1"/>
          <p:nvPr/>
        </p:nvSpPr>
        <p:spPr>
          <a:xfrm>
            <a:off x="1298448" y="3831336"/>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
            </a:r>
            <a:endParaRPr lang="en-US" sz="2300" dirty="0"/>
          </a:p>
        </p:txBody>
      </p:sp>
      <p:sp>
        <p:nvSpPr>
          <p:cNvPr id="17" name="Text 15"/>
          <p:cNvSpPr txBox="1"/>
          <p:nvPr/>
        </p:nvSpPr>
        <p:spPr>
          <a:xfrm>
            <a:off x="3383280" y="3867912"/>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Comparer les échelles</a:t>
            </a:r>
            <a:endParaRPr lang="en-US" sz="1400" dirty="0"/>
          </a:p>
        </p:txBody>
      </p:sp>
      <p:sp>
        <p:nvSpPr>
          <p:cNvPr id="18" name="Text 16"/>
          <p:cNvSpPr txBox="1"/>
          <p:nvPr/>
        </p:nvSpPr>
        <p:spPr>
          <a:xfrm>
            <a:off x="3383280" y="4215384"/>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Préfecture pour le diagnostic
Canton pour mesurer la proximité et les zones sans service.</a:t>
            </a:r>
            <a:endParaRPr lang="en-US" sz="1100" dirty="0"/>
          </a:p>
        </p:txBody>
      </p:sp>
      <p:sp>
        <p:nvSpPr>
          <p:cNvPr id="19" name="Shape 17"/>
          <p:cNvSpPr/>
          <p:nvPr/>
        </p:nvSpPr>
        <p:spPr>
          <a:xfrm>
            <a:off x="685800" y="5038344"/>
            <a:ext cx="384048" cy="384048"/>
          </a:xfrm>
          <a:prstGeom prst="ellipse">
            <a:avLst/>
          </a:prstGeom>
          <a:solidFill>
            <a:srgbClr val="12345F"/>
          </a:solidFill>
          <a:ln w="12700">
            <a:solidFill>
              <a:srgbClr val="12345F"/>
            </a:solidFill>
            <a:prstDash val="solid"/>
          </a:ln>
        </p:spPr>
        <p:txBody>
          <a:bodyPr/>
          <a:p/>
        </p:txBody>
      </p:sp>
      <p:sp>
        <p:nvSpPr>
          <p:cNvPr id="20" name="Text 18"/>
          <p:cNvSpPr txBox="1"/>
          <p:nvPr/>
        </p:nvSpPr>
        <p:spPr>
          <a:xfrm>
            <a:off x="685800" y="50886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4</a:t>
            </a:r>
            <a:endParaRPr lang="en-US" sz="1500" dirty="0"/>
          </a:p>
        </p:txBody>
      </p:sp>
      <p:sp>
        <p:nvSpPr>
          <p:cNvPr id="21" name="Text 19"/>
          <p:cNvSpPr txBox="1"/>
          <p:nvPr/>
        </p:nvSpPr>
        <p:spPr>
          <a:xfrm>
            <a:off x="1298448" y="4946904"/>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
            </a:r>
            <a:endParaRPr lang="en-US" sz="2300" dirty="0"/>
          </a:p>
        </p:txBody>
      </p:sp>
      <p:sp>
        <p:nvSpPr>
          <p:cNvPr id="22" name="Text 20"/>
          <p:cNvSpPr txBox="1"/>
          <p:nvPr/>
        </p:nvSpPr>
        <p:spPr>
          <a:xfrm>
            <a:off x="3383280" y="4983480"/>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Prioriser l’action</a:t>
            </a:r>
            <a:endParaRPr lang="en-US" sz="1400" dirty="0"/>
          </a:p>
        </p:txBody>
      </p:sp>
      <p:sp>
        <p:nvSpPr>
          <p:cNvPr id="23" name="Text 21"/>
          <p:cNvSpPr txBox="1"/>
          <p:nvPr/>
        </p:nvSpPr>
        <p:spPr>
          <a:xfrm>
            <a:off x="3383280" y="5330952"/>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Déficit × poids de population × bonus zone blanche
Classement transparent et recommandations ciblées.</a:t>
            </a:r>
            <a:endParaRPr lang="en-US" sz="1100" dirty="0"/>
          </a:p>
        </p:txBody>
      </p:sp>
      <p:sp>
        <p:nvSpPr>
          <p:cNvPr id="24" name="Shape 22"/>
          <p:cNvSpPr/>
          <p:nvPr/>
        </p:nvSpPr>
        <p:spPr>
          <a:xfrm>
            <a:off x="7635240" y="1600200"/>
            <a:ext cx="3886200" cy="4297680"/>
          </a:xfrm>
          <a:prstGeom prst="roundRect">
            <a:avLst>
              <a:gd name="adj" fmla="val 1882"/>
            </a:avLst>
          </a:prstGeom>
          <a:solidFill>
            <a:srgbClr val="EAF1FB"/>
          </a:solidFill>
          <a:ln w="12700">
            <a:solidFill>
              <a:srgbClr val="EAF1FB"/>
            </a:solidFill>
            <a:prstDash val="solid"/>
          </a:ln>
        </p:spPr>
        <p:txBody>
          <a:bodyPr/>
          <a:p/>
        </p:txBody>
      </p:sp>
      <p:sp>
        <p:nvSpPr>
          <p:cNvPr id="25" name="Text 23"/>
          <p:cNvSpPr txBox="1"/>
          <p:nvPr/>
        </p:nvSpPr>
        <p:spPr>
          <a:xfrm>
            <a:off x="7973568" y="1828800"/>
            <a:ext cx="3291840" cy="365760"/>
          </a:xfrm>
          <a:prstGeom prst="rect">
            <a:avLst/>
          </a:prstGeom>
          <a:noFill/>
          <a:ln/>
        </p:spPr>
        <p:txBody>
          <a:bodyPr wrap="square" lIns="0" tIns="0" rIns="0" bIns="0" rtlCol="0" anchor="ctr"/>
          <a:lstStyle/>
          <a:p>
            <a:pPr indent="0" marL="0">
              <a:buNone/>
            </a:pPr>
            <a:r>
              <a:rPr lang="en-US" sz="1600" b="1" dirty="0">
                <a:solidFill>
                  <a:srgbClr val="12345F"/>
                </a:solidFill>
                <a:latin typeface="Aptos" pitchFamily="34" charset="0"/>
                <a:ea typeface="Cambria" pitchFamily="34" charset="-122"/>
                <a:cs typeface="Cambria" pitchFamily="34" charset="-120"/>
              </a:rPr>
              <a:t>Ce que mesure l’étude</a:t>
            </a:r>
            <a:endParaRPr lang="en-US" sz="1600" dirty="0"/>
          </a:p>
        </p:txBody>
      </p:sp>
      <p:sp>
        <p:nvSpPr>
          <p:cNvPr id="26" name="Text 24"/>
          <p:cNvSpPr txBox="1"/>
          <p:nvPr/>
        </p:nvSpPr>
        <p:spPr>
          <a:xfrm>
            <a:off x="7973568" y="2286000"/>
            <a:ext cx="3246120" cy="3383280"/>
          </a:xfrm>
          <a:prstGeom prst="rect">
            <a:avLst/>
          </a:prstGeom>
          <a:noFill/>
          <a:ln/>
        </p:spPr>
        <p:txBody>
          <a:bodyPr wrap="square" lIns="0" tIns="0" rIns="0" bIns="0" rtlCol="0" anchor="ctr"/>
          <a:lstStyle/>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Accès aux points de service : la couverture radio n’est pas mesurée.
Résultats descriptifs : les données sont un inventaire, pas un échantillon.
Norme explicite : « attendu » signifie une répartition proportionnelle à la population.</a:t>
            </a:r>
            <a:pPr indent="0" marL="0">
              <a:lnSpc>
                <a:spcPts val="1600"/>
              </a:lnSpc>
              <a:buNone/>
            </a:pPr>
            <a:r>
              <a:rPr lang="en-US" sz="1150"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r>
              <a:rPr lang="en-US" sz="1150"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r>
              <a:rPr lang="en-US" sz="1150" dirty="0">
                <a:solidFill>
                  <a:srgbClr val="0B0B0B"/>
                </a:solidFill>
                <a:latin typeface="Aptos" pitchFamily="34" charset="0"/>
                <a:ea typeface="Calibri" pitchFamily="34" charset="-122"/>
                <a:cs typeface="Calibri" pitchFamily="34" charset="-120"/>
              </a:rPr>
              <a:t/>
            </a:r>
            <a:endParaRPr lang="en-US" sz="1150" dirty="0"/>
          </a:p>
        </p:txBody>
      </p:sp>
      <p:sp>
        <p:nvSpPr>
          <p:cNvPr id="27" name="Text 2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Chaîne reproductible : sources → scripts Python → indicateurs → dashboard et rapport.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1</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Rapporté aux habitants, le Sud n’est pas le mieux servi</a:t>
            </a:r>
            <a:endParaRPr lang="en-US" sz="3000" dirty="0"/>
          </a:p>
        </p:txBody>
      </p:sp>
      <p:pic>
        <p:nvPicPr>
          <p:cNvPr id="4" name="Image 0" descr="img/carte_acces.png">    </p:cNvPr>
          <p:cNvPicPr>
            <a:picLocks noChangeAspect="1"/>
          </p:cNvPicPr>
          <p:nvPr/>
        </p:nvPicPr>
        <p:blipFill>
          <a:blip r:embed="rId1"/>
          <a:stretch>
            <a:fillRect/>
          </a:stretch>
        </p:blipFill>
        <p:spPr>
          <a:xfrm>
            <a:off x="640080" y="1417320"/>
            <a:ext cx="3291840" cy="4480560"/>
          </a:xfrm>
          <a:prstGeom prst="rect">
            <a:avLst/>
          </a:prstGeom>
        </p:spPr>
      </p:pic>
      <p:graphicFrame>
        <p:nvGraphicFramePr>
          <p:cNvPr id="5" name="Chart 0" descr=""/>
          <p:cNvGraphicFramePr/>
          <p:nvPr/>
        </p:nvGraphicFramePr>
        <p:xfrm>
          <a:off x="4114800" y="1554480"/>
          <a:ext cx="4206240" cy="283464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114800" y="4572000"/>
            <a:ext cx="4206240" cy="1005840"/>
          </a:xfrm>
          <a:prstGeom prst="rect">
            <a:avLst/>
          </a:prstGeom>
          <a:noFill/>
          <a:ln/>
        </p:spPr>
        <p:txBody>
          <a:bodyPr wrap="square" lIns="0" tIns="0" rIns="0" bIns="0" rtlCol="0" anchor="ctr"/>
          <a:lstStyle/>
          <a:p>
            <a:pPr indent="0" marL="0">
              <a:buNone/>
            </a:pPr>
            <a:r>
              <a:rPr lang="en-US" sz="1200" dirty="0">
                <a:solidFill>
                  <a:srgbClr val="0B0B0B"/>
                </a:solidFill>
                <a:latin typeface="Aptos" pitchFamily="34" charset="0"/>
                <a:ea typeface="Calibri" pitchFamily="34" charset="-122"/>
                <a:cs typeface="Calibri" pitchFamily="34" charset="-120"/>
              </a:rPr>
              <a:t>Le classement en valeur absolue dit l’inverse : Maritime concentre 45 % des points de service. C’est le dénominateur — la population — qui renverse la lecture.</a:t>
            </a:r>
            <a:endParaRPr lang="en-US" sz="1200" dirty="0"/>
          </a:p>
        </p:txBody>
      </p:sp>
      <p:sp>
        <p:nvSpPr>
          <p:cNvPr id="7" name="Shape 3"/>
          <p:cNvSpPr/>
          <p:nvPr/>
        </p:nvSpPr>
        <p:spPr>
          <a:xfrm>
            <a:off x="8595360" y="1554480"/>
            <a:ext cx="2926080" cy="1481328"/>
          </a:xfrm>
          <a:prstGeom prst="roundRect">
            <a:avLst>
              <a:gd name="adj" fmla="val 4938"/>
            </a:avLst>
          </a:prstGeom>
          <a:solidFill>
            <a:srgbClr val="EAF1FB"/>
          </a:solidFill>
          <a:ln w="12700">
            <a:solidFill>
              <a:srgbClr val="EAF1FB"/>
            </a:solidFill>
            <a:prstDash val="solid"/>
          </a:ln>
        </p:spPr>
        <p:txBody>
          <a:bodyPr/>
          <a:p/>
        </p:txBody>
      </p:sp>
      <p:sp>
        <p:nvSpPr>
          <p:cNvPr id="8" name="Text 4"/>
          <p:cNvSpPr txBox="1"/>
          <p:nvPr/>
        </p:nvSpPr>
        <p:spPr>
          <a:xfrm>
            <a:off x="8851392" y="1719072"/>
            <a:ext cx="24688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3ᵉ</a:t>
            </a:r>
            <a:endParaRPr lang="en-US" sz="3400" dirty="0"/>
          </a:p>
        </p:txBody>
      </p:sp>
      <p:sp>
        <p:nvSpPr>
          <p:cNvPr id="9" name="Text 5"/>
          <p:cNvSpPr txBox="1"/>
          <p:nvPr/>
        </p:nvSpPr>
        <p:spPr>
          <a:xfrm>
            <a:off x="8851392" y="2377440"/>
            <a:ext cx="24688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Rang de Maritime</a:t>
            </a:r>
            <a:endParaRPr lang="en-US" sz="1200" dirty="0"/>
          </a:p>
        </p:txBody>
      </p:sp>
      <p:sp>
        <p:nvSpPr>
          <p:cNvPr id="10" name="Text 6"/>
          <p:cNvSpPr txBox="1"/>
          <p:nvPr/>
        </p:nvSpPr>
        <p:spPr>
          <a:xfrm>
            <a:off x="8851392" y="2615184"/>
            <a:ext cx="24688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en accès par habitant</a:t>
            </a:r>
            <a:endParaRPr lang="en-US" sz="1000" dirty="0"/>
          </a:p>
        </p:txBody>
      </p:sp>
      <p:sp>
        <p:nvSpPr>
          <p:cNvPr id="11" name="Shape 7"/>
          <p:cNvSpPr/>
          <p:nvPr/>
        </p:nvSpPr>
        <p:spPr>
          <a:xfrm>
            <a:off x="8595360" y="3200400"/>
            <a:ext cx="2926080" cy="1481328"/>
          </a:xfrm>
          <a:prstGeom prst="roundRect">
            <a:avLst>
              <a:gd name="adj" fmla="val 4938"/>
            </a:avLst>
          </a:prstGeom>
          <a:solidFill>
            <a:srgbClr val="EAF1FB"/>
          </a:solidFill>
          <a:ln w="12700">
            <a:solidFill>
              <a:srgbClr val="EAF1FB"/>
            </a:solidFill>
            <a:prstDash val="solid"/>
          </a:ln>
        </p:spPr>
        <p:txBody>
          <a:bodyPr/>
          <a:p/>
        </p:txBody>
      </p:sp>
      <p:sp>
        <p:nvSpPr>
          <p:cNvPr id="12" name="Text 8"/>
          <p:cNvSpPr txBox="1"/>
          <p:nvPr/>
        </p:nvSpPr>
        <p:spPr>
          <a:xfrm>
            <a:off x="8851392" y="3364992"/>
            <a:ext cx="24688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Plateaux</a:t>
            </a:r>
            <a:endParaRPr lang="en-US" sz="3400" dirty="0"/>
          </a:p>
        </p:txBody>
      </p:sp>
      <p:sp>
        <p:nvSpPr>
          <p:cNvPr id="13" name="Text 9"/>
          <p:cNvSpPr txBox="1"/>
          <p:nvPr/>
        </p:nvSpPr>
        <p:spPr>
          <a:xfrm>
            <a:off x="8851392" y="4023360"/>
            <a:ext cx="24688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Région la moins dotée</a:t>
            </a:r>
            <a:endParaRPr lang="en-US" sz="1200" dirty="0"/>
          </a:p>
        </p:txBody>
      </p:sp>
      <p:sp>
        <p:nvSpPr>
          <p:cNvPr id="14" name="Text 10"/>
          <p:cNvSpPr txBox="1"/>
          <p:nvPr/>
        </p:nvSpPr>
        <p:spPr>
          <a:xfrm>
            <a:off x="8851392" y="4261104"/>
            <a:ext cx="24688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18,8 points / 10 000 hab.</a:t>
            </a:r>
            <a:endParaRPr lang="en-US" sz="1000" dirty="0"/>
          </a:p>
        </p:txBody>
      </p:sp>
      <p:sp>
        <p:nvSpPr>
          <p:cNvPr id="15" name="Text 11"/>
          <p:cNvSpPr txBox="1"/>
          <p:nvPr/>
        </p:nvSpPr>
        <p:spPr>
          <a:xfrm>
            <a:off x="8595360" y="4892040"/>
            <a:ext cx="2926080" cy="914400"/>
          </a:xfrm>
          <a:prstGeom prst="rect">
            <a:avLst/>
          </a:prstGeom>
          <a:noFill/>
          <a:ln/>
        </p:spPr>
        <p:txBody>
          <a:bodyPr wrap="square" lIns="0" tIns="0" rIns="0" bIns="0" rtlCol="0" anchor="ctr"/>
          <a:lstStyle/>
          <a:p>
            <a:pPr indent="0" marL="0">
              <a:buNone/>
            </a:pPr>
            <a:r>
              <a:rPr lang="en-US" sz="1200" i="1" dirty="0">
                <a:solidFill>
                  <a:srgbClr val="12345F"/>
                </a:solidFill>
                <a:latin typeface="Aptos" pitchFamily="34" charset="0"/>
                <a:ea typeface="Cambria" pitchFamily="34" charset="-122"/>
                <a:cs typeface="Cambria" pitchFamily="34" charset="-120"/>
              </a:rPr>
              <a:t>La priorité géographique évidente — « le Nord d’abord » — ne résiste pas aux chiffres.</a:t>
            </a:r>
            <a:endParaRPr lang="en-US" sz="1200" dirty="0"/>
          </a:p>
        </p:txBody>
      </p:sp>
      <p:sp>
        <p:nvSpPr>
          <p:cNvPr id="16" name="Text 1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Source : Géoportail Géodata Togo (extraction du 9 septembre 2026) et RGPH-5, INSEED 2022.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2</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12 préfectures sans le moindre guichet opérateur</a:t>
            </a:r>
            <a:endParaRPr lang="en-US" sz="3000" dirty="0"/>
          </a:p>
        </p:txBody>
      </p:sp>
      <p:sp>
        <p:nvSpPr>
          <p:cNvPr id="4" name="Shape 2"/>
          <p:cNvSpPr/>
          <p:nvPr/>
        </p:nvSpPr>
        <p:spPr>
          <a:xfrm>
            <a:off x="640080" y="1463040"/>
            <a:ext cx="3383280" cy="1481328"/>
          </a:xfrm>
          <a:prstGeom prst="roundRect">
            <a:avLst>
              <a:gd name="adj" fmla="val 4938"/>
            </a:avLst>
          </a:prstGeom>
          <a:solidFill>
            <a:srgbClr val="EAF1FB"/>
          </a:solidFill>
          <a:ln w="12700">
            <a:solidFill>
              <a:srgbClr val="EAF1FB"/>
            </a:solidFill>
            <a:prstDash val="solid"/>
          </a:ln>
        </p:spPr>
        <p:txBody>
          <a:bodyPr/>
          <a:p/>
        </p:txBody>
      </p:sp>
      <p:sp>
        <p:nvSpPr>
          <p:cNvPr id="5" name="Text 3"/>
          <p:cNvSpPr txBox="1"/>
          <p:nvPr/>
        </p:nvSpPr>
        <p:spPr>
          <a:xfrm>
            <a:off x="896112" y="1627632"/>
            <a:ext cx="29260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1 446 869</a:t>
            </a:r>
            <a:endParaRPr lang="en-US" sz="3400" dirty="0"/>
          </a:p>
        </p:txBody>
      </p:sp>
      <p:sp>
        <p:nvSpPr>
          <p:cNvPr id="6" name="Text 4"/>
          <p:cNvSpPr txBox="1"/>
          <p:nvPr/>
        </p:nvSpPr>
        <p:spPr>
          <a:xfrm>
            <a:off x="896112" y="2286000"/>
            <a:ext cx="29260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Habitants concernés</a:t>
            </a:r>
            <a:endParaRPr lang="en-US" sz="1200" dirty="0"/>
          </a:p>
        </p:txBody>
      </p:sp>
      <p:sp>
        <p:nvSpPr>
          <p:cNvPr id="7" name="Text 5"/>
          <p:cNvSpPr txBox="1"/>
          <p:nvPr/>
        </p:nvSpPr>
        <p:spPr>
          <a:xfrm>
            <a:off x="896112" y="2523744"/>
            <a:ext cx="29260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17,9 % de la population du pays</a:t>
            </a:r>
            <a:endParaRPr lang="en-US" sz="1000" dirty="0"/>
          </a:p>
        </p:txBody>
      </p:sp>
      <p:sp>
        <p:nvSpPr>
          <p:cNvPr id="8" name="Shape 6"/>
          <p:cNvSpPr/>
          <p:nvPr/>
        </p:nvSpPr>
        <p:spPr>
          <a:xfrm>
            <a:off x="640080" y="3108960"/>
            <a:ext cx="3383280" cy="1481328"/>
          </a:xfrm>
          <a:prstGeom prst="roundRect">
            <a:avLst>
              <a:gd name="adj" fmla="val 4938"/>
            </a:avLst>
          </a:prstGeom>
          <a:solidFill>
            <a:srgbClr val="EAF1FB"/>
          </a:solidFill>
          <a:ln w="12700">
            <a:solidFill>
              <a:srgbClr val="EAF1FB"/>
            </a:solidFill>
            <a:prstDash val="solid"/>
          </a:ln>
        </p:spPr>
        <p:txBody>
          <a:bodyPr/>
          <a:p/>
        </p:txBody>
      </p:sp>
      <p:sp>
        <p:nvSpPr>
          <p:cNvPr id="9" name="Text 7"/>
          <p:cNvSpPr txBox="1"/>
          <p:nvPr/>
        </p:nvSpPr>
        <p:spPr>
          <a:xfrm>
            <a:off x="896112" y="3273552"/>
            <a:ext cx="29260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12 / 39</a:t>
            </a:r>
            <a:endParaRPr lang="en-US" sz="3400" dirty="0"/>
          </a:p>
        </p:txBody>
      </p:sp>
      <p:sp>
        <p:nvSpPr>
          <p:cNvPr id="10" name="Text 8"/>
          <p:cNvSpPr txBox="1"/>
          <p:nvPr/>
        </p:nvSpPr>
        <p:spPr>
          <a:xfrm>
            <a:off x="896112" y="3931920"/>
            <a:ext cx="29260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Préfectures sans agence</a:t>
            </a:r>
            <a:endParaRPr lang="en-US" sz="1200" dirty="0"/>
          </a:p>
        </p:txBody>
      </p:sp>
      <p:sp>
        <p:nvSpPr>
          <p:cNvPr id="11" name="Text 9"/>
          <p:cNvSpPr txBox="1"/>
          <p:nvPr/>
        </p:nvSpPr>
        <p:spPr>
          <a:xfrm>
            <a:off x="896112" y="4169664"/>
            <a:ext cx="29260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aucun guichet opérateur ni point physique de souscription</a:t>
            </a:r>
            <a:endParaRPr lang="en-US" sz="1000" dirty="0"/>
          </a:p>
        </p:txBody>
      </p:sp>
      <p:sp>
        <p:nvSpPr>
          <p:cNvPr id="12" name="Text 10"/>
          <p:cNvSpPr txBox="1"/>
          <p:nvPr/>
        </p:nvSpPr>
        <p:spPr>
          <a:xfrm>
            <a:off x="640080" y="4800600"/>
            <a:ext cx="3383280" cy="1188720"/>
          </a:xfrm>
          <a:prstGeom prst="rect">
            <a:avLst/>
          </a:prstGeom>
          <a:noFill/>
          <a:ln/>
        </p:spPr>
        <p:txBody>
          <a:bodyPr wrap="square" lIns="0" tIns="0" rIns="0" bIns="0" rtlCol="0" anchor="ctr"/>
          <a:lstStyle/>
          <a:p>
            <a:pPr indent="0" marL="0">
              <a:buNone/>
            </a:pPr>
            <a:r>
              <a:rPr lang="en-US" sz="1200" dirty="0">
                <a:solidFill>
                  <a:srgbClr val="0B0B0B"/>
                </a:solidFill>
                <a:latin typeface="Aptos" pitchFamily="34" charset="0"/>
                <a:ea typeface="Calibri" pitchFamily="34" charset="-122"/>
                <a:cs typeface="Calibri" pitchFamily="34" charset="-120"/>
              </a:rPr>
              <a:t>Lacs et Vo dépassent chacune 220 000 habitants. Ce ne sont pas des marges : ce sont des territoires entiers sans porte d’entrée physique vers l’offre télécom.</a:t>
            </a:r>
            <a:endParaRPr lang="en-US" sz="1200" dirty="0"/>
          </a:p>
        </p:txBody>
      </p:sp>
      <p:graphicFrame>
        <p:nvGraphicFramePr>
          <p:cNvPr id="13" name="Chart 0" descr=""/>
          <p:cNvGraphicFramePr/>
          <p:nvPr/>
        </p:nvGraphicFramePr>
        <p:xfrm>
          <a:off x="4343400" y="1463040"/>
          <a:ext cx="7178040" cy="45262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Une agence n’est pas qu’un point de vente : c’est le lieu de la souscription, du SAV et de la réclamation.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3 · ÉCHELLE CANTON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2 km pour un agent, 16 km pour un opérateur</a:t>
            </a:r>
            <a:endParaRPr lang="en-US" sz="3000" dirty="0"/>
          </a:p>
        </p:txBody>
      </p:sp>
      <p:pic>
        <p:nvPicPr>
          <p:cNvPr id="4" name="Image 0" descr="img/carte_distance.png">    </p:cNvPr>
          <p:cNvPicPr>
            <a:picLocks noChangeAspect="1"/>
          </p:cNvPicPr>
          <p:nvPr/>
        </p:nvPicPr>
        <p:blipFill>
          <a:blip r:embed="rId1"/>
          <a:stretch>
            <a:fillRect/>
          </a:stretch>
        </p:blipFill>
        <p:spPr>
          <a:xfrm>
            <a:off x="8275320" y="1371600"/>
            <a:ext cx="3200400" cy="4572000"/>
          </a:xfrm>
          <a:prstGeom prst="rect">
            <a:avLst/>
          </a:prstGeom>
        </p:spPr>
      </p:pic>
      <p:sp>
        <p:nvSpPr>
          <p:cNvPr id="5" name="Shape 2"/>
          <p:cNvSpPr/>
          <p:nvPr/>
        </p:nvSpPr>
        <p:spPr>
          <a:xfrm>
            <a:off x="640080" y="1508760"/>
            <a:ext cx="3566160" cy="1481328"/>
          </a:xfrm>
          <a:prstGeom prst="roundRect">
            <a:avLst>
              <a:gd name="adj" fmla="val 4938"/>
            </a:avLst>
          </a:prstGeom>
          <a:solidFill>
            <a:srgbClr val="EAF1FB"/>
          </a:solidFill>
          <a:ln w="12700">
            <a:solidFill>
              <a:srgbClr val="EAF1FB"/>
            </a:solidFill>
            <a:prstDash val="solid"/>
          </a:ln>
        </p:spPr>
        <p:txBody>
          <a:bodyPr/>
          <a:p/>
        </p:txBody>
      </p:sp>
      <p:sp>
        <p:nvSpPr>
          <p:cNvPr id="6" name="Text 3"/>
          <p:cNvSpPr txBox="1"/>
          <p:nvPr/>
        </p:nvSpPr>
        <p:spPr>
          <a:xfrm>
            <a:off x="896112" y="1673352"/>
            <a:ext cx="310896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2,0 km</a:t>
            </a:r>
            <a:endParaRPr lang="en-US" sz="3400" dirty="0"/>
          </a:p>
        </p:txBody>
      </p:sp>
      <p:sp>
        <p:nvSpPr>
          <p:cNvPr id="7" name="Text 4"/>
          <p:cNvSpPr txBox="1"/>
          <p:nvPr/>
        </p:nvSpPr>
        <p:spPr>
          <a:xfrm>
            <a:off x="896112" y="2331720"/>
            <a:ext cx="310896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Distance médiane à un service</a:t>
            </a:r>
            <a:endParaRPr lang="en-US" sz="1200" dirty="0"/>
          </a:p>
        </p:txBody>
      </p:sp>
      <p:sp>
        <p:nvSpPr>
          <p:cNvPr id="8" name="Text 5"/>
          <p:cNvSpPr txBox="1"/>
          <p:nvPr/>
        </p:nvSpPr>
        <p:spPr>
          <a:xfrm>
            <a:off x="896112" y="2569464"/>
            <a:ext cx="310896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tous services confondus, 396 cantons</a:t>
            </a:r>
            <a:endParaRPr lang="en-US" sz="1000" dirty="0"/>
          </a:p>
        </p:txBody>
      </p:sp>
      <p:sp>
        <p:nvSpPr>
          <p:cNvPr id="9" name="Shape 6"/>
          <p:cNvSpPr/>
          <p:nvPr/>
        </p:nvSpPr>
        <p:spPr>
          <a:xfrm>
            <a:off x="4389120" y="1508760"/>
            <a:ext cx="3566160" cy="1481328"/>
          </a:xfrm>
          <a:prstGeom prst="roundRect">
            <a:avLst>
              <a:gd name="adj" fmla="val 4938"/>
            </a:avLst>
          </a:prstGeom>
          <a:solidFill>
            <a:srgbClr val="EAF1FB"/>
          </a:solidFill>
          <a:ln w="12700">
            <a:solidFill>
              <a:srgbClr val="EAF1FB"/>
            </a:solidFill>
            <a:prstDash val="solid"/>
          </a:ln>
        </p:spPr>
        <p:txBody>
          <a:bodyPr/>
          <a:p/>
        </p:txBody>
      </p:sp>
      <p:sp>
        <p:nvSpPr>
          <p:cNvPr id="10" name="Text 7"/>
          <p:cNvSpPr txBox="1"/>
          <p:nvPr/>
        </p:nvSpPr>
        <p:spPr>
          <a:xfrm>
            <a:off x="4645152" y="1673352"/>
            <a:ext cx="310896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16,2 km</a:t>
            </a:r>
            <a:endParaRPr lang="en-US" sz="3400" dirty="0"/>
          </a:p>
        </p:txBody>
      </p:sp>
      <p:sp>
        <p:nvSpPr>
          <p:cNvPr id="11" name="Text 8"/>
          <p:cNvSpPr txBox="1"/>
          <p:nvPr/>
        </p:nvSpPr>
        <p:spPr>
          <a:xfrm>
            <a:off x="4645152" y="2331720"/>
            <a:ext cx="310896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Distance médiane à une agence</a:t>
            </a:r>
            <a:endParaRPr lang="en-US" sz="1200" dirty="0"/>
          </a:p>
        </p:txBody>
      </p:sp>
      <p:sp>
        <p:nvSpPr>
          <p:cNvPr id="12" name="Text 9"/>
          <p:cNvSpPr txBox="1"/>
          <p:nvPr/>
        </p:nvSpPr>
        <p:spPr>
          <a:xfrm>
            <a:off x="4645152" y="2569464"/>
            <a:ext cx="310896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jusqu’à 63 km dans le canton le plus isolé</a:t>
            </a:r>
            <a:endParaRPr lang="en-US" sz="1000" dirty="0"/>
          </a:p>
        </p:txBody>
      </p:sp>
      <p:sp>
        <p:nvSpPr>
          <p:cNvPr id="13" name="Shape 10"/>
          <p:cNvSpPr/>
          <p:nvPr/>
        </p:nvSpPr>
        <p:spPr>
          <a:xfrm>
            <a:off x="640080" y="3337560"/>
            <a:ext cx="7315200" cy="1234440"/>
          </a:xfrm>
          <a:prstGeom prst="roundRect">
            <a:avLst>
              <a:gd name="adj" fmla="val 5926"/>
            </a:avLst>
          </a:prstGeom>
          <a:solidFill>
            <a:srgbClr val="0B2540"/>
          </a:solidFill>
          <a:ln w="12700">
            <a:solidFill>
              <a:srgbClr val="0B2540"/>
            </a:solidFill>
            <a:prstDash val="solid"/>
          </a:ln>
        </p:spPr>
        <p:txBody>
          <a:bodyPr/>
          <a:p/>
        </p:txBody>
      </p:sp>
      <p:sp>
        <p:nvSpPr>
          <p:cNvPr id="14" name="Text 11"/>
          <p:cNvSpPr txBox="1"/>
          <p:nvPr/>
        </p:nvSpPr>
        <p:spPr>
          <a:xfrm>
            <a:off x="914400" y="3520440"/>
            <a:ext cx="6766560" cy="868680"/>
          </a:xfrm>
          <a:prstGeom prst="rect">
            <a:avLst/>
          </a:prstGeom>
          <a:noFill/>
          <a:ln/>
        </p:spPr>
        <p:txBody>
          <a:bodyPr wrap="square" lIns="0" tIns="0" rIns="0" bIns="0" rtlCol="0" anchor="ctr"/>
          <a:lstStyle/>
          <a:p>
            <a:pPr indent="0" marL="0">
              <a:buNone/>
            </a:pPr>
            <a:r>
              <a:rPr lang="en-US" sz="1450" i="1" dirty="0">
                <a:solidFill>
                  <a:srgbClr val="FFFFFF"/>
                </a:solidFill>
                <a:latin typeface="Aptos" pitchFamily="34" charset="0"/>
                <a:ea typeface="Cambria" pitchFamily="34" charset="-122"/>
                <a:cs typeface="Cambria" pitchFamily="34" charset="-120"/>
              </a:rPr>
              <a:t>L’écart entre ces deux chiffres est un résultat, pas un détail : il mesure exactement ce que le réseau d’agents privés compense là où les opérateurs ne vont pas.</a:t>
            </a:r>
            <a:endParaRPr lang="en-US" sz="1450" dirty="0"/>
          </a:p>
        </p:txBody>
      </p:sp>
      <p:sp>
        <p:nvSpPr>
          <p:cNvPr id="15" name="Text 12"/>
          <p:cNvSpPr txBox="1"/>
          <p:nvPr/>
        </p:nvSpPr>
        <p:spPr>
          <a:xfrm>
            <a:off x="640080" y="4754880"/>
            <a:ext cx="7315200" cy="137160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Aptos" pitchFamily="34" charset="0"/>
                <a:ea typeface="Calibri" pitchFamily="34" charset="-122"/>
                <a:cs typeface="Calibri" pitchFamily="34" charset="-120"/>
              </a:rPr>
              <a:t>23 cantons sur 396</a:t>
            </a:r>
            <a:pPr indent="0" marL="0">
              <a:lnSpc>
                <a:spcPts val="1700"/>
              </a:lnSpc>
              <a:buNone/>
            </a:pPr>
            <a:r>
              <a:rPr lang="en-US" sz="1250" dirty="0">
                <a:solidFill>
                  <a:srgbClr val="0B0B0B"/>
                </a:solidFill>
                <a:latin typeface="Aptos" pitchFamily="34" charset="0"/>
                <a:ea typeface="Calibri" pitchFamily="34" charset="-122"/>
                <a:cs typeface="Calibri" pitchFamily="34" charset="-120"/>
              </a:rPr>
              <a:t> ne comptent aucun point de service. Le plus isolé, dans Blitta, est à 21 km du premier service quel qu’il soit.</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Ces écarts sont invisibles à l’échelle de la préfecture, qui les moyenne. Changer d’échelle change la carte des priorités — c’est pourquoi les deux sont présentées.</a:t>
            </a:r>
            <a:endParaRPr lang="en-US" sz="1250" dirty="0"/>
          </a:p>
        </p:txBody>
      </p:sp>
      <p:sp>
        <p:nvSpPr>
          <p:cNvPr id="16" name="Text 13"/>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Couverture radio indisponible (couches Géoportail en accès restreint) : la zone blanche est définie par la distance au service, depuis le centroïde du canton.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4 · ÉQUITÉ</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 marché a maillé le territoire mieux que l’institution</a:t>
            </a:r>
            <a:endParaRPr lang="en-US" sz="3000" dirty="0"/>
          </a:p>
        </p:txBody>
      </p:sp>
      <p:pic>
        <p:nvPicPr>
          <p:cNvPr id="4" name="Image 0" descr="img/lorenz.png">    </p:cNvPr>
          <p:cNvPicPr>
            <a:picLocks noChangeAspect="1"/>
          </p:cNvPicPr>
          <p:nvPr/>
        </p:nvPicPr>
        <p:blipFill>
          <a:blip r:embed="rId1"/>
          <a:stretch>
            <a:fillRect/>
          </a:stretch>
        </p:blipFill>
        <p:spPr>
          <a:xfrm>
            <a:off x="640080" y="1508760"/>
            <a:ext cx="6309360" cy="4572000"/>
          </a:xfrm>
          <a:prstGeom prst="rect">
            <a:avLst/>
          </a:prstGeom>
        </p:spPr>
      </p:pic>
      <p:sp>
        <p:nvSpPr>
          <p:cNvPr id="5" name="Shape 2"/>
          <p:cNvSpPr/>
          <p:nvPr/>
        </p:nvSpPr>
        <p:spPr>
          <a:xfrm>
            <a:off x="7269480" y="1600200"/>
            <a:ext cx="2011680" cy="1481328"/>
          </a:xfrm>
          <a:prstGeom prst="roundRect">
            <a:avLst>
              <a:gd name="adj" fmla="val 4938"/>
            </a:avLst>
          </a:prstGeom>
          <a:solidFill>
            <a:srgbClr val="EAF1FB"/>
          </a:solidFill>
          <a:ln w="12700">
            <a:solidFill>
              <a:srgbClr val="EAF1FB"/>
            </a:solidFill>
            <a:prstDash val="solid"/>
          </a:ln>
        </p:spPr>
        <p:txBody>
          <a:bodyPr/>
          <a:p/>
        </p:txBody>
      </p:sp>
      <p:sp>
        <p:nvSpPr>
          <p:cNvPr id="6" name="Text 3"/>
          <p:cNvSpPr txBox="1"/>
          <p:nvPr/>
        </p:nvSpPr>
        <p:spPr>
          <a:xfrm>
            <a:off x="7525512" y="1764792"/>
            <a:ext cx="15544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0,31</a:t>
            </a:r>
            <a:endParaRPr lang="en-US" sz="3400" dirty="0"/>
          </a:p>
        </p:txBody>
      </p:sp>
      <p:sp>
        <p:nvSpPr>
          <p:cNvPr id="7" name="Text 4"/>
          <p:cNvSpPr txBox="1"/>
          <p:nvPr/>
        </p:nvSpPr>
        <p:spPr>
          <a:xfrm>
            <a:off x="7525512" y="2423160"/>
            <a:ext cx="15544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Gini mobile money</a:t>
            </a:r>
            <a:endParaRPr lang="en-US" sz="1200" dirty="0"/>
          </a:p>
        </p:txBody>
      </p:sp>
      <p:sp>
        <p:nvSpPr>
          <p:cNvPr id="8" name="Text 5"/>
          <p:cNvSpPr txBox="1"/>
          <p:nvPr/>
        </p:nvSpPr>
        <p:spPr>
          <a:xfrm>
            <a:off x="7525512" y="2660904"/>
            <a:ext cx="15544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réseau d’agents privés</a:t>
            </a:r>
            <a:endParaRPr lang="en-US" sz="1000" dirty="0"/>
          </a:p>
        </p:txBody>
      </p:sp>
      <p:sp>
        <p:nvSpPr>
          <p:cNvPr id="9" name="Shape 6"/>
          <p:cNvSpPr/>
          <p:nvPr/>
        </p:nvSpPr>
        <p:spPr>
          <a:xfrm>
            <a:off x="9509760" y="1600200"/>
            <a:ext cx="2011680" cy="1481328"/>
          </a:xfrm>
          <a:prstGeom prst="roundRect">
            <a:avLst>
              <a:gd name="adj" fmla="val 4938"/>
            </a:avLst>
          </a:prstGeom>
          <a:solidFill>
            <a:srgbClr val="EAF1FB"/>
          </a:solidFill>
          <a:ln w="12700">
            <a:solidFill>
              <a:srgbClr val="EAF1FB"/>
            </a:solidFill>
            <a:prstDash val="solid"/>
          </a:ln>
        </p:spPr>
        <p:txBody>
          <a:bodyPr/>
          <a:p/>
        </p:txBody>
      </p:sp>
      <p:sp>
        <p:nvSpPr>
          <p:cNvPr id="10" name="Text 7"/>
          <p:cNvSpPr txBox="1"/>
          <p:nvPr/>
        </p:nvSpPr>
        <p:spPr>
          <a:xfrm>
            <a:off x="9765792" y="1764792"/>
            <a:ext cx="15544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0,38</a:t>
            </a:r>
            <a:endParaRPr lang="en-US" sz="3400" dirty="0"/>
          </a:p>
        </p:txBody>
      </p:sp>
      <p:sp>
        <p:nvSpPr>
          <p:cNvPr id="11" name="Text 8"/>
          <p:cNvSpPr txBox="1"/>
          <p:nvPr/>
        </p:nvSpPr>
        <p:spPr>
          <a:xfrm>
            <a:off x="9765792" y="2423160"/>
            <a:ext cx="15544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Gini agences</a:t>
            </a:r>
            <a:endParaRPr lang="en-US" sz="1200" dirty="0"/>
          </a:p>
        </p:txBody>
      </p:sp>
      <p:sp>
        <p:nvSpPr>
          <p:cNvPr id="12" name="Text 9"/>
          <p:cNvSpPr txBox="1"/>
          <p:nvPr/>
        </p:nvSpPr>
        <p:spPr>
          <a:xfrm>
            <a:off x="9765792" y="2660904"/>
            <a:ext cx="15544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réseau en propre</a:t>
            </a:r>
            <a:endParaRPr lang="en-US" sz="1000" dirty="0"/>
          </a:p>
        </p:txBody>
      </p:sp>
      <p:sp>
        <p:nvSpPr>
          <p:cNvPr id="13" name="Text 10"/>
          <p:cNvSpPr txBox="1"/>
          <p:nvPr/>
        </p:nvSpPr>
        <p:spPr>
          <a:xfrm>
            <a:off x="7269480" y="3429000"/>
            <a:ext cx="4251960" cy="265176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Aptos" pitchFamily="34" charset="0"/>
                <a:ea typeface="Calibri" pitchFamily="34" charset="-122"/>
                <a:cs typeface="Calibri" pitchFamily="34" charset="-120"/>
              </a:rPr>
              <a:t>Ce que cela signifie.</a:t>
            </a: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Plus l’indice est bas, plus l’accès est également réparti entre les habitants. Le réseau d’agents agréés, porté par le marché, atteint une population que le réseau d’agences des opérateurs n’atteint pas.</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Les données plaident pour densifier les agents, mieux répartis territorialement que les agences.</a:t>
            </a:r>
            <a:endParaRPr lang="en-US" sz="1250" dirty="0"/>
          </a:p>
        </p:txBody>
      </p:sp>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Indice de Gini pondéré par la population, calculé sur l’accès rapporté aux habitants.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5</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 plus gros déficit est périurbain, pas rural</a:t>
            </a:r>
            <a:endParaRPr lang="en-US" sz="3000" dirty="0"/>
          </a:p>
        </p:txBody>
      </p:sp>
      <p:sp>
        <p:nvSpPr>
          <p:cNvPr id="4" name="Shape 2"/>
          <p:cNvSpPr/>
          <p:nvPr/>
        </p:nvSpPr>
        <p:spPr>
          <a:xfrm>
            <a:off x="640080" y="1463040"/>
            <a:ext cx="3840480" cy="2331720"/>
          </a:xfrm>
          <a:prstGeom prst="roundRect">
            <a:avLst>
              <a:gd name="adj" fmla="val 3137"/>
            </a:avLst>
          </a:prstGeom>
          <a:solidFill>
            <a:srgbClr val="12345F"/>
          </a:solidFill>
          <a:ln w="12700">
            <a:solidFill>
              <a:srgbClr val="12345F"/>
            </a:solidFill>
            <a:prstDash val="solid"/>
          </a:ln>
        </p:spPr>
        <p:txBody>
          <a:bodyPr/>
          <a:p/>
        </p:txBody>
      </p:sp>
      <p:sp>
        <p:nvSpPr>
          <p:cNvPr id="5" name="Text 3"/>
          <p:cNvSpPr txBox="1"/>
          <p:nvPr/>
        </p:nvSpPr>
        <p:spPr>
          <a:xfrm>
            <a:off x="914400" y="1664208"/>
            <a:ext cx="3291840" cy="411480"/>
          </a:xfrm>
          <a:prstGeom prst="rect">
            <a:avLst/>
          </a:prstGeom>
          <a:noFill/>
          <a:ln/>
        </p:spPr>
        <p:txBody>
          <a:bodyPr wrap="square" lIns="0" tIns="0" rIns="0" bIns="0" rtlCol="0" anchor="ctr"/>
          <a:lstStyle/>
          <a:p>
            <a:pPr indent="0" marL="0">
              <a:buNone/>
            </a:pPr>
            <a:r>
              <a:rPr lang="en-US" sz="2000" b="1" dirty="0">
                <a:solidFill>
                  <a:srgbClr val="FFFFFF"/>
                </a:solidFill>
                <a:latin typeface="Aptos" pitchFamily="34" charset="0"/>
                <a:ea typeface="Cambria" pitchFamily="34" charset="-122"/>
                <a:cs typeface="Cambria" pitchFamily="34" charset="-120"/>
              </a:rPr>
              <a:t>Agoè-Nyivé</a:t>
            </a:r>
            <a:endParaRPr lang="en-US" sz="2000" dirty="0"/>
          </a:p>
        </p:txBody>
      </p:sp>
      <p:sp>
        <p:nvSpPr>
          <p:cNvPr id="6" name="Text 4"/>
          <p:cNvSpPr txBox="1"/>
          <p:nvPr/>
        </p:nvSpPr>
        <p:spPr>
          <a:xfrm>
            <a:off x="914400" y="2103120"/>
            <a:ext cx="3291840" cy="777240"/>
          </a:xfrm>
          <a:prstGeom prst="rect">
            <a:avLst/>
          </a:prstGeom>
          <a:noFill/>
          <a:ln/>
        </p:spPr>
        <p:txBody>
          <a:bodyPr wrap="square" lIns="0" tIns="0" rIns="0" bIns="0" rtlCol="0" anchor="ctr"/>
          <a:lstStyle/>
          <a:p>
            <a:pPr indent="0" marL="0">
              <a:buNone/>
            </a:pPr>
            <a:r>
              <a:rPr lang="en-US" sz="4600" b="1" dirty="0">
                <a:solidFill>
                  <a:srgbClr val="FFFFFF"/>
                </a:solidFill>
                <a:latin typeface="Aptos" pitchFamily="34" charset="0"/>
                <a:ea typeface="Cambria" pitchFamily="34" charset="-122"/>
                <a:cs typeface="Cambria" pitchFamily="34" charset="-120"/>
              </a:rPr>
              <a:t>760</a:t>
            </a:r>
            <a:endParaRPr lang="en-US" sz="4600" dirty="0"/>
          </a:p>
        </p:txBody>
      </p:sp>
      <p:sp>
        <p:nvSpPr>
          <p:cNvPr id="7" name="Text 5"/>
          <p:cNvSpPr txBox="1"/>
          <p:nvPr/>
        </p:nvSpPr>
        <p:spPr>
          <a:xfrm>
            <a:off x="914400" y="2880360"/>
            <a:ext cx="3291840" cy="685800"/>
          </a:xfrm>
          <a:prstGeom prst="rect">
            <a:avLst/>
          </a:prstGeom>
          <a:noFill/>
          <a:ln/>
        </p:spPr>
        <p:txBody>
          <a:bodyPr wrap="square" lIns="0" tIns="0" rIns="0" bIns="0" rtlCol="0" anchor="ctr"/>
          <a:lstStyle/>
          <a:p>
            <a:pPr indent="0" marL="0">
              <a:buNone/>
            </a:pPr>
            <a:r>
              <a:rPr lang="en-US" sz="1200" dirty="0">
                <a:solidFill>
                  <a:srgbClr val="FFFFFF"/>
                </a:solidFill>
                <a:latin typeface="Aptos" pitchFamily="34" charset="0"/>
                <a:ea typeface="Calibri" pitchFamily="34" charset="-122"/>
                <a:cs typeface="Calibri" pitchFamily="34" charset="-120"/>
              </a:rPr>
              <a:t>points de service manquants</a:t>
            </a:r>
            <a:endParaRPr lang="en-US" sz="1200" dirty="0"/>
          </a:p>
          <a:p>
            <a:pPr indent="0" marL="0">
              <a:buNone/>
            </a:pPr>
            <a:r>
              <a:rPr lang="en-US" sz="1200" dirty="0">
                <a:solidFill>
                  <a:srgbClr val="FFFFFF"/>
                </a:solidFill>
                <a:latin typeface="Aptos" pitchFamily="34" charset="0"/>
                <a:ea typeface="Calibri" pitchFamily="34" charset="-122"/>
                <a:cs typeface="Calibri" pitchFamily="34" charset="-120"/>
              </a:rPr>
              <a:t>pour 882 695 habitants</a:t>
            </a:r>
            <a:endParaRPr lang="en-US" sz="1200" dirty="0"/>
          </a:p>
        </p:txBody>
      </p:sp>
      <p:sp>
        <p:nvSpPr>
          <p:cNvPr id="8" name="Text 6"/>
          <p:cNvSpPr txBox="1"/>
          <p:nvPr/>
        </p:nvSpPr>
        <p:spPr>
          <a:xfrm>
            <a:off x="640080" y="3977640"/>
            <a:ext cx="3840480" cy="2148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La banlieue de Lomé, pas une zone reculée.</a:t>
            </a: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Une préfecture périurbaine fortement peuplée affiche 0,65 fois l’accès attendu au regard de sa population. Son niveau de service reste inférieur à ce qu’impliquerait une répartition proportionnelle à la population.</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À l’inverse, les préfectures les mieux dotées sont les chefs-lieux régionaux : Sokodé (2,4×), Kara (2,3×), Cinkassé (1,7×) — devant Lomé.</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L’implantation suit la carte administrative, pas la carte démographique.</a:t>
            </a:r>
            <a:endParaRPr lang="en-US" sz="1200" dirty="0"/>
          </a:p>
        </p:txBody>
      </p:sp>
      <p:graphicFrame>
        <p:nvGraphicFramePr>
          <p:cNvPr id="9"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 Attendu » = répartition strictement proportionnelle à la population. Hypothèse normative explicite, pas une vérité économique.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PRIORISATION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Une priorisation dont chaque paramètre est visible</a:t>
            </a:r>
            <a:endParaRPr lang="en-US" sz="3000" dirty="0"/>
          </a:p>
        </p:txBody>
      </p:sp>
      <p:sp>
        <p:nvSpPr>
          <p:cNvPr id="4" name="Shape 2"/>
          <p:cNvSpPr/>
          <p:nvPr/>
        </p:nvSpPr>
        <p:spPr>
          <a:xfrm>
            <a:off x="640080" y="1463040"/>
            <a:ext cx="3931920" cy="914400"/>
          </a:xfrm>
          <a:prstGeom prst="roundRect">
            <a:avLst>
              <a:gd name="adj" fmla="val 6000"/>
            </a:avLst>
          </a:prstGeom>
          <a:solidFill>
            <a:srgbClr val="EAF1FB"/>
          </a:solidFill>
          <a:ln w="12700">
            <a:solidFill>
              <a:srgbClr val="EAF1FB"/>
            </a:solidFill>
            <a:prstDash val="solid"/>
          </a:ln>
        </p:spPr>
        <p:txBody>
          <a:bodyPr/>
          <a:p/>
        </p:txBody>
      </p:sp>
      <p:sp>
        <p:nvSpPr>
          <p:cNvPr id="5" name="Text 3"/>
          <p:cNvSpPr txBox="1"/>
          <p:nvPr/>
        </p:nvSpPr>
        <p:spPr>
          <a:xfrm>
            <a:off x="841248" y="1664208"/>
            <a:ext cx="3566160" cy="548640"/>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ourier New" pitchFamily="34" charset="-122"/>
                <a:cs typeface="Courier New" pitchFamily="34" charset="-120"/>
              </a:rPr>
              <a:t>priorité  =  déficit  ×  (part de population)^α  ×  bonus zone blanche</a:t>
            </a:r>
            <a:endParaRPr lang="en-US" sz="1200" dirty="0"/>
          </a:p>
        </p:txBody>
      </p:sp>
      <p:sp>
        <p:nvSpPr>
          <p:cNvPr id="6" name="Text 4"/>
          <p:cNvSpPr txBox="1"/>
          <p:nvPr/>
        </p:nvSpPr>
        <p:spPr>
          <a:xfrm>
            <a:off x="640080" y="2606040"/>
            <a:ext cx="3931920" cy="3291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Le rôle de α.</a:t>
            </a: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Le curseur α équilibre deux priorités : corriger le déficit brut ou privilégier les territoires où davantage d’habitants sont concernés.</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α = 0 classe au déficit brut ; α = 1 privilégie le nombre d’habitants touchés. La valeur retenue, 0,5, est un compromis — et il est réglable en direct dans le tableau de bord.</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Ce choix est un arbitrage politique, pas un résultat statistique. Il est exposé, pas dissimulé.</a:t>
            </a:r>
            <a:endParaRPr lang="en-US" sz="1200" dirty="0"/>
          </a:p>
        </p:txBody>
      </p:sp>
      <p:graphicFrame>
        <p:nvGraphicFramePr>
          <p:cNvPr id="7"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Aucun modèle boîte noire, aucun paramètre caché : le score se recalcule à la main à partir de la table publiée.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RECOMMANDATIONS</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Cinq recommandations</a:t>
            </a:r>
            <a:endParaRPr lang="en-US" sz="3000" dirty="0"/>
          </a:p>
        </p:txBody>
      </p:sp>
      <p:sp>
        <p:nvSpPr>
          <p:cNvPr id="4" name="Shape 2"/>
          <p:cNvSpPr/>
          <p:nvPr/>
        </p:nvSpPr>
        <p:spPr>
          <a:xfrm>
            <a:off x="685800" y="1536192"/>
            <a:ext cx="384048" cy="384048"/>
          </a:xfrm>
          <a:prstGeom prst="ellipse">
            <a:avLst/>
          </a:prstGeom>
          <a:solidFill>
            <a:srgbClr val="12345F"/>
          </a:solidFill>
          <a:ln w="12700">
            <a:solidFill>
              <a:srgbClr val="12345F"/>
            </a:solidFill>
            <a:prstDash val="solid"/>
          </a:ln>
        </p:spPr>
        <p:txBody>
          <a:bodyPr/>
          <a:p/>
        </p:txBody>
      </p:sp>
      <p:sp>
        <p:nvSpPr>
          <p:cNvPr id="5" name="Text 3"/>
          <p:cNvSpPr txBox="1"/>
          <p:nvPr/>
        </p:nvSpPr>
        <p:spPr>
          <a:xfrm>
            <a:off x="685800" y="1586484"/>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1</a:t>
            </a:r>
            <a:endParaRPr lang="en-US" sz="1500" dirty="0"/>
          </a:p>
        </p:txBody>
      </p:sp>
      <p:sp>
        <p:nvSpPr>
          <p:cNvPr id="6" name="Text 4"/>
          <p:cNvSpPr txBox="1"/>
          <p:nvPr/>
        </p:nvSpPr>
        <p:spPr>
          <a:xfrm>
            <a:off x="1298448" y="1481328"/>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Concentrer l’effort sur trois préfectures</a:t>
            </a:r>
            <a:endParaRPr lang="en-US" sz="1400" dirty="0"/>
          </a:p>
        </p:txBody>
      </p:sp>
      <p:sp>
        <p:nvSpPr>
          <p:cNvPr id="7" name="Text 5"/>
          <p:cNvSpPr txBox="1"/>
          <p:nvPr/>
        </p:nvSpPr>
        <p:spPr>
          <a:xfrm>
            <a:off x="1298448" y="1792224"/>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Agoè-Nyivé, Zio et Haho obtiennent les scores les plus élevés : elles combinent déficit important et population nombreuse.</a:t>
            </a:r>
            <a:endParaRPr lang="en-US" sz="1150" dirty="0"/>
          </a:p>
        </p:txBody>
      </p:sp>
      <p:sp>
        <p:nvSpPr>
          <p:cNvPr id="8" name="Shape 6"/>
          <p:cNvSpPr/>
          <p:nvPr/>
        </p:nvSpPr>
        <p:spPr>
          <a:xfrm>
            <a:off x="685800" y="2523744"/>
            <a:ext cx="384048" cy="384048"/>
          </a:xfrm>
          <a:prstGeom prst="ellipse">
            <a:avLst/>
          </a:prstGeom>
          <a:solidFill>
            <a:srgbClr val="12345F"/>
          </a:solidFill>
          <a:ln w="12700">
            <a:solidFill>
              <a:srgbClr val="12345F"/>
            </a:solidFill>
            <a:prstDash val="solid"/>
          </a:ln>
        </p:spPr>
        <p:txBody>
          <a:bodyPr/>
          <a:p/>
        </p:txBody>
      </p:sp>
      <p:sp>
        <p:nvSpPr>
          <p:cNvPr id="9" name="Text 7"/>
          <p:cNvSpPr txBox="1"/>
          <p:nvPr/>
        </p:nvSpPr>
        <p:spPr>
          <a:xfrm>
            <a:off x="685800" y="25740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2</a:t>
            </a:r>
            <a:endParaRPr lang="en-US" sz="1500" dirty="0"/>
          </a:p>
        </p:txBody>
      </p:sp>
      <p:sp>
        <p:nvSpPr>
          <p:cNvPr id="10" name="Text 8"/>
          <p:cNvSpPr txBox="1"/>
          <p:nvPr/>
        </p:nvSpPr>
        <p:spPr>
          <a:xfrm>
            <a:off x="1298448" y="2468880"/>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S’appuyer sur les agents, pas sur les agences</a:t>
            </a:r>
            <a:endParaRPr lang="en-US" sz="1400" dirty="0"/>
          </a:p>
        </p:txBody>
      </p:sp>
      <p:sp>
        <p:nvSpPr>
          <p:cNvPr id="11" name="Text 9"/>
          <p:cNvSpPr txBox="1"/>
          <p:nvPr/>
        </p:nvSpPr>
        <p:spPr>
          <a:xfrm>
            <a:off x="1298448" y="2779776"/>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Gini 0,31 contre 0,38. Les données plaident pour densifier les agents, mieux répartis territorialement que les agences.</a:t>
            </a:r>
            <a:endParaRPr lang="en-US" sz="1150" dirty="0"/>
          </a:p>
        </p:txBody>
      </p:sp>
      <p:sp>
        <p:nvSpPr>
          <p:cNvPr id="12" name="Shape 10"/>
          <p:cNvSpPr/>
          <p:nvPr/>
        </p:nvSpPr>
        <p:spPr>
          <a:xfrm>
            <a:off x="685800" y="3511296"/>
            <a:ext cx="384048" cy="384048"/>
          </a:xfrm>
          <a:prstGeom prst="ellipse">
            <a:avLst/>
          </a:prstGeom>
          <a:solidFill>
            <a:srgbClr val="12345F"/>
          </a:solidFill>
          <a:ln w="12700">
            <a:solidFill>
              <a:srgbClr val="12345F"/>
            </a:solidFill>
            <a:prstDash val="solid"/>
          </a:ln>
        </p:spPr>
        <p:txBody>
          <a:bodyPr/>
          <a:p/>
        </p:txBody>
      </p:sp>
      <p:sp>
        <p:nvSpPr>
          <p:cNvPr id="13" name="Text 11"/>
          <p:cNvSpPr txBox="1"/>
          <p:nvPr/>
        </p:nvSpPr>
        <p:spPr>
          <a:xfrm>
            <a:off x="685800" y="356158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3</a:t>
            </a:r>
            <a:endParaRPr lang="en-US" sz="1500" dirty="0"/>
          </a:p>
        </p:txBody>
      </p:sp>
      <p:sp>
        <p:nvSpPr>
          <p:cNvPr id="14" name="Text 12"/>
          <p:cNvSpPr txBox="1"/>
          <p:nvPr/>
        </p:nvSpPr>
        <p:spPr>
          <a:xfrm>
            <a:off x="1298448" y="3456432"/>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Ouvrir un point opérateur, même mutualisé, dans les 12 préfectures sans agence</a:t>
            </a:r>
            <a:endParaRPr lang="en-US" sz="1400" dirty="0"/>
          </a:p>
        </p:txBody>
      </p:sp>
      <p:sp>
        <p:nvSpPr>
          <p:cNvPr id="15" name="Text 13"/>
          <p:cNvSpPr txBox="1"/>
          <p:nvPr/>
        </p:nvSpPr>
        <p:spPr>
          <a:xfrm>
            <a:off x="1298448" y="3767328"/>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Est-Mono, Vo et Lacs n’ont aucun guichet opérateur. Leurs besoins en mobile money restent différents.</a:t>
            </a:r>
            <a:endParaRPr lang="en-US" sz="1150" dirty="0"/>
          </a:p>
        </p:txBody>
      </p:sp>
      <p:sp>
        <p:nvSpPr>
          <p:cNvPr id="16" name="Shape 14"/>
          <p:cNvSpPr/>
          <p:nvPr/>
        </p:nvSpPr>
        <p:spPr>
          <a:xfrm>
            <a:off x="685800" y="4498848"/>
            <a:ext cx="384048" cy="384048"/>
          </a:xfrm>
          <a:prstGeom prst="ellipse">
            <a:avLst/>
          </a:prstGeom>
          <a:solidFill>
            <a:srgbClr val="1BAF7A"/>
          </a:solidFill>
          <a:ln w="12700">
            <a:solidFill>
              <a:srgbClr val="1BAF7A"/>
            </a:solidFill>
            <a:prstDash val="solid"/>
          </a:ln>
        </p:spPr>
        <p:txBody>
          <a:bodyPr/>
          <a:p/>
        </p:txBody>
      </p:sp>
      <p:sp>
        <p:nvSpPr>
          <p:cNvPr id="17" name="Text 15"/>
          <p:cNvSpPr txBox="1"/>
          <p:nvPr/>
        </p:nvSpPr>
        <p:spPr>
          <a:xfrm>
            <a:off x="685800" y="4549140"/>
            <a:ext cx="384048" cy="274320"/>
          </a:xfrm>
          <a:prstGeom prst="rect">
            <a:avLst/>
          </a:prstGeom>
          <a:noFill/>
          <a:ln/>
        </p:spPr>
        <p:txBody>
          <a:bodyPr wrap="square" lIns="0" tIns="0" rIns="0" bIns="0" rtlCol="0" anchor="ctr"/>
          <a:lstStyle/>
          <a:p>
            <a:pPr algn="ctr" indent="0" marL="0">
              <a:buNone/>
            </a:pPr>
            <a:r>
              <a:rPr lang="en-US" sz="1500" b="1" dirty="0">
                <a:solidFill>
                  <a:srgbClr val="12345F"/>
                </a:solidFill>
                <a:latin typeface="Aptos" pitchFamily="34" charset="0"/>
                <a:ea typeface="Cambria" pitchFamily="34" charset="-122"/>
                <a:cs typeface="Cambria" pitchFamily="34" charset="-120"/>
              </a:rPr>
              <a:t>4</a:t>
            </a:r>
            <a:endParaRPr lang="en-US" sz="1500" dirty="0"/>
          </a:p>
        </p:txBody>
      </p:sp>
      <p:sp>
        <p:nvSpPr>
          <p:cNvPr id="18" name="Text 16"/>
          <p:cNvSpPr txBox="1"/>
          <p:nvPr/>
        </p:nvSpPr>
        <p:spPr>
          <a:xfrm>
            <a:off x="1298448" y="4443984"/>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Ne pas confondre urbain et desservi</a:t>
            </a:r>
            <a:endParaRPr lang="en-US" sz="1400" dirty="0"/>
          </a:p>
        </p:txBody>
      </p:sp>
      <p:sp>
        <p:nvSpPr>
          <p:cNvPr id="19" name="Text 17"/>
          <p:cNvSpPr txBox="1"/>
          <p:nvPr/>
        </p:nvSpPr>
        <p:spPr>
          <a:xfrm>
            <a:off x="1298448" y="4754880"/>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Le déficit le plus lourd est périurbain. Un plan fondé uniquement sur la ruralité manquerait une importante population sous-servie.</a:t>
            </a:r>
            <a:endParaRPr lang="en-US" sz="1150" dirty="0"/>
          </a:p>
        </p:txBody>
      </p:sp>
      <p:sp>
        <p:nvSpPr>
          <p:cNvPr id="20" name="Shape 18"/>
          <p:cNvSpPr/>
          <p:nvPr/>
        </p:nvSpPr>
        <p:spPr>
          <a:xfrm>
            <a:off x="685800" y="5486400"/>
            <a:ext cx="384048" cy="384048"/>
          </a:xfrm>
          <a:prstGeom prst="ellipse">
            <a:avLst/>
          </a:prstGeom>
          <a:solidFill>
            <a:srgbClr val="1BAF7A"/>
          </a:solidFill>
          <a:ln w="12700">
            <a:solidFill>
              <a:srgbClr val="1BAF7A"/>
            </a:solidFill>
            <a:prstDash val="solid"/>
          </a:ln>
        </p:spPr>
        <p:txBody>
          <a:bodyPr/>
          <a:p/>
        </p:txBody>
      </p:sp>
      <p:sp>
        <p:nvSpPr>
          <p:cNvPr id="21" name="Text 19"/>
          <p:cNvSpPr txBox="1"/>
          <p:nvPr/>
        </p:nvSpPr>
        <p:spPr>
          <a:xfrm>
            <a:off x="685800" y="5536692"/>
            <a:ext cx="384048" cy="274320"/>
          </a:xfrm>
          <a:prstGeom prst="rect">
            <a:avLst/>
          </a:prstGeom>
          <a:noFill/>
          <a:ln/>
        </p:spPr>
        <p:txBody>
          <a:bodyPr wrap="square" lIns="0" tIns="0" rIns="0" bIns="0" rtlCol="0" anchor="ctr"/>
          <a:lstStyle/>
          <a:p>
            <a:pPr algn="ctr" indent="0" marL="0">
              <a:buNone/>
            </a:pPr>
            <a:r>
              <a:rPr lang="en-US" sz="1500" b="1" dirty="0">
                <a:solidFill>
                  <a:srgbClr val="12345F"/>
                </a:solidFill>
                <a:latin typeface="Aptos" pitchFamily="34" charset="0"/>
                <a:ea typeface="Cambria" pitchFamily="34" charset="-122"/>
                <a:cs typeface="Cambria" pitchFamily="34" charset="-120"/>
              </a:rPr>
              <a:t>5</a:t>
            </a:r>
            <a:endParaRPr lang="en-US" sz="1500" dirty="0"/>
          </a:p>
        </p:txBody>
      </p:sp>
      <p:sp>
        <p:nvSpPr>
          <p:cNvPr id="22" name="Text 20"/>
          <p:cNvSpPr txBox="1"/>
          <p:nvPr/>
        </p:nvSpPr>
        <p:spPr>
          <a:xfrm>
            <a:off x="1298448" y="5431536"/>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Fiabiliser la donnée avant de cibler plus fin</a:t>
            </a:r>
            <a:endParaRPr lang="en-US" sz="1400" dirty="0"/>
          </a:p>
        </p:txBody>
      </p:sp>
      <p:sp>
        <p:nvSpPr>
          <p:cNvPr id="23" name="Text 21"/>
          <p:cNvSpPr txBox="1"/>
          <p:nvPr/>
        </p:nvSpPr>
        <p:spPr>
          <a:xfrm>
            <a:off x="1298448" y="5742432"/>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Avant un ciblage plus fin, compléter les données : boutiques CANAL+, couverture radio et opérateur des points mobile money.</a:t>
            </a:r>
            <a:endParaRPr lang="en-US" sz="1150" dirty="0"/>
          </a:p>
        </p:txBody>
      </p:sp>
      <p:sp>
        <p:nvSpPr>
          <p:cNvPr id="24" name="Text 2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Les trois premières recommandations viennent du score ; les deux dernières répondent aux limites des données.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822960" y="777240"/>
            <a:ext cx="10515600" cy="274320"/>
          </a:xfrm>
          <a:prstGeom prst="rect">
            <a:avLst/>
          </a:prstGeom>
          <a:noFill/>
          <a:ln/>
        </p:spPr>
        <p:txBody>
          <a:bodyPr wrap="square" lIns="0" tIns="0" rIns="0" bIns="0" rtlCol="0" anchor="ctr"/>
          <a:lstStyle/>
          <a:p>
            <a:pPr indent="0" marL="0">
              <a:buNone/>
            </a:pPr>
            <a:r>
              <a:rPr lang="en-US" sz="1200" b="1" spc="200" kern="0" dirty="0">
                <a:solidFill>
                  <a:srgbClr val="12345F"/>
                </a:solidFill>
                <a:latin typeface="Aptos" pitchFamily="34" charset="0"/>
                <a:ea typeface="Calibri" pitchFamily="34" charset="-122"/>
                <a:cs typeface="Calibri" pitchFamily="34" charset="-120"/>
              </a:rPr>
              <a:t>CE SUR QUOI REPOSE CE DIAGNOSTIC · ET CE QU’IL NE DIT PAS</a:t>
            </a:r>
            <a:endParaRPr lang="en-US" sz="1200" dirty="0"/>
          </a:p>
        </p:txBody>
      </p:sp>
      <p:sp>
        <p:nvSpPr>
          <p:cNvPr id="3" name="Text 1"/>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Les six hypothèses à garder en tête</a:t>
            </a:r>
            <a:endParaRPr lang="en-US" sz="3000" dirty="0"/>
          </a:p>
        </p:txBody>
      </p:sp>
      <p:sp>
        <p:nvSpPr>
          <p:cNvPr id="4" name="Text 2"/>
          <p:cNvSpPr txBox="1"/>
          <p:nvPr/>
        </p:nvSpPr>
        <p:spPr>
          <a:xfrm>
            <a:off x="82296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H1 · Norme d’équité</a:t>
            </a:r>
            <a:endParaRPr lang="en-US" sz="1300" dirty="0"/>
          </a:p>
        </p:txBody>
      </p:sp>
      <p:sp>
        <p:nvSpPr>
          <p:cNvPr id="5" name="Text 3"/>
          <p:cNvSpPr txBox="1"/>
          <p:nvPr/>
        </p:nvSpPr>
        <p:spPr>
          <a:xfrm>
            <a:off x="82296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 Attendu » = répartition proportionnelle à la population. C’est une norme d’équité, pas une loi économique.</a:t>
            </a:r>
            <a:endParaRPr lang="en-US" sz="1050" dirty="0"/>
          </a:p>
        </p:txBody>
      </p:sp>
      <p:sp>
        <p:nvSpPr>
          <p:cNvPr id="6" name="Text 4"/>
          <p:cNvSpPr txBox="1"/>
          <p:nvPr/>
        </p:nvSpPr>
        <p:spPr>
          <a:xfrm>
            <a:off x="452628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H2 · Poids de la population</a:t>
            </a:r>
            <a:endParaRPr lang="en-US" sz="1300" dirty="0"/>
          </a:p>
        </p:txBody>
      </p:sp>
      <p:sp>
        <p:nvSpPr>
          <p:cNvPr id="7" name="Text 5"/>
          <p:cNvSpPr txBox="1"/>
          <p:nvPr/>
        </p:nvSpPr>
        <p:spPr>
          <a:xfrm>
            <a:off x="452628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α = 0,5 est un arbitrage politique réglable dans le tableau de bord.</a:t>
            </a:r>
            <a:endParaRPr lang="en-US" sz="1050" dirty="0"/>
          </a:p>
        </p:txBody>
      </p:sp>
      <p:sp>
        <p:nvSpPr>
          <p:cNvPr id="8" name="Text 6"/>
          <p:cNvSpPr txBox="1"/>
          <p:nvPr/>
        </p:nvSpPr>
        <p:spPr>
          <a:xfrm>
            <a:off x="822960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H3 · Couverture radio</a:t>
            </a:r>
            <a:endParaRPr lang="en-US" sz="1300" dirty="0"/>
          </a:p>
        </p:txBody>
      </p:sp>
      <p:sp>
        <p:nvSpPr>
          <p:cNvPr id="9" name="Text 7"/>
          <p:cNvSpPr txBox="1"/>
          <p:nvPr/>
        </p:nvSpPr>
        <p:spPr>
          <a:xfrm>
            <a:off x="822960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Faute de données radio accessibles, une zone blanche signifie ici absence de service physique, pas absence de signal.</a:t>
            </a:r>
            <a:endParaRPr lang="en-US" sz="1050" dirty="0"/>
          </a:p>
        </p:txBody>
      </p:sp>
      <p:sp>
        <p:nvSpPr>
          <p:cNvPr id="10" name="Text 8"/>
          <p:cNvSpPr txBox="1"/>
          <p:nvPr/>
        </p:nvSpPr>
        <p:spPr>
          <a:xfrm>
            <a:off x="82296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H4 · Centroïde du canton</a:t>
            </a:r>
            <a:endParaRPr lang="en-US" sz="1300" dirty="0"/>
          </a:p>
        </p:txBody>
      </p:sp>
      <p:sp>
        <p:nvSpPr>
          <p:cNvPr id="11" name="Text 9"/>
          <p:cNvSpPr txBox="1"/>
          <p:nvPr/>
        </p:nvSpPr>
        <p:spPr>
          <a:xfrm>
            <a:off x="82296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distances partent du centroïde du canton, faute de population infra-préfectorale.</a:t>
            </a:r>
            <a:endParaRPr lang="en-US" sz="1050" dirty="0"/>
          </a:p>
        </p:txBody>
      </p:sp>
      <p:sp>
        <p:nvSpPr>
          <p:cNvPr id="12" name="Text 10"/>
          <p:cNvSpPr txBox="1"/>
          <p:nvPr/>
        </p:nvSpPr>
        <p:spPr>
          <a:xfrm>
            <a:off x="452628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H5 · Noms reconstruits</a:t>
            </a:r>
            <a:endParaRPr lang="en-US" sz="1300" dirty="0"/>
          </a:p>
        </p:txBody>
      </p:sp>
      <p:sp>
        <p:nvSpPr>
          <p:cNvPr id="13" name="Text 11"/>
          <p:cNvSpPr txBox="1"/>
          <p:nvPr/>
        </p:nvSpPr>
        <p:spPr>
          <a:xfrm>
            <a:off x="452628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noms ont été reconstruits par jointure spatiale ; 39/39 préfectures concordent.</a:t>
            </a:r>
            <a:endParaRPr lang="en-US" sz="1050" dirty="0"/>
          </a:p>
        </p:txBody>
      </p:sp>
      <p:sp>
        <p:nvSpPr>
          <p:cNvPr id="14" name="Text 12"/>
          <p:cNvSpPr txBox="1"/>
          <p:nvPr/>
        </p:nvSpPr>
        <p:spPr>
          <a:xfrm>
            <a:off x="822960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H6 · Données et millésimes</a:t>
            </a:r>
            <a:endParaRPr lang="en-US" sz="1300" dirty="0"/>
          </a:p>
        </p:txBody>
      </p:sp>
      <p:sp>
        <p:nvSpPr>
          <p:cNvPr id="15" name="Text 13"/>
          <p:cNvSpPr txBox="1"/>
          <p:nvPr/>
        </p:nvSpPr>
        <p:spPr>
          <a:xfrm>
            <a:off x="822960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données forment un inventaire. Population 2022, implantations de date inconnue, 6,8 % d’opérateurs non renseignés.</a:t>
            </a:r>
            <a:endParaRPr lang="en-US" sz="1050" dirty="0"/>
          </a:p>
        </p:txBody>
      </p:sp>
      <p:sp>
        <p:nvSpPr>
          <p:cNvPr id="16" name="Shape 14"/>
          <p:cNvSpPr/>
          <p:nvPr/>
        </p:nvSpPr>
        <p:spPr>
          <a:xfrm>
            <a:off x="822960" y="5257800"/>
            <a:ext cx="10515600" cy="0"/>
          </a:xfrm>
          <a:prstGeom prst="line">
            <a:avLst/>
          </a:prstGeom>
          <a:noFill/>
          <a:ln w="19050">
            <a:solidFill>
              <a:srgbClr val="1C7C54"/>
            </a:solidFill>
            <a:prstDash val="solid"/>
          </a:ln>
        </p:spPr>
        <p:txBody>
          <a:bodyPr/>
          <a:p/>
        </p:txBody>
      </p:sp>
      <p:sp>
        <p:nvSpPr>
          <p:cNvPr id="17" name="Text 15"/>
          <p:cNvSpPr txBox="1"/>
          <p:nvPr/>
        </p:nvSpPr>
        <p:spPr>
          <a:xfrm>
            <a:off x="822960" y="5468112"/>
            <a:ext cx="6858000" cy="32004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Tableau de bord interactif, données et code reproductible</a:t>
            </a:r>
            <a:endParaRPr lang="en-US" sz="1400" dirty="0"/>
          </a:p>
        </p:txBody>
      </p:sp>
      <p:sp>
        <p:nvSpPr>
          <p:cNvPr id="18" name="Text 16"/>
          <p:cNvSpPr txBox="1"/>
          <p:nvPr/>
        </p:nvSpPr>
        <p:spPr>
          <a:xfrm>
            <a:off x="822960" y="5797296"/>
            <a:ext cx="10515600" cy="548640"/>
          </a:xfrm>
          <a:prstGeom prst="rect">
            <a:avLst/>
          </a:prstGeom>
          <a:noFill/>
          <a:ln/>
        </p:spPr>
        <p:txBody>
          <a:bodyPr wrap="square" lIns="0" tIns="0" rIns="0" bIns="0" rtlCol="0" anchor="ctr"/>
          <a:lstStyle/>
          <a:p>
            <a:pPr indent="0" marL="0">
              <a:buNone/>
            </a:pPr>
            <a:r>
              <a:rPr lang="en-US" sz="1100" dirty="0">
                <a:solidFill>
                  <a:srgbClr val="0B0B0B"/>
                </a:solidFill>
                <a:latin typeface="Aptos" pitchFamily="34" charset="0"/>
                <a:ea typeface="Calibri" pitchFamily="34" charset="-122"/>
                <a:cs typeface="Calibri" pitchFamily="34" charset="-120"/>
              </a:rPr>
              <a:t>8 vues filtrables par région ; analyse cantonale dans Accès local ; lecture recalculée ; export CSV ; 3 scripts Python reproductibles.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Accès aux télécoms et aux services numériques au Togo</dc:title>
  <dc:subject>PptxGenJS Presentation</dc:subject>
  <dc:creator>Komi Selassi GAYI</dc:creator>
  <cp:lastModifiedBy>Komi Selassi GAYI</cp:lastModifiedBy>
  <cp:revision>1</cp:revision>
  <dcterms:created xsi:type="dcterms:W3CDTF">2026-09-11T13:50:44Z</dcterms:created>
  <dcterms:modified xsi:type="dcterms:W3CDTF">2026-09-11T13:50:44Z</dcterms:modified>
</cp:coreProperties>
</file>