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Points mobile money pour 10 000 habitants</a:t>
            </a:r>
          </a:p>
        </c:rich>
      </c:tx>
      <c:layout/>
      <c:overlay val="0"/>
    </c:title>
    <c:autoTitleDeleted val="0"/>
    <c:plotArea>
      <c:layout/>
      <c:barChart>
        <c:barDir val="bar"/>
        <c:grouping val="clustered"/>
        <c:varyColors val="0"/>
        <c:ser>
          <c:idx val="0"/>
          <c:order val="0"/>
          <c:tx>
            <c:strRef>
              <c:f>Sheet1!$B$1</c:f>
              <c:strCache>
                <c:ptCount val="1"/>
                <c:pt idx="0">
                  <c:v>Points / 10 000 hab.</c:v>
                </c:pt>
              </c:strCache>
            </c:strRef>
          </c:tx>
          <c:spPr>
            <a:solidFill>
              <a:srgbClr val="1C7C54"/>
            </a:solidFill>
            <a:effectLst/>
          </c:spPr>
          <c:invertIfNegative val="0"/>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Plateaux</c:v>
                  </c:pt>
                  <c:pt idx="1">
                    <c:v>Savanes</c:v>
                  </c:pt>
                  <c:pt idx="2">
                    <c:v>Maritime</c:v>
                  </c:pt>
                  <c:pt idx="3">
                    <c:v>Centrale</c:v>
                  </c:pt>
                  <c:pt idx="4">
                    <c:v>Kara</c:v>
                  </c:pt>
                </c:lvl>
              </c:multiLvlStrCache>
            </c:multiLvlStrRef>
          </c:cat>
          <c:val>
            <c:numRef>
              <c:f>Sheet1!$B$2:$B$6</c:f>
              <c:numCache>
                <c:formatCode>General</c:formatCode>
                <c:ptCount val="5"/>
                <c:pt idx="0">
                  <c:v>18.8</c:v>
                </c:pt>
                <c:pt idx="1">
                  <c:v>23.4</c:v>
                </c:pt>
                <c:pt idx="2">
                  <c:v>25.4</c:v>
                </c:pt>
                <c:pt idx="3">
                  <c:v>26.3</c:v>
                </c:pt>
                <c:pt idx="4">
                  <c:v>29.9</c:v>
                </c:pt>
              </c:numCache>
            </c:numRef>
          </c:val>
        </c:ser>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Population des préfectures dépourvues d’agence télécom</a:t>
            </a:r>
          </a:p>
        </c:rich>
      </c:tx>
      <c:layout/>
      <c:overlay val="0"/>
    </c:title>
    <c:autoTitleDeleted val="0"/>
    <c:plotArea>
      <c:layout/>
      <c:barChart>
        <c:barDir val="bar"/>
        <c:grouping val="clustered"/>
        <c:varyColors val="0"/>
        <c:ser>
          <c:idx val="0"/>
          <c:order val="0"/>
          <c:tx>
            <c:strRef>
              <c:f>Sheet1!$B$1</c:f>
              <c:strCache>
                <c:ptCount val="1"/>
                <c:pt idx="0">
                  <c:v>Population</c:v>
                </c:pt>
              </c:strCache>
            </c:strRef>
          </c:tx>
          <c:spPr>
            <a:solidFill>
              <a:srgbClr val="C8102E"/>
            </a:solidFill>
            <a:effectLst/>
          </c:spPr>
          <c:invertIfNegative val="0"/>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Danyi</c:v>
                  </c:pt>
                  <c:pt idx="1">
                    <c:v>Mô</c:v>
                  </c:pt>
                  <c:pt idx="2">
                    <c:v>Akébou</c:v>
                  </c:pt>
                  <c:pt idx="3">
                    <c:v>Binah</c:v>
                  </c:pt>
                  <c:pt idx="4">
                    <c:v>Kpendjal</c:v>
                  </c:pt>
                  <c:pt idx="5">
                    <c:v>Wawa</c:v>
                  </c:pt>
                  <c:pt idx="6">
                    <c:v>Amou</c:v>
                  </c:pt>
                  <c:pt idx="7">
                    <c:v>Kpendjal-Ouest</c:v>
                  </c:pt>
                  <c:pt idx="8">
                    <c:v>Tandjoaré</c:v>
                  </c:pt>
                  <c:pt idx="9">
                    <c:v>Est-Mono</c:v>
                  </c:pt>
                  <c:pt idx="10">
                    <c:v>Vo</c:v>
                  </c:pt>
                  <c:pt idx="11">
                    <c:v>Lacs</c:v>
                  </c:pt>
                </c:lvl>
              </c:multiLvlStrCache>
            </c:multiLvlStrRef>
          </c:cat>
          <c:val>
            <c:numRef>
              <c:f>Sheet1!$B$2:$B$13</c:f>
              <c:numCache>
                <c:formatCode>General</c:formatCode>
                <c:ptCount val="12"/>
                <c:pt idx="0">
                  <c:v>40240</c:v>
                </c:pt>
                <c:pt idx="1">
                  <c:v>52448</c:v>
                </c:pt>
                <c:pt idx="2">
                  <c:v>73830</c:v>
                </c:pt>
                <c:pt idx="3">
                  <c:v>84199</c:v>
                </c:pt>
                <c:pt idx="4">
                  <c:v>88365</c:v>
                </c:pt>
                <c:pt idx="5">
                  <c:v>101300</c:v>
                </c:pt>
                <c:pt idx="6">
                  <c:v>114172</c:v>
                </c:pt>
                <c:pt idx="7">
                  <c:v>123330</c:v>
                </c:pt>
                <c:pt idx="8">
                  <c:v>138867</c:v>
                </c:pt>
                <c:pt idx="9">
                  <c:v>164460</c:v>
                </c:pt>
                <c:pt idx="10">
                  <c:v>224411</c:v>
                </c:pt>
                <c:pt idx="11">
                  <c:v>241247</c:v>
                </c:pt>
              </c:numCache>
            </c:numRef>
          </c:val>
        </c:ser>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Accès observé rapporté à l’accès attendu (1,00 = proportionnel à la population)</a:t>
            </a:r>
          </a:p>
        </c:rich>
      </c:tx>
      <c:layout/>
      <c:overlay val="0"/>
    </c:title>
    <c:autoTitleDeleted val="0"/>
    <c:plotArea>
      <c:layout/>
      <c:barChart>
        <c:barDir val="bar"/>
        <c:grouping val="clustered"/>
        <c:varyColors val="0"/>
        <c:ser>
          <c:idx val="0"/>
          <c:order val="0"/>
          <c:tx>
            <c:strRef>
              <c:f>Sheet1!$B$1</c:f>
              <c:strCache>
                <c:ptCount val="1"/>
                <c:pt idx="0">
                  <c:v>Ratio observé / attendu</c:v>
                </c:pt>
              </c:strCache>
            </c:strRef>
          </c:tx>
          <c:spPr>
            <a:solidFill>
              <a:srgbClr val="EB6834"/>
            </a:solidFill>
            <a:effectLst/>
          </c:spPr>
          <c:invertIfNegative val="0"/>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Kpendjal</c:v>
                  </c:pt>
                  <c:pt idx="1">
                    <c:v>Blitta</c:v>
                  </c:pt>
                  <c:pt idx="2">
                    <c:v>Mô</c:v>
                  </c:pt>
                  <c:pt idx="3">
                    <c:v>Moyen-Mono</c:v>
                  </c:pt>
                  <c:pt idx="4">
                    <c:v>Yoto</c:v>
                  </c:pt>
                  <c:pt idx="5">
                    <c:v>Tchamba</c:v>
                  </c:pt>
                  <c:pt idx="6">
                    <c:v>Agoè-Nyivé</c:v>
                  </c:pt>
                </c:lvl>
              </c:multiLvlStrCache>
            </c:multiLvlStrRef>
          </c:cat>
          <c:val>
            <c:numRef>
              <c:f>Sheet1!$B$2:$B$8</c:f>
              <c:numCache>
                <c:formatCode>General</c:formatCode>
                <c:ptCount val="7"/>
                <c:pt idx="0">
                  <c:v>0.19</c:v>
                </c:pt>
                <c:pt idx="1">
                  <c:v>0.23</c:v>
                </c:pt>
                <c:pt idx="2">
                  <c:v>0.25</c:v>
                </c:pt>
                <c:pt idx="3">
                  <c:v>0.37</c:v>
                </c:pt>
                <c:pt idx="4">
                  <c:v>0.37</c:v>
                </c:pt>
                <c:pt idx="5">
                  <c:v>0.42</c:v>
                </c:pt>
                <c:pt idx="6">
                  <c:v>0.65</c:v>
                </c:pt>
              </c:numCache>
            </c:numRef>
          </c:val>
        </c:ser>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Score de priorité d’extension (base 100 = priorité maximale)</a:t>
            </a:r>
          </a:p>
        </c:rich>
      </c:tx>
      <c:layout/>
      <c:overlay val="0"/>
    </c:title>
    <c:autoTitleDeleted val="0"/>
    <c:plotArea>
      <c:layout/>
      <c:barChart>
        <c:barDir val="bar"/>
        <c:grouping val="clustered"/>
        <c:varyColors val="0"/>
        <c:ser>
          <c:idx val="0"/>
          <c:order val="0"/>
          <c:tx>
            <c:strRef>
              <c:f>Sheet1!$B$1</c:f>
              <c:strCache>
                <c:ptCount val="1"/>
                <c:pt idx="0">
                  <c:v>Score de priorité</c:v>
                </c:pt>
              </c:strCache>
            </c:strRef>
          </c:tx>
          <c:spPr>
            <a:solidFill>
              <a:srgbClr val="1C7C54"/>
            </a:solidFill>
            <a:effectLst/>
          </c:spPr>
          <c:invertIfNegative val="0"/>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Sheet1!$A$2:$A$9</c:f>
              <c:multiLvlStrCache>
                <c:ptCount val="8"/>
                <c:lvl>
                  <c:pt idx="0">
                    <c:v>Dankpen</c:v>
                  </c:pt>
                  <c:pt idx="1">
                    <c:v>Est-Mono</c:v>
                  </c:pt>
                  <c:pt idx="2">
                    <c:v>Yoto</c:v>
                  </c:pt>
                  <c:pt idx="3">
                    <c:v>Tchamba</c:v>
                  </c:pt>
                  <c:pt idx="4">
                    <c:v>Blitta</c:v>
                  </c:pt>
                  <c:pt idx="5">
                    <c:v>Haho</c:v>
                  </c:pt>
                  <c:pt idx="6">
                    <c:v>Zio</c:v>
                  </c:pt>
                  <c:pt idx="7">
                    <c:v>Agoè-Nyivé</c:v>
                  </c:pt>
                </c:lvl>
              </c:multiLvlStrCache>
            </c:multiLvlStrRef>
          </c:cat>
          <c:val>
            <c:numRef>
              <c:f>Sheet1!$B$2:$B$9</c:f>
              <c:numCache>
                <c:formatCode>General</c:formatCode>
                <c:ptCount val="8"/>
                <c:pt idx="0">
                  <c:v>16</c:v>
                </c:pt>
                <c:pt idx="1">
                  <c:v>16</c:v>
                </c:pt>
                <c:pt idx="2">
                  <c:v>16</c:v>
                </c:pt>
                <c:pt idx="3">
                  <c:v>18</c:v>
                </c:pt>
                <c:pt idx="4">
                  <c:v>18</c:v>
                </c:pt>
                <c:pt idx="5">
                  <c:v>23</c:v>
                </c:pt>
                <c:pt idx="6">
                  <c:v>44</c:v>
                </c:pt>
                <c:pt idx="7">
                  <c:v>100</c:v>
                </c:pt>
              </c:numCache>
            </c:numRef>
          </c:val>
        </c:ser>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d'ouverture : le diagnostic ne porte pas sur le signal mais sur l'accès effectif au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la valeur ajoutée est la reconstruction des noms de préfectures et de cantons, absents des polygones officiels.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de bascule de la présentation : montrer que le récit intuitif est faux.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la limite : le centroïde n’est pas le barycentre de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341F"/>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274320"/>
          </a:xfrm>
          <a:prstGeom prst="rect">
            <a:avLst/>
          </a:prstGeom>
          <a:noFill/>
          <a:ln/>
        </p:spPr>
        <p:txBody>
          <a:bodyPr wrap="square" lIns="0" tIns="0" rIns="0" bIns="0" rtlCol="0" anchor="ctr"/>
          <a:lstStyle/>
          <a:p>
            <a:pPr indent="0" marL="0">
              <a:buNone/>
            </a:pPr>
            <a:r>
              <a:rPr lang="en-US" sz="1200" b="1" spc="200" kern="0" dirty="0">
                <a:solidFill>
                  <a:srgbClr val="4FA47C"/>
                </a:solidFill>
                <a:latin typeface="Calibri" pitchFamily="34" charset="0"/>
                <a:ea typeface="Calibri" pitchFamily="34" charset="-122"/>
                <a:cs typeface="Calibri" pitchFamily="34" charset="-120"/>
              </a:rPr>
              <a:t>DATA CHALLENGE TOGO AI LAB · ÉCONOMIE NUMÉRIQUE, DÉFI 1</a:t>
            </a:r>
            <a:endParaRPr lang="en-US" sz="1200" dirty="0"/>
          </a:p>
        </p:txBody>
      </p:sp>
      <p:sp>
        <p:nvSpPr>
          <p:cNvPr id="3" name="Text 1"/>
          <p:cNvSpPr txBox="1"/>
          <p:nvPr/>
        </p:nvSpPr>
        <p:spPr>
          <a:xfrm>
            <a:off x="822960" y="1783080"/>
            <a:ext cx="10241280" cy="13716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Accès aux télécoms et aux services numériques au Togo</a:t>
            </a:r>
            <a:endParaRPr lang="en-US" sz="4200" dirty="0"/>
          </a:p>
        </p:txBody>
      </p:sp>
      <p:sp>
        <p:nvSpPr>
          <p:cNvPr id="4" name="Text 2"/>
          <p:cNvSpPr txBox="1"/>
          <p:nvPr/>
        </p:nvSpPr>
        <p:spPr>
          <a:xfrm>
            <a:off x="822960" y="3108960"/>
            <a:ext cx="9601200" cy="457200"/>
          </a:xfrm>
          <a:prstGeom prst="rect">
            <a:avLst/>
          </a:prstGeom>
          <a:noFill/>
          <a:ln/>
        </p:spPr>
        <p:txBody>
          <a:bodyPr wrap="square" lIns="0" tIns="0" rIns="0" bIns="0" rtlCol="0" anchor="ctr"/>
          <a:lstStyle/>
          <a:p>
            <a:pPr indent="0" marL="0">
              <a:buNone/>
            </a:pPr>
            <a:r>
              <a:rPr lang="en-US" sz="1700" dirty="0">
                <a:solidFill>
                  <a:srgbClr val="BFDDCB"/>
                </a:solidFill>
                <a:latin typeface="Calibri" pitchFamily="34" charset="0"/>
                <a:ea typeface="Calibri" pitchFamily="34" charset="-122"/>
                <a:cs typeface="Calibri" pitchFamily="34" charset="-120"/>
              </a:rPr>
              <a:t>Diagnostic territorial et priorisation de l’extension de la connectivité</a:t>
            </a:r>
            <a:endParaRPr lang="en-US" sz="1700" dirty="0"/>
          </a:p>
        </p:txBody>
      </p:sp>
      <p:sp>
        <p:nvSpPr>
          <p:cNvPr id="5" name="Shape 3"/>
          <p:cNvSpPr/>
          <p:nvPr/>
        </p:nvSpPr>
        <p:spPr>
          <a:xfrm>
            <a:off x="822960" y="3749040"/>
            <a:ext cx="2011680" cy="0"/>
          </a:xfrm>
          <a:prstGeom prst="line">
            <a:avLst/>
          </a:prstGeom>
          <a:noFill/>
          <a:ln w="31750">
            <a:solidFill>
              <a:srgbClr val="F2C230"/>
            </a:solidFill>
            <a:prstDash val="solid"/>
          </a:ln>
        </p:spPr>
      </p:sp>
      <p:sp>
        <p:nvSpPr>
          <p:cNvPr id="6" name="Text 4"/>
          <p:cNvSpPr txBox="1"/>
          <p:nvPr/>
        </p:nvSpPr>
        <p:spPr>
          <a:xfrm>
            <a:off x="822960" y="4069080"/>
            <a:ext cx="8778240" cy="868680"/>
          </a:xfrm>
          <a:prstGeom prst="rect">
            <a:avLst/>
          </a:prstGeom>
          <a:noFill/>
          <a:ln/>
        </p:spPr>
        <p:txBody>
          <a:bodyPr wrap="square" lIns="0" tIns="0" rIns="0" bIns="0" rtlCol="0" anchor="ctr"/>
          <a:lstStyle/>
          <a:p>
            <a:pPr indent="0" marL="0">
              <a:buNone/>
            </a:pPr>
            <a:r>
              <a:rPr lang="en-US" sz="1900" i="1" dirty="0">
                <a:solidFill>
                  <a:srgbClr val="F2C230"/>
                </a:solidFill>
                <a:latin typeface="Cambria" pitchFamily="34" charset="0"/>
                <a:ea typeface="Cambria" pitchFamily="34" charset="-122"/>
                <a:cs typeface="Cambria" pitchFamily="34" charset="-120"/>
              </a:rPr>
              <a:t>Un Togolais sur six vit dans une préfecture où aucun opérateur</a:t>
            </a:r>
            <a:endParaRPr lang="en-US" sz="1900" dirty="0"/>
          </a:p>
          <a:p>
            <a:pPr indent="0" marL="0">
              <a:buNone/>
            </a:pPr>
            <a:r>
              <a:rPr lang="en-US" sz="1900" i="1" dirty="0">
                <a:solidFill>
                  <a:srgbClr val="F2C230"/>
                </a:solidFill>
                <a:latin typeface="Cambria" pitchFamily="34" charset="0"/>
                <a:ea typeface="Cambria" pitchFamily="34" charset="-122"/>
                <a:cs typeface="Cambria" pitchFamily="34" charset="-120"/>
              </a:rPr>
              <a:t>n’a de guichet physique.</a:t>
            </a:r>
            <a:endParaRPr lang="en-US" sz="1900" dirty="0"/>
          </a:p>
        </p:txBody>
      </p:sp>
      <p:sp>
        <p:nvSpPr>
          <p:cNvPr id="7" name="Text 5"/>
          <p:cNvSpPr txBox="1"/>
          <p:nvPr/>
        </p:nvSpPr>
        <p:spPr>
          <a:xfrm>
            <a:off x="822960" y="5943600"/>
            <a:ext cx="10515600" cy="320040"/>
          </a:xfrm>
          <a:prstGeom prst="rect">
            <a:avLst/>
          </a:prstGeom>
          <a:noFill/>
          <a:ln/>
        </p:spPr>
        <p:txBody>
          <a:bodyPr wrap="square" lIns="0" tIns="0" rIns="0" bIns="0" rtlCol="0" anchor="ctr"/>
          <a:lstStyle/>
          <a:p>
            <a:pPr indent="0" marL="0">
              <a:buNone/>
            </a:pPr>
            <a:r>
              <a:rPr lang="en-US" sz="1100" dirty="0">
                <a:solidFill>
                  <a:srgbClr val="8CC4A5"/>
                </a:solidFill>
                <a:latin typeface="Calibri" pitchFamily="34" charset="0"/>
                <a:ea typeface="Calibri" pitchFamily="34" charset="-122"/>
                <a:cs typeface="Calibri" pitchFamily="34" charset="-120"/>
              </a:rPr>
              <a:t>Komi Selassi GAYI  ·  septembre 2026  ·  39 préfectures, 396 cantons, 8 095 498 habitants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MÉTHODE</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Des données publiques, une chaîne reproductible</a:t>
            </a:r>
            <a:endParaRPr lang="en-US" sz="3000" dirty="0"/>
          </a:p>
        </p:txBody>
      </p:sp>
      <p:sp>
        <p:nvSpPr>
          <p:cNvPr id="4" name="Shape 2"/>
          <p:cNvSpPr/>
          <p:nvPr/>
        </p:nvSpPr>
        <p:spPr>
          <a:xfrm>
            <a:off x="685800" y="1691640"/>
            <a:ext cx="384048" cy="384048"/>
          </a:xfrm>
          <a:prstGeom prst="ellipse">
            <a:avLst/>
          </a:prstGeom>
          <a:solidFill>
            <a:srgbClr val="0E5236"/>
          </a:solidFill>
          <a:ln w="12700">
            <a:solidFill>
              <a:srgbClr val="0E5236"/>
            </a:solidFill>
            <a:prstDash val="solid"/>
          </a:ln>
        </p:spPr>
      </p:sp>
      <p:sp>
        <p:nvSpPr>
          <p:cNvPr id="5" name="Text 3"/>
          <p:cNvSpPr txBox="1"/>
          <p:nvPr/>
        </p:nvSpPr>
        <p:spPr>
          <a:xfrm>
            <a:off x="685800" y="1741932"/>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98448" y="1600200"/>
            <a:ext cx="2011680" cy="457200"/>
          </a:xfrm>
          <a:prstGeom prst="rect">
            <a:avLst/>
          </a:prstGeom>
          <a:noFill/>
          <a:ln/>
        </p:spPr>
        <p:txBody>
          <a:bodyPr wrap="square" lIns="0" tIns="0" rIns="0" bIns="0" rtlCol="0" anchor="ctr"/>
          <a:lstStyle/>
          <a:p>
            <a:pPr indent="0" marL="0">
              <a:buNone/>
            </a:pPr>
            <a:r>
              <a:rPr lang="en-US" sz="2300" b="1" dirty="0">
                <a:solidFill>
                  <a:srgbClr val="0E5236"/>
                </a:solidFill>
                <a:latin typeface="Cambria" pitchFamily="34" charset="0"/>
                <a:ea typeface="Cambria" pitchFamily="34" charset="-122"/>
                <a:cs typeface="Cambria" pitchFamily="34" charset="-120"/>
              </a:rPr>
              <a:t>19 788</a:t>
            </a:r>
            <a:endParaRPr lang="en-US" sz="2300" dirty="0"/>
          </a:p>
        </p:txBody>
      </p:sp>
      <p:sp>
        <p:nvSpPr>
          <p:cNvPr id="7" name="Text 5"/>
          <p:cNvSpPr txBox="1"/>
          <p:nvPr/>
        </p:nvSpPr>
        <p:spPr>
          <a:xfrm>
            <a:off x="3383280" y="1636776"/>
            <a:ext cx="3200400" cy="36576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Agents mobile money</a:t>
            </a:r>
            <a:endParaRPr lang="en-US" sz="1400" dirty="0"/>
          </a:p>
        </p:txBody>
      </p:sp>
      <p:sp>
        <p:nvSpPr>
          <p:cNvPr id="8" name="Text 6"/>
          <p:cNvSpPr txBox="1"/>
          <p:nvPr/>
        </p:nvSpPr>
        <p:spPr>
          <a:xfrm>
            <a:off x="3383280" y="1984248"/>
            <a:ext cx="3931920" cy="548640"/>
          </a:xfrm>
          <a:prstGeom prst="rect">
            <a:avLst/>
          </a:prstGeom>
          <a:noFill/>
          <a:ln/>
        </p:spPr>
        <p:txBody>
          <a:bodyPr wrap="square" lIns="0" tIns="0" rIns="0" bIns="0" rtlCol="0" anchor="ctr"/>
          <a:lstStyle/>
          <a:p>
            <a:pPr indent="0" marL="0">
              <a:buNone/>
            </a:pPr>
            <a:r>
              <a:rPr lang="en-US" sz="1100" dirty="0">
                <a:solidFill>
                  <a:srgbClr val="5A6B62"/>
                </a:solidFill>
                <a:latin typeface="Calibri" pitchFamily="34" charset="0"/>
                <a:ea typeface="Calibri" pitchFamily="34" charset="-122"/>
                <a:cs typeface="Calibri" pitchFamily="34" charset="-120"/>
              </a:rPr>
              <a:t>Géoportail Géodata Togo</a:t>
            </a:r>
            <a:endParaRPr lang="en-US" sz="1100" dirty="0"/>
          </a:p>
        </p:txBody>
      </p:sp>
      <p:sp>
        <p:nvSpPr>
          <p:cNvPr id="9" name="Shape 7"/>
          <p:cNvSpPr/>
          <p:nvPr/>
        </p:nvSpPr>
        <p:spPr>
          <a:xfrm>
            <a:off x="685800" y="2807208"/>
            <a:ext cx="384048" cy="384048"/>
          </a:xfrm>
          <a:prstGeom prst="ellipse">
            <a:avLst/>
          </a:prstGeom>
          <a:solidFill>
            <a:srgbClr val="0E5236"/>
          </a:solidFill>
          <a:ln w="12700">
            <a:solidFill>
              <a:srgbClr val="0E5236"/>
            </a:solidFill>
            <a:prstDash val="solid"/>
          </a:ln>
        </p:spPr>
      </p:sp>
      <p:sp>
        <p:nvSpPr>
          <p:cNvPr id="10" name="Text 8"/>
          <p:cNvSpPr txBox="1"/>
          <p:nvPr/>
        </p:nvSpPr>
        <p:spPr>
          <a:xfrm>
            <a:off x="685800" y="2857500"/>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1298448" y="2715768"/>
            <a:ext cx="2011680" cy="457200"/>
          </a:xfrm>
          <a:prstGeom prst="rect">
            <a:avLst/>
          </a:prstGeom>
          <a:noFill/>
          <a:ln/>
        </p:spPr>
        <p:txBody>
          <a:bodyPr wrap="square" lIns="0" tIns="0" rIns="0" bIns="0" rtlCol="0" anchor="ctr"/>
          <a:lstStyle/>
          <a:p>
            <a:pPr indent="0" marL="0">
              <a:buNone/>
            </a:pPr>
            <a:r>
              <a:rPr lang="en-US" sz="2300" b="1" dirty="0">
                <a:solidFill>
                  <a:srgbClr val="0E5236"/>
                </a:solidFill>
                <a:latin typeface="Cambria" pitchFamily="34" charset="0"/>
                <a:ea typeface="Cambria" pitchFamily="34" charset="-122"/>
                <a:cs typeface="Cambria" pitchFamily="34" charset="-120"/>
              </a:rPr>
              <a:t>90</a:t>
            </a:r>
            <a:endParaRPr lang="en-US" sz="2300" dirty="0"/>
          </a:p>
        </p:txBody>
      </p:sp>
      <p:sp>
        <p:nvSpPr>
          <p:cNvPr id="12" name="Text 10"/>
          <p:cNvSpPr txBox="1"/>
          <p:nvPr/>
        </p:nvSpPr>
        <p:spPr>
          <a:xfrm>
            <a:off x="3383280" y="2752344"/>
            <a:ext cx="3200400" cy="36576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Agences Moov et Togocom</a:t>
            </a:r>
            <a:endParaRPr lang="en-US" sz="1400" dirty="0"/>
          </a:p>
        </p:txBody>
      </p:sp>
      <p:sp>
        <p:nvSpPr>
          <p:cNvPr id="13" name="Text 11"/>
          <p:cNvSpPr txBox="1"/>
          <p:nvPr/>
        </p:nvSpPr>
        <p:spPr>
          <a:xfrm>
            <a:off x="3383280" y="3099816"/>
            <a:ext cx="3931920" cy="548640"/>
          </a:xfrm>
          <a:prstGeom prst="rect">
            <a:avLst/>
          </a:prstGeom>
          <a:noFill/>
          <a:ln/>
        </p:spPr>
        <p:txBody>
          <a:bodyPr wrap="square" lIns="0" tIns="0" rIns="0" bIns="0" rtlCol="0" anchor="ctr"/>
          <a:lstStyle/>
          <a:p>
            <a:pPr indent="0" marL="0">
              <a:buNone/>
            </a:pPr>
            <a:r>
              <a:rPr lang="en-US" sz="1100" dirty="0">
                <a:solidFill>
                  <a:srgbClr val="5A6B62"/>
                </a:solidFill>
                <a:latin typeface="Calibri" pitchFamily="34" charset="0"/>
                <a:ea typeface="Calibri" pitchFamily="34" charset="-122"/>
                <a:cs typeface="Calibri" pitchFamily="34" charset="-120"/>
              </a:rPr>
              <a:t>dont 7 boutiques CANAL+ retrouvées hors Géodata</a:t>
            </a:r>
            <a:endParaRPr lang="en-US" sz="1100" dirty="0"/>
          </a:p>
        </p:txBody>
      </p:sp>
      <p:sp>
        <p:nvSpPr>
          <p:cNvPr id="14" name="Shape 12"/>
          <p:cNvSpPr/>
          <p:nvPr/>
        </p:nvSpPr>
        <p:spPr>
          <a:xfrm>
            <a:off x="685800" y="3922776"/>
            <a:ext cx="384048" cy="384048"/>
          </a:xfrm>
          <a:prstGeom prst="ellipse">
            <a:avLst/>
          </a:prstGeom>
          <a:solidFill>
            <a:srgbClr val="0E5236"/>
          </a:solidFill>
          <a:ln w="12700">
            <a:solidFill>
              <a:srgbClr val="0E5236"/>
            </a:solidFill>
            <a:prstDash val="solid"/>
          </a:ln>
        </p:spPr>
      </p:sp>
      <p:sp>
        <p:nvSpPr>
          <p:cNvPr id="15" name="Text 13"/>
          <p:cNvSpPr txBox="1"/>
          <p:nvPr/>
        </p:nvSpPr>
        <p:spPr>
          <a:xfrm>
            <a:off x="685800" y="397306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298448" y="3831336"/>
            <a:ext cx="2011680" cy="457200"/>
          </a:xfrm>
          <a:prstGeom prst="rect">
            <a:avLst/>
          </a:prstGeom>
          <a:noFill/>
          <a:ln/>
        </p:spPr>
        <p:txBody>
          <a:bodyPr wrap="square" lIns="0" tIns="0" rIns="0" bIns="0" rtlCol="0" anchor="ctr"/>
          <a:lstStyle/>
          <a:p>
            <a:pPr indent="0" marL="0">
              <a:buNone/>
            </a:pPr>
            <a:r>
              <a:rPr lang="en-US" sz="2300" b="1" dirty="0">
                <a:solidFill>
                  <a:srgbClr val="0E5236"/>
                </a:solidFill>
                <a:latin typeface="Cambria" pitchFamily="34" charset="0"/>
                <a:ea typeface="Cambria" pitchFamily="34" charset="-122"/>
                <a:cs typeface="Cambria" pitchFamily="34" charset="-120"/>
              </a:rPr>
              <a:t>39 + 396</a:t>
            </a:r>
            <a:endParaRPr lang="en-US" sz="2300" dirty="0"/>
          </a:p>
        </p:txBody>
      </p:sp>
      <p:sp>
        <p:nvSpPr>
          <p:cNvPr id="17" name="Text 15"/>
          <p:cNvSpPr txBox="1"/>
          <p:nvPr/>
        </p:nvSpPr>
        <p:spPr>
          <a:xfrm>
            <a:off x="3383280" y="3867912"/>
            <a:ext cx="3200400" cy="36576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Préfectures et cantons</a:t>
            </a:r>
            <a:endParaRPr lang="en-US" sz="1400" dirty="0"/>
          </a:p>
        </p:txBody>
      </p:sp>
      <p:sp>
        <p:nvSpPr>
          <p:cNvPr id="18" name="Text 16"/>
          <p:cNvSpPr txBox="1"/>
          <p:nvPr/>
        </p:nvSpPr>
        <p:spPr>
          <a:xfrm>
            <a:off x="3383280" y="4215384"/>
            <a:ext cx="3931920" cy="548640"/>
          </a:xfrm>
          <a:prstGeom prst="rect">
            <a:avLst/>
          </a:prstGeom>
          <a:noFill/>
          <a:ln/>
        </p:spPr>
        <p:txBody>
          <a:bodyPr wrap="square" lIns="0" tIns="0" rIns="0" bIns="0" rtlCol="0" anchor="ctr"/>
          <a:lstStyle/>
          <a:p>
            <a:pPr indent="0" marL="0">
              <a:buNone/>
            </a:pPr>
            <a:r>
              <a:rPr lang="en-US" sz="1100" dirty="0">
                <a:solidFill>
                  <a:srgbClr val="5A6B62"/>
                </a:solidFill>
                <a:latin typeface="Calibri" pitchFamily="34" charset="0"/>
                <a:ea typeface="Calibri" pitchFamily="34" charset="-122"/>
                <a:cs typeface="Calibri" pitchFamily="34" charset="-120"/>
              </a:rPr>
              <a:t>limites administratives, noms reconstruits par jointure spatiale</a:t>
            </a:r>
            <a:endParaRPr lang="en-US" sz="1100" dirty="0"/>
          </a:p>
        </p:txBody>
      </p:sp>
      <p:sp>
        <p:nvSpPr>
          <p:cNvPr id="19" name="Shape 17"/>
          <p:cNvSpPr/>
          <p:nvPr/>
        </p:nvSpPr>
        <p:spPr>
          <a:xfrm>
            <a:off x="685800" y="5038344"/>
            <a:ext cx="384048" cy="384048"/>
          </a:xfrm>
          <a:prstGeom prst="ellipse">
            <a:avLst/>
          </a:prstGeom>
          <a:solidFill>
            <a:srgbClr val="0E5236"/>
          </a:solidFill>
          <a:ln w="12700">
            <a:solidFill>
              <a:srgbClr val="0E5236"/>
            </a:solidFill>
            <a:prstDash val="solid"/>
          </a:ln>
        </p:spPr>
      </p:sp>
      <p:sp>
        <p:nvSpPr>
          <p:cNvPr id="20" name="Text 18"/>
          <p:cNvSpPr txBox="1"/>
          <p:nvPr/>
        </p:nvSpPr>
        <p:spPr>
          <a:xfrm>
            <a:off x="685800" y="50886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1" name="Text 19"/>
          <p:cNvSpPr txBox="1"/>
          <p:nvPr/>
        </p:nvSpPr>
        <p:spPr>
          <a:xfrm>
            <a:off x="1298448" y="4946904"/>
            <a:ext cx="2011680" cy="457200"/>
          </a:xfrm>
          <a:prstGeom prst="rect">
            <a:avLst/>
          </a:prstGeom>
          <a:noFill/>
          <a:ln/>
        </p:spPr>
        <p:txBody>
          <a:bodyPr wrap="square" lIns="0" tIns="0" rIns="0" bIns="0" rtlCol="0" anchor="ctr"/>
          <a:lstStyle/>
          <a:p>
            <a:pPr indent="0" marL="0">
              <a:buNone/>
            </a:pPr>
            <a:r>
              <a:rPr lang="en-US" sz="2300" b="1" dirty="0">
                <a:solidFill>
                  <a:srgbClr val="0E5236"/>
                </a:solidFill>
                <a:latin typeface="Cambria" pitchFamily="34" charset="0"/>
                <a:ea typeface="Cambria" pitchFamily="34" charset="-122"/>
                <a:cs typeface="Cambria" pitchFamily="34" charset="-120"/>
              </a:rPr>
              <a:t>8 095 498</a:t>
            </a:r>
            <a:endParaRPr lang="en-US" sz="2300" dirty="0"/>
          </a:p>
        </p:txBody>
      </p:sp>
      <p:sp>
        <p:nvSpPr>
          <p:cNvPr id="22" name="Text 20"/>
          <p:cNvSpPr txBox="1"/>
          <p:nvPr/>
        </p:nvSpPr>
        <p:spPr>
          <a:xfrm>
            <a:off x="3383280" y="4983480"/>
            <a:ext cx="3200400" cy="36576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Habitants (RGPH-5, 2022)</a:t>
            </a:r>
            <a:endParaRPr lang="en-US" sz="1400" dirty="0"/>
          </a:p>
        </p:txBody>
      </p:sp>
      <p:sp>
        <p:nvSpPr>
          <p:cNvPr id="23" name="Text 21"/>
          <p:cNvSpPr txBox="1"/>
          <p:nvPr/>
        </p:nvSpPr>
        <p:spPr>
          <a:xfrm>
            <a:off x="3383280" y="5330952"/>
            <a:ext cx="3931920" cy="548640"/>
          </a:xfrm>
          <a:prstGeom prst="rect">
            <a:avLst/>
          </a:prstGeom>
          <a:noFill/>
          <a:ln/>
        </p:spPr>
        <p:txBody>
          <a:bodyPr wrap="square" lIns="0" tIns="0" rIns="0" bIns="0" rtlCol="0" anchor="ctr"/>
          <a:lstStyle/>
          <a:p>
            <a:pPr indent="0" marL="0">
              <a:buNone/>
            </a:pPr>
            <a:r>
              <a:rPr lang="en-US" sz="1100" dirty="0">
                <a:solidFill>
                  <a:srgbClr val="5A6B62"/>
                </a:solidFill>
                <a:latin typeface="Calibri" pitchFamily="34" charset="0"/>
                <a:ea typeface="Calibri" pitchFamily="34" charset="-122"/>
                <a:cs typeface="Calibri" pitchFamily="34" charset="-120"/>
              </a:rPr>
              <a:t>somme des 39 préfectures vérifiée au chiffre près</a:t>
            </a:r>
            <a:endParaRPr lang="en-US" sz="1100" dirty="0"/>
          </a:p>
        </p:txBody>
      </p:sp>
      <p:sp>
        <p:nvSpPr>
          <p:cNvPr id="24" name="Shape 22"/>
          <p:cNvSpPr/>
          <p:nvPr/>
        </p:nvSpPr>
        <p:spPr>
          <a:xfrm>
            <a:off x="7635240" y="1600200"/>
            <a:ext cx="3886200" cy="4297680"/>
          </a:xfrm>
          <a:prstGeom prst="roundRect">
            <a:avLst>
              <a:gd name="adj" fmla="val 1882"/>
            </a:avLst>
          </a:prstGeom>
          <a:solidFill>
            <a:srgbClr val="EAF3EE"/>
          </a:solidFill>
          <a:ln w="12700">
            <a:solidFill>
              <a:srgbClr val="EAF3EE"/>
            </a:solidFill>
            <a:prstDash val="solid"/>
          </a:ln>
        </p:spPr>
      </p:sp>
      <p:sp>
        <p:nvSpPr>
          <p:cNvPr id="25" name="Text 23"/>
          <p:cNvSpPr txBox="1"/>
          <p:nvPr/>
        </p:nvSpPr>
        <p:spPr>
          <a:xfrm>
            <a:off x="7973568" y="1828800"/>
            <a:ext cx="3291840" cy="365760"/>
          </a:xfrm>
          <a:prstGeom prst="rect">
            <a:avLst/>
          </a:prstGeom>
          <a:noFill/>
          <a:ln/>
        </p:spPr>
        <p:txBody>
          <a:bodyPr wrap="square" lIns="0" tIns="0" rIns="0" bIns="0" rtlCol="0" anchor="ctr"/>
          <a:lstStyle/>
          <a:p>
            <a:pPr indent="0" marL="0">
              <a:buNone/>
            </a:pPr>
            <a:r>
              <a:rPr lang="en-US" sz="1600" b="1" dirty="0">
                <a:solidFill>
                  <a:srgbClr val="0E5236"/>
                </a:solidFill>
                <a:latin typeface="Cambria" pitchFamily="34" charset="0"/>
                <a:ea typeface="Cambria" pitchFamily="34" charset="-122"/>
                <a:cs typeface="Cambria" pitchFamily="34" charset="-120"/>
              </a:rPr>
              <a:t>Trois partis pris</a:t>
            </a:r>
            <a:endParaRPr lang="en-US" sz="1600" dirty="0"/>
          </a:p>
        </p:txBody>
      </p:sp>
      <p:sp>
        <p:nvSpPr>
          <p:cNvPr id="26" name="Text 24"/>
          <p:cNvSpPr txBox="1"/>
          <p:nvPr/>
        </p:nvSpPr>
        <p:spPr>
          <a:xfrm>
            <a:off x="7973568" y="2286000"/>
            <a:ext cx="3246120" cy="3383280"/>
          </a:xfrm>
          <a:prstGeom prst="rect">
            <a:avLst/>
          </a:prstGeom>
          <a:noFill/>
          <a:ln/>
        </p:spPr>
        <p:txBody>
          <a:bodyPr wrap="square" lIns="0" tIns="0" rIns="0" bIns="0" rtlCol="0" anchor="ctr"/>
          <a:lstStyle/>
          <a:p>
            <a:pPr indent="0" marL="0">
              <a:lnSpc>
                <a:spcPts val="1600"/>
              </a:lnSpc>
              <a:buNone/>
            </a:pPr>
            <a:r>
              <a:rPr lang="en-US" sz="1150" b="1" dirty="0">
                <a:solidFill>
                  <a:srgbClr val="0B0B0B"/>
                </a:solidFill>
                <a:latin typeface="Calibri" pitchFamily="34" charset="0"/>
                <a:ea typeface="Calibri" pitchFamily="34" charset="-122"/>
                <a:cs typeface="Calibri" pitchFamily="34" charset="-120"/>
              </a:rPr>
              <a:t>Un inventaire, pas un échantillon. </a:t>
            </a:r>
            <a:pPr indent="0" marL="0">
              <a:lnSpc>
                <a:spcPts val="1600"/>
              </a:lnSpc>
              <a:buNone/>
            </a:pPr>
            <a:r>
              <a:rPr lang="en-US" sz="1150" dirty="0">
                <a:solidFill>
                  <a:srgbClr val="0B0B0B"/>
                </a:solidFill>
                <a:latin typeface="Calibri" pitchFamily="34" charset="0"/>
                <a:ea typeface="Calibri" pitchFamily="34" charset="-122"/>
                <a:cs typeface="Calibri" pitchFamily="34" charset="-120"/>
              </a:rPr>
              <a:t>Aucune p-value ni intervalle de confiance : ils n’auraient aucun sens sur un recensement d’établissements.</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Calibri" pitchFamily="34" charset="0"/>
                <a:ea typeface="Calibri" pitchFamily="34" charset="-122"/>
                <a:cs typeface="Calibri" pitchFamily="34" charset="-120"/>
              </a:rPr>
              <a:t>Deux échelles, toujours. </a:t>
            </a:r>
            <a:endParaRPr lang="en-US" sz="1150" dirty="0"/>
          </a:p>
          <a:p>
            <a:pPr indent="0" marL="0">
              <a:lnSpc>
                <a:spcPts val="1600"/>
              </a:lnSpc>
              <a:buNone/>
            </a:pPr>
            <a:r>
              <a:rPr lang="en-US" sz="1150" dirty="0">
                <a:solidFill>
                  <a:srgbClr val="0B0B0B"/>
                </a:solidFill>
                <a:latin typeface="Calibri" pitchFamily="34" charset="0"/>
                <a:ea typeface="Calibri" pitchFamily="34" charset="-122"/>
                <a:cs typeface="Calibri" pitchFamily="34" charset="-120"/>
              </a:rPr>
              <a:t>Préfecture et canton, pour que la conclusion ne dépende pas du découpage retenu.</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Calibri" pitchFamily="34" charset="0"/>
                <a:ea typeface="Calibri" pitchFamily="34" charset="-122"/>
                <a:cs typeface="Calibri" pitchFamily="34" charset="-120"/>
              </a:rPr>
              <a:t>Les limites sont écrites. </a:t>
            </a:r>
            <a:endParaRPr lang="en-US" sz="1150" dirty="0"/>
          </a:p>
          <a:p>
            <a:pPr indent="0" marL="0">
              <a:lnSpc>
                <a:spcPts val="1600"/>
              </a:lnSpc>
              <a:buNone/>
            </a:pPr>
            <a:r>
              <a:rPr lang="en-US" sz="1150" dirty="0">
                <a:solidFill>
                  <a:srgbClr val="0B0B0B"/>
                </a:solidFill>
                <a:latin typeface="Calibri" pitchFamily="34" charset="0"/>
                <a:ea typeface="Calibri" pitchFamily="34" charset="-122"/>
                <a:cs typeface="Calibri" pitchFamily="34" charset="-120"/>
              </a:rPr>
              <a:t>Millésimes hétérogènes, jeu CANAL+ vide, couverture radio inaccessible, 6,8 % d’opérateurs non renseignés.</a:t>
            </a:r>
            <a:endParaRPr lang="en-US" sz="1150" dirty="0"/>
          </a:p>
        </p:txBody>
      </p:sp>
      <p:sp>
        <p:nvSpPr>
          <p:cNvPr id="27" name="Text 2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Chaîne complète : 3 scripts Python, des sources brutes au tableau de bord. Tout est rejouable.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RÉSULTAT 1</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Rapporté aux habitants, le Sud n’est pas le mieux servi</a:t>
            </a:r>
            <a:endParaRPr lang="en-US" sz="3000" dirty="0"/>
          </a:p>
        </p:txBody>
      </p:sp>
      <p:pic>
        <p:nvPicPr>
          <p:cNvPr id="4" name="Image 0" descr="img/carte_acces.png">    </p:cNvPr>
          <p:cNvPicPr>
            <a:picLocks noChangeAspect="1"/>
          </p:cNvPicPr>
          <p:nvPr/>
        </p:nvPicPr>
        <p:blipFill>
          <a:blip r:embed="rId1"/>
          <a:stretch>
            <a:fillRect/>
          </a:stretch>
        </p:blipFill>
        <p:spPr>
          <a:xfrm>
            <a:off x="640080" y="1417320"/>
            <a:ext cx="3291840" cy="4480560"/>
          </a:xfrm>
          <a:prstGeom prst="rect">
            <a:avLst/>
          </a:prstGeom>
        </p:spPr>
      </p:pic>
      <p:graphicFrame>
        <p:nvGraphicFramePr>
          <p:cNvPr id="5" name="Chart 0" descr=""/>
          <p:cNvGraphicFramePr/>
          <p:nvPr/>
        </p:nvGraphicFramePr>
        <p:xfrm>
          <a:off x="4114800" y="1554480"/>
          <a:ext cx="4206240" cy="283464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4572000"/>
            <a:ext cx="4206240" cy="1005840"/>
          </a:xfrm>
          <a:prstGeom prst="rect">
            <a:avLst/>
          </a:prstGeom>
          <a:noFill/>
          <a:ln/>
        </p:spPr>
        <p:txBody>
          <a:bodyPr wrap="square" lIns="0" tIns="0" rIns="0" bIns="0" rtlCol="0" anchor="ctr"/>
          <a:lstStyle/>
          <a:p>
            <a:pPr indent="0" marL="0">
              <a:buNone/>
            </a:pPr>
            <a:r>
              <a:rPr lang="en-US" sz="1200" dirty="0">
                <a:solidFill>
                  <a:srgbClr val="0B0B0B"/>
                </a:solidFill>
                <a:latin typeface="Calibri" pitchFamily="34" charset="0"/>
                <a:ea typeface="Calibri" pitchFamily="34" charset="-122"/>
                <a:cs typeface="Calibri" pitchFamily="34" charset="-120"/>
              </a:rPr>
              <a:t>Le classement en valeur absolue dit l’inverse : Maritime concentre 45 % des points de service. C’est le dénominateur — la population — qui renverse la lecture.</a:t>
            </a:r>
            <a:endParaRPr lang="en-US" sz="1200" dirty="0"/>
          </a:p>
        </p:txBody>
      </p:sp>
      <p:sp>
        <p:nvSpPr>
          <p:cNvPr id="7" name="Shape 3"/>
          <p:cNvSpPr/>
          <p:nvPr/>
        </p:nvSpPr>
        <p:spPr>
          <a:xfrm>
            <a:off x="8595360" y="1554480"/>
            <a:ext cx="2926080" cy="1481328"/>
          </a:xfrm>
          <a:prstGeom prst="roundRect">
            <a:avLst>
              <a:gd name="adj" fmla="val 4938"/>
            </a:avLst>
          </a:prstGeom>
          <a:solidFill>
            <a:srgbClr val="EAF3EE"/>
          </a:solidFill>
          <a:ln w="12700">
            <a:solidFill>
              <a:srgbClr val="EAF3EE"/>
            </a:solidFill>
            <a:prstDash val="solid"/>
          </a:ln>
        </p:spPr>
      </p:sp>
      <p:sp>
        <p:nvSpPr>
          <p:cNvPr id="8" name="Text 4"/>
          <p:cNvSpPr txBox="1"/>
          <p:nvPr/>
        </p:nvSpPr>
        <p:spPr>
          <a:xfrm>
            <a:off x="8851392" y="1719072"/>
            <a:ext cx="2468880" cy="658368"/>
          </a:xfrm>
          <a:prstGeom prst="rect">
            <a:avLst/>
          </a:prstGeom>
          <a:noFill/>
          <a:ln/>
        </p:spPr>
        <p:txBody>
          <a:bodyPr wrap="square" lIns="0" tIns="0" rIns="0" bIns="0" rtlCol="0" anchor="ctr"/>
          <a:lstStyle/>
          <a:p>
            <a:pPr indent="0" marL="0">
              <a:buNone/>
            </a:pPr>
            <a:r>
              <a:rPr lang="en-US" sz="3400" b="1" dirty="0">
                <a:solidFill>
                  <a:srgbClr val="0E5236"/>
                </a:solidFill>
                <a:latin typeface="Cambria" pitchFamily="34" charset="0"/>
                <a:ea typeface="Cambria" pitchFamily="34" charset="-122"/>
                <a:cs typeface="Cambria" pitchFamily="34" charset="-120"/>
              </a:rPr>
              <a:t>3ᵉ</a:t>
            </a:r>
            <a:endParaRPr lang="en-US" sz="3400" dirty="0"/>
          </a:p>
        </p:txBody>
      </p:sp>
      <p:sp>
        <p:nvSpPr>
          <p:cNvPr id="9" name="Text 5"/>
          <p:cNvSpPr txBox="1"/>
          <p:nvPr/>
        </p:nvSpPr>
        <p:spPr>
          <a:xfrm>
            <a:off x="8851392" y="2377440"/>
            <a:ext cx="246888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Rang de Maritime</a:t>
            </a:r>
            <a:endParaRPr lang="en-US" sz="1200" dirty="0"/>
          </a:p>
        </p:txBody>
      </p:sp>
      <p:sp>
        <p:nvSpPr>
          <p:cNvPr id="10" name="Text 6"/>
          <p:cNvSpPr txBox="1"/>
          <p:nvPr/>
        </p:nvSpPr>
        <p:spPr>
          <a:xfrm>
            <a:off x="8851392" y="2615184"/>
            <a:ext cx="246888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en accès par habitant</a:t>
            </a:r>
            <a:endParaRPr lang="en-US" sz="1000" dirty="0"/>
          </a:p>
        </p:txBody>
      </p:sp>
      <p:sp>
        <p:nvSpPr>
          <p:cNvPr id="11" name="Shape 7"/>
          <p:cNvSpPr/>
          <p:nvPr/>
        </p:nvSpPr>
        <p:spPr>
          <a:xfrm>
            <a:off x="8595360" y="3200400"/>
            <a:ext cx="2926080" cy="1481328"/>
          </a:xfrm>
          <a:prstGeom prst="roundRect">
            <a:avLst>
              <a:gd name="adj" fmla="val 4938"/>
            </a:avLst>
          </a:prstGeom>
          <a:solidFill>
            <a:srgbClr val="EAF3EE"/>
          </a:solidFill>
          <a:ln w="12700">
            <a:solidFill>
              <a:srgbClr val="EAF3EE"/>
            </a:solidFill>
            <a:prstDash val="solid"/>
          </a:ln>
        </p:spPr>
      </p:sp>
      <p:sp>
        <p:nvSpPr>
          <p:cNvPr id="12" name="Text 8"/>
          <p:cNvSpPr txBox="1"/>
          <p:nvPr/>
        </p:nvSpPr>
        <p:spPr>
          <a:xfrm>
            <a:off x="8851392" y="3364992"/>
            <a:ext cx="2468880" cy="658368"/>
          </a:xfrm>
          <a:prstGeom prst="rect">
            <a:avLst/>
          </a:prstGeom>
          <a:noFill/>
          <a:ln/>
        </p:spPr>
        <p:txBody>
          <a:bodyPr wrap="square" lIns="0" tIns="0" rIns="0" bIns="0" rtlCol="0" anchor="ctr"/>
          <a:lstStyle/>
          <a:p>
            <a:pPr indent="0" marL="0">
              <a:buNone/>
            </a:pPr>
            <a:r>
              <a:rPr lang="en-US" sz="3400" b="1" dirty="0">
                <a:solidFill>
                  <a:srgbClr val="EB6834"/>
                </a:solidFill>
                <a:latin typeface="Cambria" pitchFamily="34" charset="0"/>
                <a:ea typeface="Cambria" pitchFamily="34" charset="-122"/>
                <a:cs typeface="Cambria" pitchFamily="34" charset="-120"/>
              </a:rPr>
              <a:t>Plateaux</a:t>
            </a:r>
            <a:endParaRPr lang="en-US" sz="3400" dirty="0"/>
          </a:p>
        </p:txBody>
      </p:sp>
      <p:sp>
        <p:nvSpPr>
          <p:cNvPr id="13" name="Text 9"/>
          <p:cNvSpPr txBox="1"/>
          <p:nvPr/>
        </p:nvSpPr>
        <p:spPr>
          <a:xfrm>
            <a:off x="8851392" y="4023360"/>
            <a:ext cx="246888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Région la moins dotée</a:t>
            </a:r>
            <a:endParaRPr lang="en-US" sz="1200" dirty="0"/>
          </a:p>
        </p:txBody>
      </p:sp>
      <p:sp>
        <p:nvSpPr>
          <p:cNvPr id="14" name="Text 10"/>
          <p:cNvSpPr txBox="1"/>
          <p:nvPr/>
        </p:nvSpPr>
        <p:spPr>
          <a:xfrm>
            <a:off x="8851392" y="4261104"/>
            <a:ext cx="246888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18,8 points / 10 000 hab.</a:t>
            </a:r>
            <a:endParaRPr lang="en-US" sz="1000" dirty="0"/>
          </a:p>
        </p:txBody>
      </p:sp>
      <p:sp>
        <p:nvSpPr>
          <p:cNvPr id="15" name="Text 11"/>
          <p:cNvSpPr txBox="1"/>
          <p:nvPr/>
        </p:nvSpPr>
        <p:spPr>
          <a:xfrm>
            <a:off x="8595360" y="4892040"/>
            <a:ext cx="2926080" cy="914400"/>
          </a:xfrm>
          <a:prstGeom prst="rect">
            <a:avLst/>
          </a:prstGeom>
          <a:noFill/>
          <a:ln/>
        </p:spPr>
        <p:txBody>
          <a:bodyPr wrap="square" lIns="0" tIns="0" rIns="0" bIns="0" rtlCol="0" anchor="ctr"/>
          <a:lstStyle/>
          <a:p>
            <a:pPr indent="0" marL="0">
              <a:buNone/>
            </a:pPr>
            <a:r>
              <a:rPr lang="en-US" sz="1200" i="1" dirty="0">
                <a:solidFill>
                  <a:srgbClr val="0E5236"/>
                </a:solidFill>
                <a:latin typeface="Cambria" pitchFamily="34" charset="0"/>
                <a:ea typeface="Cambria" pitchFamily="34" charset="-122"/>
                <a:cs typeface="Cambria" pitchFamily="34" charset="-120"/>
              </a:rPr>
              <a:t>La priorité géographique évidente — « le Nord d’abord » — ne résiste pas aux chiffres.</a:t>
            </a:r>
            <a:endParaRPr lang="en-US" sz="1200" dirty="0"/>
          </a:p>
        </p:txBody>
      </p:sp>
      <p:sp>
        <p:nvSpPr>
          <p:cNvPr id="16" name="Text 1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Source : Géoportail Géodata Togo (extraction du 9 septembre 2026) et RGPH-5, INSEED 2022.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RÉSULTAT 2</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12 préfectures sans le moindre guichet opérateur</a:t>
            </a:r>
            <a:endParaRPr lang="en-US" sz="3000" dirty="0"/>
          </a:p>
        </p:txBody>
      </p:sp>
      <p:sp>
        <p:nvSpPr>
          <p:cNvPr id="4" name="Shape 2"/>
          <p:cNvSpPr/>
          <p:nvPr/>
        </p:nvSpPr>
        <p:spPr>
          <a:xfrm>
            <a:off x="640080" y="1463040"/>
            <a:ext cx="3383280" cy="1481328"/>
          </a:xfrm>
          <a:prstGeom prst="roundRect">
            <a:avLst>
              <a:gd name="adj" fmla="val 4938"/>
            </a:avLst>
          </a:prstGeom>
          <a:solidFill>
            <a:srgbClr val="EAF3EE"/>
          </a:solidFill>
          <a:ln w="12700">
            <a:solidFill>
              <a:srgbClr val="EAF3EE"/>
            </a:solidFill>
            <a:prstDash val="solid"/>
          </a:ln>
        </p:spPr>
      </p:sp>
      <p:sp>
        <p:nvSpPr>
          <p:cNvPr id="5" name="Text 3"/>
          <p:cNvSpPr txBox="1"/>
          <p:nvPr/>
        </p:nvSpPr>
        <p:spPr>
          <a:xfrm>
            <a:off x="896112" y="1627632"/>
            <a:ext cx="2926080" cy="658368"/>
          </a:xfrm>
          <a:prstGeom prst="rect">
            <a:avLst/>
          </a:prstGeom>
          <a:noFill/>
          <a:ln/>
        </p:spPr>
        <p:txBody>
          <a:bodyPr wrap="square" lIns="0" tIns="0" rIns="0" bIns="0" rtlCol="0" anchor="ctr"/>
          <a:lstStyle/>
          <a:p>
            <a:pPr indent="0" marL="0">
              <a:buNone/>
            </a:pPr>
            <a:r>
              <a:rPr lang="en-US" sz="3400" b="1" dirty="0">
                <a:solidFill>
                  <a:srgbClr val="C8102E"/>
                </a:solidFill>
                <a:latin typeface="Cambria" pitchFamily="34" charset="0"/>
                <a:ea typeface="Cambria" pitchFamily="34" charset="-122"/>
                <a:cs typeface="Cambria" pitchFamily="34" charset="-120"/>
              </a:rPr>
              <a:t>1 446 869</a:t>
            </a:r>
            <a:endParaRPr lang="en-US" sz="3400" dirty="0"/>
          </a:p>
        </p:txBody>
      </p:sp>
      <p:sp>
        <p:nvSpPr>
          <p:cNvPr id="6" name="Text 4"/>
          <p:cNvSpPr txBox="1"/>
          <p:nvPr/>
        </p:nvSpPr>
        <p:spPr>
          <a:xfrm>
            <a:off x="896112" y="2286000"/>
            <a:ext cx="292608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Habitants concernés</a:t>
            </a:r>
            <a:endParaRPr lang="en-US" sz="1200" dirty="0"/>
          </a:p>
        </p:txBody>
      </p:sp>
      <p:sp>
        <p:nvSpPr>
          <p:cNvPr id="7" name="Text 5"/>
          <p:cNvSpPr txBox="1"/>
          <p:nvPr/>
        </p:nvSpPr>
        <p:spPr>
          <a:xfrm>
            <a:off x="896112" y="2523744"/>
            <a:ext cx="292608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17,9 % de la population du pays</a:t>
            </a:r>
            <a:endParaRPr lang="en-US" sz="1000" dirty="0"/>
          </a:p>
        </p:txBody>
      </p:sp>
      <p:sp>
        <p:nvSpPr>
          <p:cNvPr id="8" name="Shape 6"/>
          <p:cNvSpPr/>
          <p:nvPr/>
        </p:nvSpPr>
        <p:spPr>
          <a:xfrm>
            <a:off x="640080" y="3108960"/>
            <a:ext cx="3383280" cy="1481328"/>
          </a:xfrm>
          <a:prstGeom prst="roundRect">
            <a:avLst>
              <a:gd name="adj" fmla="val 4938"/>
            </a:avLst>
          </a:prstGeom>
          <a:solidFill>
            <a:srgbClr val="EAF3EE"/>
          </a:solidFill>
          <a:ln w="12700">
            <a:solidFill>
              <a:srgbClr val="EAF3EE"/>
            </a:solidFill>
            <a:prstDash val="solid"/>
          </a:ln>
        </p:spPr>
      </p:sp>
      <p:sp>
        <p:nvSpPr>
          <p:cNvPr id="9" name="Text 7"/>
          <p:cNvSpPr txBox="1"/>
          <p:nvPr/>
        </p:nvSpPr>
        <p:spPr>
          <a:xfrm>
            <a:off x="896112" y="3273552"/>
            <a:ext cx="2926080" cy="658368"/>
          </a:xfrm>
          <a:prstGeom prst="rect">
            <a:avLst/>
          </a:prstGeom>
          <a:noFill/>
          <a:ln/>
        </p:spPr>
        <p:txBody>
          <a:bodyPr wrap="square" lIns="0" tIns="0" rIns="0" bIns="0" rtlCol="0" anchor="ctr"/>
          <a:lstStyle/>
          <a:p>
            <a:pPr indent="0" marL="0">
              <a:buNone/>
            </a:pPr>
            <a:r>
              <a:rPr lang="en-US" sz="3400" b="1" dirty="0">
                <a:solidFill>
                  <a:srgbClr val="0E5236"/>
                </a:solidFill>
                <a:latin typeface="Cambria" pitchFamily="34" charset="0"/>
                <a:ea typeface="Cambria" pitchFamily="34" charset="-122"/>
                <a:cs typeface="Cambria" pitchFamily="34" charset="-120"/>
              </a:rPr>
              <a:t>12 / 39</a:t>
            </a:r>
            <a:endParaRPr lang="en-US" sz="3400" dirty="0"/>
          </a:p>
        </p:txBody>
      </p:sp>
      <p:sp>
        <p:nvSpPr>
          <p:cNvPr id="10" name="Text 8"/>
          <p:cNvSpPr txBox="1"/>
          <p:nvPr/>
        </p:nvSpPr>
        <p:spPr>
          <a:xfrm>
            <a:off x="896112" y="3931920"/>
            <a:ext cx="292608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Préfectures sans agence</a:t>
            </a:r>
            <a:endParaRPr lang="en-US" sz="1200" dirty="0"/>
          </a:p>
        </p:txBody>
      </p:sp>
      <p:sp>
        <p:nvSpPr>
          <p:cNvPr id="11" name="Text 9"/>
          <p:cNvSpPr txBox="1"/>
          <p:nvPr/>
        </p:nvSpPr>
        <p:spPr>
          <a:xfrm>
            <a:off x="896112" y="4169664"/>
            <a:ext cx="292608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aucun opérateur, aucun point de souscription</a:t>
            </a:r>
            <a:endParaRPr lang="en-US" sz="1000" dirty="0"/>
          </a:p>
        </p:txBody>
      </p:sp>
      <p:sp>
        <p:nvSpPr>
          <p:cNvPr id="12" name="Text 10"/>
          <p:cNvSpPr txBox="1"/>
          <p:nvPr/>
        </p:nvSpPr>
        <p:spPr>
          <a:xfrm>
            <a:off x="640080" y="4800600"/>
            <a:ext cx="3383280" cy="1188720"/>
          </a:xfrm>
          <a:prstGeom prst="rect">
            <a:avLst/>
          </a:prstGeom>
          <a:noFill/>
          <a:ln/>
        </p:spPr>
        <p:txBody>
          <a:bodyPr wrap="square" lIns="0" tIns="0" rIns="0" bIns="0" rtlCol="0" anchor="ctr"/>
          <a:lstStyle/>
          <a:p>
            <a:pPr indent="0" marL="0">
              <a:buNone/>
            </a:pPr>
            <a:r>
              <a:rPr lang="en-US" sz="1200" dirty="0">
                <a:solidFill>
                  <a:srgbClr val="0B0B0B"/>
                </a:solidFill>
                <a:latin typeface="Calibri" pitchFamily="34" charset="0"/>
                <a:ea typeface="Calibri" pitchFamily="34" charset="-122"/>
                <a:cs typeface="Calibri" pitchFamily="34" charset="-120"/>
              </a:rPr>
              <a:t>Lacs et Vo dépassent chacune 220 000 habitants. Ce ne sont pas des marges : ce sont des territoires entiers sans porte d’entrée physique vers l’offre télécom.</a:t>
            </a:r>
            <a:endParaRPr lang="en-US" sz="1200" dirty="0"/>
          </a:p>
        </p:txBody>
      </p:sp>
      <p:graphicFrame>
        <p:nvGraphicFramePr>
          <p:cNvPr id="13" name="Chart 0" descr=""/>
          <p:cNvGraphicFramePr/>
          <p:nvPr/>
        </p:nvGraphicFramePr>
        <p:xfrm>
          <a:off x="4343400" y="1463040"/>
          <a:ext cx="7178040" cy="45262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Une agence n’est pas qu’un point de vente : c’est le lieu de la souscription, du SAV et de la réclamation.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RÉSULTAT 3 · ÉCHELLE CANTON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2 km pour un agent, 16 km pour un opérateur</a:t>
            </a:r>
            <a:endParaRPr lang="en-US" sz="3000" dirty="0"/>
          </a:p>
        </p:txBody>
      </p:sp>
      <p:pic>
        <p:nvPicPr>
          <p:cNvPr id="4" name="Image 0" descr="img/carte_distance.png">    </p:cNvPr>
          <p:cNvPicPr>
            <a:picLocks noChangeAspect="1"/>
          </p:cNvPicPr>
          <p:nvPr/>
        </p:nvPicPr>
        <p:blipFill>
          <a:blip r:embed="rId1"/>
          <a:stretch>
            <a:fillRect/>
          </a:stretch>
        </p:blipFill>
        <p:spPr>
          <a:xfrm>
            <a:off x="8275320" y="1371600"/>
            <a:ext cx="3200400" cy="4572000"/>
          </a:xfrm>
          <a:prstGeom prst="rect">
            <a:avLst/>
          </a:prstGeom>
        </p:spPr>
      </p:pic>
      <p:sp>
        <p:nvSpPr>
          <p:cNvPr id="5" name="Shape 2"/>
          <p:cNvSpPr/>
          <p:nvPr/>
        </p:nvSpPr>
        <p:spPr>
          <a:xfrm>
            <a:off x="640080" y="1508760"/>
            <a:ext cx="3566160" cy="1481328"/>
          </a:xfrm>
          <a:prstGeom prst="roundRect">
            <a:avLst>
              <a:gd name="adj" fmla="val 4938"/>
            </a:avLst>
          </a:prstGeom>
          <a:solidFill>
            <a:srgbClr val="EAF3EE"/>
          </a:solidFill>
          <a:ln w="12700">
            <a:solidFill>
              <a:srgbClr val="EAF3EE"/>
            </a:solidFill>
            <a:prstDash val="solid"/>
          </a:ln>
        </p:spPr>
      </p:sp>
      <p:sp>
        <p:nvSpPr>
          <p:cNvPr id="6" name="Text 3"/>
          <p:cNvSpPr txBox="1"/>
          <p:nvPr/>
        </p:nvSpPr>
        <p:spPr>
          <a:xfrm>
            <a:off x="896112" y="1673352"/>
            <a:ext cx="3108960" cy="658368"/>
          </a:xfrm>
          <a:prstGeom prst="rect">
            <a:avLst/>
          </a:prstGeom>
          <a:noFill/>
          <a:ln/>
        </p:spPr>
        <p:txBody>
          <a:bodyPr wrap="square" lIns="0" tIns="0" rIns="0" bIns="0" rtlCol="0" anchor="ctr"/>
          <a:lstStyle/>
          <a:p>
            <a:pPr indent="0" marL="0">
              <a:buNone/>
            </a:pPr>
            <a:r>
              <a:rPr lang="en-US" sz="3400" b="1" dirty="0">
                <a:solidFill>
                  <a:srgbClr val="0E5236"/>
                </a:solidFill>
                <a:latin typeface="Cambria" pitchFamily="34" charset="0"/>
                <a:ea typeface="Cambria" pitchFamily="34" charset="-122"/>
                <a:cs typeface="Cambria" pitchFamily="34" charset="-120"/>
              </a:rPr>
              <a:t>2,0 km</a:t>
            </a:r>
            <a:endParaRPr lang="en-US" sz="3400" dirty="0"/>
          </a:p>
        </p:txBody>
      </p:sp>
      <p:sp>
        <p:nvSpPr>
          <p:cNvPr id="7" name="Text 4"/>
          <p:cNvSpPr txBox="1"/>
          <p:nvPr/>
        </p:nvSpPr>
        <p:spPr>
          <a:xfrm>
            <a:off x="896112" y="2331720"/>
            <a:ext cx="310896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Distance médiane à un service</a:t>
            </a:r>
            <a:endParaRPr lang="en-US" sz="1200" dirty="0"/>
          </a:p>
        </p:txBody>
      </p:sp>
      <p:sp>
        <p:nvSpPr>
          <p:cNvPr id="8" name="Text 5"/>
          <p:cNvSpPr txBox="1"/>
          <p:nvPr/>
        </p:nvSpPr>
        <p:spPr>
          <a:xfrm>
            <a:off x="896112" y="2569464"/>
            <a:ext cx="310896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tous services confondus, 396 cantons</a:t>
            </a:r>
            <a:endParaRPr lang="en-US" sz="1000" dirty="0"/>
          </a:p>
        </p:txBody>
      </p:sp>
      <p:sp>
        <p:nvSpPr>
          <p:cNvPr id="9" name="Shape 6"/>
          <p:cNvSpPr/>
          <p:nvPr/>
        </p:nvSpPr>
        <p:spPr>
          <a:xfrm>
            <a:off x="4389120" y="1508760"/>
            <a:ext cx="3566160" cy="1481328"/>
          </a:xfrm>
          <a:prstGeom prst="roundRect">
            <a:avLst>
              <a:gd name="adj" fmla="val 4938"/>
            </a:avLst>
          </a:prstGeom>
          <a:solidFill>
            <a:srgbClr val="EAF3EE"/>
          </a:solidFill>
          <a:ln w="12700">
            <a:solidFill>
              <a:srgbClr val="EAF3EE"/>
            </a:solidFill>
            <a:prstDash val="solid"/>
          </a:ln>
        </p:spPr>
      </p:sp>
      <p:sp>
        <p:nvSpPr>
          <p:cNvPr id="10" name="Text 7"/>
          <p:cNvSpPr txBox="1"/>
          <p:nvPr/>
        </p:nvSpPr>
        <p:spPr>
          <a:xfrm>
            <a:off x="4645152" y="1673352"/>
            <a:ext cx="3108960" cy="658368"/>
          </a:xfrm>
          <a:prstGeom prst="rect">
            <a:avLst/>
          </a:prstGeom>
          <a:noFill/>
          <a:ln/>
        </p:spPr>
        <p:txBody>
          <a:bodyPr wrap="square" lIns="0" tIns="0" rIns="0" bIns="0" rtlCol="0" anchor="ctr"/>
          <a:lstStyle/>
          <a:p>
            <a:pPr indent="0" marL="0">
              <a:buNone/>
            </a:pPr>
            <a:r>
              <a:rPr lang="en-US" sz="3400" b="1" dirty="0">
                <a:solidFill>
                  <a:srgbClr val="EB6834"/>
                </a:solidFill>
                <a:latin typeface="Cambria" pitchFamily="34" charset="0"/>
                <a:ea typeface="Cambria" pitchFamily="34" charset="-122"/>
                <a:cs typeface="Cambria" pitchFamily="34" charset="-120"/>
              </a:rPr>
              <a:t>16,2 km</a:t>
            </a:r>
            <a:endParaRPr lang="en-US" sz="3400" dirty="0"/>
          </a:p>
        </p:txBody>
      </p:sp>
      <p:sp>
        <p:nvSpPr>
          <p:cNvPr id="11" name="Text 8"/>
          <p:cNvSpPr txBox="1"/>
          <p:nvPr/>
        </p:nvSpPr>
        <p:spPr>
          <a:xfrm>
            <a:off x="4645152" y="2331720"/>
            <a:ext cx="310896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Distance médiane à une agence</a:t>
            </a:r>
            <a:endParaRPr lang="en-US" sz="1200" dirty="0"/>
          </a:p>
        </p:txBody>
      </p:sp>
      <p:sp>
        <p:nvSpPr>
          <p:cNvPr id="12" name="Text 9"/>
          <p:cNvSpPr txBox="1"/>
          <p:nvPr/>
        </p:nvSpPr>
        <p:spPr>
          <a:xfrm>
            <a:off x="4645152" y="2569464"/>
            <a:ext cx="310896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jusqu’à 63 km dans le canton le plus isolé</a:t>
            </a:r>
            <a:endParaRPr lang="en-US" sz="1000" dirty="0"/>
          </a:p>
        </p:txBody>
      </p:sp>
      <p:sp>
        <p:nvSpPr>
          <p:cNvPr id="13" name="Shape 10"/>
          <p:cNvSpPr/>
          <p:nvPr/>
        </p:nvSpPr>
        <p:spPr>
          <a:xfrm>
            <a:off x="640080" y="3337560"/>
            <a:ext cx="7315200" cy="1234440"/>
          </a:xfrm>
          <a:prstGeom prst="roundRect">
            <a:avLst>
              <a:gd name="adj" fmla="val 5926"/>
            </a:avLst>
          </a:prstGeom>
          <a:solidFill>
            <a:srgbClr val="07341F"/>
          </a:solidFill>
          <a:ln w="12700">
            <a:solidFill>
              <a:srgbClr val="07341F"/>
            </a:solidFill>
            <a:prstDash val="solid"/>
          </a:ln>
        </p:spPr>
      </p:sp>
      <p:sp>
        <p:nvSpPr>
          <p:cNvPr id="14" name="Text 11"/>
          <p:cNvSpPr txBox="1"/>
          <p:nvPr/>
        </p:nvSpPr>
        <p:spPr>
          <a:xfrm>
            <a:off x="914400" y="3520440"/>
            <a:ext cx="6766560" cy="868680"/>
          </a:xfrm>
          <a:prstGeom prst="rect">
            <a:avLst/>
          </a:prstGeom>
          <a:noFill/>
          <a:ln/>
        </p:spPr>
        <p:txBody>
          <a:bodyPr wrap="square" lIns="0" tIns="0" rIns="0" bIns="0" rtlCol="0" anchor="ctr"/>
          <a:lstStyle/>
          <a:p>
            <a:pPr indent="0" marL="0">
              <a:buNone/>
            </a:pPr>
            <a:r>
              <a:rPr lang="en-US" sz="1450" i="1" dirty="0">
                <a:solidFill>
                  <a:srgbClr val="F2C230"/>
                </a:solidFill>
                <a:latin typeface="Cambria" pitchFamily="34" charset="0"/>
                <a:ea typeface="Cambria" pitchFamily="34" charset="-122"/>
                <a:cs typeface="Cambria" pitchFamily="34" charset="-120"/>
              </a:rPr>
              <a:t>L’écart entre ces deux chiffres est un résultat, pas un détail : il mesure exactement ce que le réseau d’agents privés compense là où les opérateurs ne vont pas.</a:t>
            </a:r>
            <a:endParaRPr lang="en-US" sz="1450" dirty="0"/>
          </a:p>
        </p:txBody>
      </p:sp>
      <p:sp>
        <p:nvSpPr>
          <p:cNvPr id="15" name="Text 12"/>
          <p:cNvSpPr txBox="1"/>
          <p:nvPr/>
        </p:nvSpPr>
        <p:spPr>
          <a:xfrm>
            <a:off x="640080" y="4754880"/>
            <a:ext cx="7315200" cy="137160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Calibri" pitchFamily="34" charset="0"/>
                <a:ea typeface="Calibri" pitchFamily="34" charset="-122"/>
                <a:cs typeface="Calibri" pitchFamily="34" charset="-120"/>
              </a:rPr>
              <a:t>23 cantons sur 396</a:t>
            </a:r>
            <a:pPr indent="0" marL="0">
              <a:lnSpc>
                <a:spcPts val="1700"/>
              </a:lnSpc>
              <a:buNone/>
            </a:pPr>
            <a:r>
              <a:rPr lang="en-US" sz="1250" dirty="0">
                <a:solidFill>
                  <a:srgbClr val="0B0B0B"/>
                </a:solidFill>
                <a:latin typeface="Calibri" pitchFamily="34" charset="0"/>
                <a:ea typeface="Calibri" pitchFamily="34" charset="-122"/>
                <a:cs typeface="Calibri" pitchFamily="34" charset="-120"/>
              </a:rPr>
              <a:t> ne comptent aucun point de service. Le plus isolé, dans Blitta, est à 21 km du premier service quel qu’il soit.</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Calibri" pitchFamily="34" charset="0"/>
                <a:ea typeface="Calibri" pitchFamily="34" charset="-122"/>
                <a:cs typeface="Calibri" pitchFamily="34" charset="-120"/>
              </a:rPr>
              <a:t>Ces écarts sont invisibles à l’échelle de la préfecture, qui les moyenne. Changer d’échelle change la carte des priorités — c’est pourquoi les deux sont présentées.</a:t>
            </a:r>
            <a:endParaRPr lang="en-US" sz="1250" dirty="0"/>
          </a:p>
        </p:txBody>
      </p:sp>
      <p:sp>
        <p:nvSpPr>
          <p:cNvPr id="16" name="Text 13"/>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Couverture radio indisponible (couches Géoportail en accès restreint) : la zone blanche est définie par la distance au service, depuis le centroïde du canton.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RÉSULTAT 4 · ÉQUITÉ</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Le marché a maillé le territoire mieux que l’institution</a:t>
            </a:r>
            <a:endParaRPr lang="en-US" sz="3000" dirty="0"/>
          </a:p>
        </p:txBody>
      </p:sp>
      <p:pic>
        <p:nvPicPr>
          <p:cNvPr id="4" name="Image 0" descr="img/lorenz.png">    </p:cNvPr>
          <p:cNvPicPr>
            <a:picLocks noChangeAspect="1"/>
          </p:cNvPicPr>
          <p:nvPr/>
        </p:nvPicPr>
        <p:blipFill>
          <a:blip r:embed="rId1"/>
          <a:stretch>
            <a:fillRect/>
          </a:stretch>
        </p:blipFill>
        <p:spPr>
          <a:xfrm>
            <a:off x="640080" y="1508760"/>
            <a:ext cx="6309360" cy="4572000"/>
          </a:xfrm>
          <a:prstGeom prst="rect">
            <a:avLst/>
          </a:prstGeom>
        </p:spPr>
      </p:pic>
      <p:sp>
        <p:nvSpPr>
          <p:cNvPr id="5" name="Shape 2"/>
          <p:cNvSpPr/>
          <p:nvPr/>
        </p:nvSpPr>
        <p:spPr>
          <a:xfrm>
            <a:off x="7269480" y="1600200"/>
            <a:ext cx="2011680" cy="1481328"/>
          </a:xfrm>
          <a:prstGeom prst="roundRect">
            <a:avLst>
              <a:gd name="adj" fmla="val 4938"/>
            </a:avLst>
          </a:prstGeom>
          <a:solidFill>
            <a:srgbClr val="EAF3EE"/>
          </a:solidFill>
          <a:ln w="12700">
            <a:solidFill>
              <a:srgbClr val="EAF3EE"/>
            </a:solidFill>
            <a:prstDash val="solid"/>
          </a:ln>
        </p:spPr>
      </p:sp>
      <p:sp>
        <p:nvSpPr>
          <p:cNvPr id="6" name="Text 3"/>
          <p:cNvSpPr txBox="1"/>
          <p:nvPr/>
        </p:nvSpPr>
        <p:spPr>
          <a:xfrm>
            <a:off x="7525512" y="1764792"/>
            <a:ext cx="1554480" cy="658368"/>
          </a:xfrm>
          <a:prstGeom prst="rect">
            <a:avLst/>
          </a:prstGeom>
          <a:noFill/>
          <a:ln/>
        </p:spPr>
        <p:txBody>
          <a:bodyPr wrap="square" lIns="0" tIns="0" rIns="0" bIns="0" rtlCol="0" anchor="ctr"/>
          <a:lstStyle/>
          <a:p>
            <a:pPr indent="0" marL="0">
              <a:buNone/>
            </a:pPr>
            <a:r>
              <a:rPr lang="en-US" sz="3400" b="1" dirty="0">
                <a:solidFill>
                  <a:srgbClr val="0E5236"/>
                </a:solidFill>
                <a:latin typeface="Cambria" pitchFamily="34" charset="0"/>
                <a:ea typeface="Cambria" pitchFamily="34" charset="-122"/>
                <a:cs typeface="Cambria" pitchFamily="34" charset="-120"/>
              </a:rPr>
              <a:t>0,31</a:t>
            </a:r>
            <a:endParaRPr lang="en-US" sz="3400" dirty="0"/>
          </a:p>
        </p:txBody>
      </p:sp>
      <p:sp>
        <p:nvSpPr>
          <p:cNvPr id="7" name="Text 4"/>
          <p:cNvSpPr txBox="1"/>
          <p:nvPr/>
        </p:nvSpPr>
        <p:spPr>
          <a:xfrm>
            <a:off x="7525512" y="2423160"/>
            <a:ext cx="155448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Gini mobile money</a:t>
            </a:r>
            <a:endParaRPr lang="en-US" sz="1200" dirty="0"/>
          </a:p>
        </p:txBody>
      </p:sp>
      <p:sp>
        <p:nvSpPr>
          <p:cNvPr id="8" name="Text 5"/>
          <p:cNvSpPr txBox="1"/>
          <p:nvPr/>
        </p:nvSpPr>
        <p:spPr>
          <a:xfrm>
            <a:off x="7525512" y="2660904"/>
            <a:ext cx="155448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réseau d’agents privés</a:t>
            </a:r>
            <a:endParaRPr lang="en-US" sz="1000" dirty="0"/>
          </a:p>
        </p:txBody>
      </p:sp>
      <p:sp>
        <p:nvSpPr>
          <p:cNvPr id="9" name="Shape 6"/>
          <p:cNvSpPr/>
          <p:nvPr/>
        </p:nvSpPr>
        <p:spPr>
          <a:xfrm>
            <a:off x="9509760" y="1600200"/>
            <a:ext cx="2011680" cy="1481328"/>
          </a:xfrm>
          <a:prstGeom prst="roundRect">
            <a:avLst>
              <a:gd name="adj" fmla="val 4938"/>
            </a:avLst>
          </a:prstGeom>
          <a:solidFill>
            <a:srgbClr val="EAF3EE"/>
          </a:solidFill>
          <a:ln w="12700">
            <a:solidFill>
              <a:srgbClr val="EAF3EE"/>
            </a:solidFill>
            <a:prstDash val="solid"/>
          </a:ln>
        </p:spPr>
      </p:sp>
      <p:sp>
        <p:nvSpPr>
          <p:cNvPr id="10" name="Text 7"/>
          <p:cNvSpPr txBox="1"/>
          <p:nvPr/>
        </p:nvSpPr>
        <p:spPr>
          <a:xfrm>
            <a:off x="9765792" y="1764792"/>
            <a:ext cx="1554480" cy="658368"/>
          </a:xfrm>
          <a:prstGeom prst="rect">
            <a:avLst/>
          </a:prstGeom>
          <a:noFill/>
          <a:ln/>
        </p:spPr>
        <p:txBody>
          <a:bodyPr wrap="square" lIns="0" tIns="0" rIns="0" bIns="0" rtlCol="0" anchor="ctr"/>
          <a:lstStyle/>
          <a:p>
            <a:pPr indent="0" marL="0">
              <a:buNone/>
            </a:pPr>
            <a:r>
              <a:rPr lang="en-US" sz="3400" b="1" dirty="0">
                <a:solidFill>
                  <a:srgbClr val="EB6834"/>
                </a:solidFill>
                <a:latin typeface="Cambria" pitchFamily="34" charset="0"/>
                <a:ea typeface="Cambria" pitchFamily="34" charset="-122"/>
                <a:cs typeface="Cambria" pitchFamily="34" charset="-120"/>
              </a:rPr>
              <a:t>0,38</a:t>
            </a:r>
            <a:endParaRPr lang="en-US" sz="3400" dirty="0"/>
          </a:p>
        </p:txBody>
      </p:sp>
      <p:sp>
        <p:nvSpPr>
          <p:cNvPr id="11" name="Text 8"/>
          <p:cNvSpPr txBox="1"/>
          <p:nvPr/>
        </p:nvSpPr>
        <p:spPr>
          <a:xfrm>
            <a:off x="9765792" y="2423160"/>
            <a:ext cx="1554480" cy="237744"/>
          </a:xfrm>
          <a:prstGeom prst="rect">
            <a:avLst/>
          </a:prstGeom>
          <a:noFill/>
          <a:ln/>
        </p:spPr>
        <p:txBody>
          <a:bodyPr wrap="square" lIns="0" tIns="0" rIns="0" bIns="0" rtlCol="0" anchor="ctr"/>
          <a:lstStyle/>
          <a:p>
            <a:pPr indent="0" marL="0">
              <a:buNone/>
            </a:pPr>
            <a:r>
              <a:rPr lang="en-US" sz="1200" b="1" dirty="0">
                <a:solidFill>
                  <a:srgbClr val="0B0B0B"/>
                </a:solidFill>
                <a:latin typeface="Calibri" pitchFamily="34" charset="0"/>
                <a:ea typeface="Calibri" pitchFamily="34" charset="-122"/>
                <a:cs typeface="Calibri" pitchFamily="34" charset="-120"/>
              </a:rPr>
              <a:t>Gini agences</a:t>
            </a:r>
            <a:endParaRPr lang="en-US" sz="1200" dirty="0"/>
          </a:p>
        </p:txBody>
      </p:sp>
      <p:sp>
        <p:nvSpPr>
          <p:cNvPr id="12" name="Text 9"/>
          <p:cNvSpPr txBox="1"/>
          <p:nvPr/>
        </p:nvSpPr>
        <p:spPr>
          <a:xfrm>
            <a:off x="9765792" y="2660904"/>
            <a:ext cx="1554480" cy="310896"/>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réseau en propre</a:t>
            </a:r>
            <a:endParaRPr lang="en-US" sz="1000" dirty="0"/>
          </a:p>
        </p:txBody>
      </p:sp>
      <p:sp>
        <p:nvSpPr>
          <p:cNvPr id="13" name="Text 10"/>
          <p:cNvSpPr txBox="1"/>
          <p:nvPr/>
        </p:nvSpPr>
        <p:spPr>
          <a:xfrm>
            <a:off x="7269480" y="3429000"/>
            <a:ext cx="4251960" cy="265176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Calibri" pitchFamily="34" charset="0"/>
                <a:ea typeface="Calibri" pitchFamily="34" charset="-122"/>
                <a:cs typeface="Calibri" pitchFamily="34" charset="-120"/>
              </a:rPr>
              <a:t>Ce que cela signifie.</a:t>
            </a:r>
            <a:endParaRPr lang="en-US" sz="1250" dirty="0"/>
          </a:p>
          <a:p>
            <a:pPr indent="0" marL="0">
              <a:lnSpc>
                <a:spcPts val="1700"/>
              </a:lnSpc>
              <a:buNone/>
            </a:pPr>
            <a:r>
              <a:rPr lang="en-US" sz="1250" dirty="0">
                <a:solidFill>
                  <a:srgbClr val="0B0B0B"/>
                </a:solidFill>
                <a:latin typeface="Calibri" pitchFamily="34" charset="0"/>
                <a:ea typeface="Calibri" pitchFamily="34" charset="-122"/>
                <a:cs typeface="Calibri" pitchFamily="34" charset="-120"/>
              </a:rPr>
              <a:t>Plus l’indice est bas, plus l’accès est également réparti entre les habitants. Le réseau d’agents agréés, porté par le marché, atteint une population que le réseau d’agences des opérateurs n’atteint pas.</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Calibri" pitchFamily="34" charset="0"/>
                <a:ea typeface="Calibri" pitchFamily="34" charset="-122"/>
                <a:cs typeface="Calibri" pitchFamily="34" charset="-120"/>
              </a:rPr>
              <a:t>La conséquence est directe : densifier le réseau d’agents corrige l’inégalité territoriale plus vite, et à moindre coût, que l’ouverture de nouvelles agences.</a:t>
            </a:r>
            <a:endParaRPr lang="en-US" sz="1250" dirty="0"/>
          </a:p>
        </p:txBody>
      </p:sp>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Indice de Gini pondéré par la population, calculé sur l’accès rapporté aux habitants.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RÉSULTAT 5</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Le plus gros déficit est périurbain, pas rural</a:t>
            </a:r>
            <a:endParaRPr lang="en-US" sz="3000" dirty="0"/>
          </a:p>
        </p:txBody>
      </p:sp>
      <p:sp>
        <p:nvSpPr>
          <p:cNvPr id="4" name="Shape 2"/>
          <p:cNvSpPr/>
          <p:nvPr/>
        </p:nvSpPr>
        <p:spPr>
          <a:xfrm>
            <a:off x="640080" y="1463040"/>
            <a:ext cx="3840480" cy="2331720"/>
          </a:xfrm>
          <a:prstGeom prst="roundRect">
            <a:avLst>
              <a:gd name="adj" fmla="val 3137"/>
            </a:avLst>
          </a:prstGeom>
          <a:solidFill>
            <a:srgbClr val="0E5236"/>
          </a:solidFill>
          <a:ln w="12700">
            <a:solidFill>
              <a:srgbClr val="0E5236"/>
            </a:solidFill>
            <a:prstDash val="solid"/>
          </a:ln>
        </p:spPr>
      </p:sp>
      <p:sp>
        <p:nvSpPr>
          <p:cNvPr id="5" name="Text 3"/>
          <p:cNvSpPr txBox="1"/>
          <p:nvPr/>
        </p:nvSpPr>
        <p:spPr>
          <a:xfrm>
            <a:off x="914400" y="1664208"/>
            <a:ext cx="3291840" cy="41148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Agoè-Nyivé</a:t>
            </a:r>
            <a:endParaRPr lang="en-US" sz="2000" dirty="0"/>
          </a:p>
        </p:txBody>
      </p:sp>
      <p:sp>
        <p:nvSpPr>
          <p:cNvPr id="6" name="Text 4"/>
          <p:cNvSpPr txBox="1"/>
          <p:nvPr/>
        </p:nvSpPr>
        <p:spPr>
          <a:xfrm>
            <a:off x="914400" y="2103120"/>
            <a:ext cx="3291840" cy="777240"/>
          </a:xfrm>
          <a:prstGeom prst="rect">
            <a:avLst/>
          </a:prstGeom>
          <a:noFill/>
          <a:ln/>
        </p:spPr>
        <p:txBody>
          <a:bodyPr wrap="square" lIns="0" tIns="0" rIns="0" bIns="0" rtlCol="0" anchor="ctr"/>
          <a:lstStyle/>
          <a:p>
            <a:pPr indent="0" marL="0">
              <a:buNone/>
            </a:pPr>
            <a:r>
              <a:rPr lang="en-US" sz="4600" b="1" dirty="0">
                <a:solidFill>
                  <a:srgbClr val="F2C230"/>
                </a:solidFill>
                <a:latin typeface="Cambria" pitchFamily="34" charset="0"/>
                <a:ea typeface="Cambria" pitchFamily="34" charset="-122"/>
                <a:cs typeface="Cambria" pitchFamily="34" charset="-120"/>
              </a:rPr>
              <a:t>761</a:t>
            </a:r>
            <a:endParaRPr lang="en-US" sz="4600" dirty="0"/>
          </a:p>
        </p:txBody>
      </p:sp>
      <p:sp>
        <p:nvSpPr>
          <p:cNvPr id="7" name="Text 5"/>
          <p:cNvSpPr txBox="1"/>
          <p:nvPr/>
        </p:nvSpPr>
        <p:spPr>
          <a:xfrm>
            <a:off x="914400" y="2880360"/>
            <a:ext cx="3291840" cy="685800"/>
          </a:xfrm>
          <a:prstGeom prst="rect">
            <a:avLst/>
          </a:prstGeom>
          <a:noFill/>
          <a:ln/>
        </p:spPr>
        <p:txBody>
          <a:bodyPr wrap="square" lIns="0" tIns="0" rIns="0" bIns="0" rtlCol="0" anchor="ctr"/>
          <a:lstStyle/>
          <a:p>
            <a:pPr indent="0" marL="0">
              <a:buNone/>
            </a:pPr>
            <a:r>
              <a:rPr lang="en-US" sz="1200" dirty="0">
                <a:solidFill>
                  <a:srgbClr val="BFDDCB"/>
                </a:solidFill>
                <a:latin typeface="Calibri" pitchFamily="34" charset="0"/>
                <a:ea typeface="Calibri" pitchFamily="34" charset="-122"/>
                <a:cs typeface="Calibri" pitchFamily="34" charset="-120"/>
              </a:rPr>
              <a:t>points de service manquants</a:t>
            </a:r>
            <a:endParaRPr lang="en-US" sz="1200" dirty="0"/>
          </a:p>
          <a:p>
            <a:pPr indent="0" marL="0">
              <a:buNone/>
            </a:pPr>
            <a:r>
              <a:rPr lang="en-US" sz="1200" dirty="0">
                <a:solidFill>
                  <a:srgbClr val="BFDDCB"/>
                </a:solidFill>
                <a:latin typeface="Calibri" pitchFamily="34" charset="0"/>
                <a:ea typeface="Calibri" pitchFamily="34" charset="-122"/>
                <a:cs typeface="Calibri" pitchFamily="34" charset="-120"/>
              </a:rPr>
              <a:t>pour 882 695 habitants</a:t>
            </a:r>
            <a:endParaRPr lang="en-US" sz="1200" dirty="0"/>
          </a:p>
        </p:txBody>
      </p:sp>
      <p:sp>
        <p:nvSpPr>
          <p:cNvPr id="8" name="Text 6"/>
          <p:cNvSpPr txBox="1"/>
          <p:nvPr/>
        </p:nvSpPr>
        <p:spPr>
          <a:xfrm>
            <a:off x="640080" y="3977640"/>
            <a:ext cx="3840480" cy="2148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Calibri" pitchFamily="34" charset="0"/>
                <a:ea typeface="Calibri" pitchFamily="34" charset="-122"/>
                <a:cs typeface="Calibri" pitchFamily="34" charset="-120"/>
              </a:rPr>
              <a:t>La banlieue de Lomé, pas une zone reculée.</a:t>
            </a:r>
            <a:endParaRPr lang="en-US" sz="1200" dirty="0"/>
          </a:p>
          <a:p>
            <a:pPr indent="0" marL="0">
              <a:lnSpc>
                <a:spcPts val="1600"/>
              </a:lnSpc>
              <a:buNone/>
            </a:pPr>
            <a:r>
              <a:rPr lang="en-US" sz="1200" dirty="0">
                <a:solidFill>
                  <a:srgbClr val="0B0B0B"/>
                </a:solidFill>
                <a:latin typeface="Calibri" pitchFamily="34" charset="0"/>
                <a:ea typeface="Calibri" pitchFamily="34" charset="-122"/>
                <a:cs typeface="Calibri" pitchFamily="34" charset="-120"/>
              </a:rPr>
              <a:t>La préfecture la plus dynamique démographiquement du pays affiche 0,65 fois l’accès attendu au regard de sa population. La croissance urbaine a devancé l’implantation des services.</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Calibri" pitchFamily="34" charset="0"/>
                <a:ea typeface="Calibri" pitchFamily="34" charset="-122"/>
                <a:cs typeface="Calibri" pitchFamily="34" charset="-120"/>
              </a:rPr>
              <a:t>À l’inverse, les préfectures les mieux dotées sont les chefs-lieux régionaux : Sokodé (2,4×), Kara (2,3×), Cinkassé (1,7×) — devant Lomé.</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Calibri" pitchFamily="34" charset="0"/>
                <a:ea typeface="Calibri" pitchFamily="34" charset="-122"/>
                <a:cs typeface="Calibri" pitchFamily="34" charset="-120"/>
              </a:rPr>
              <a:t>L’implantation suit la carte administrative, pas la carte démographique.</a:t>
            </a:r>
            <a:endParaRPr lang="en-US" sz="1200" dirty="0"/>
          </a:p>
        </p:txBody>
      </p:sp>
      <p:graphicFrame>
        <p:nvGraphicFramePr>
          <p:cNvPr id="9"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 Attendu » = répartition strictement proportionnelle à la population. Hypothèse normative explicite, pas une vérité économique.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PRIORISATION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Une priorisation dont chaque paramètre est visible</a:t>
            </a:r>
            <a:endParaRPr lang="en-US" sz="3000" dirty="0"/>
          </a:p>
        </p:txBody>
      </p:sp>
      <p:sp>
        <p:nvSpPr>
          <p:cNvPr id="4" name="Shape 2"/>
          <p:cNvSpPr/>
          <p:nvPr/>
        </p:nvSpPr>
        <p:spPr>
          <a:xfrm>
            <a:off x="640080" y="1463040"/>
            <a:ext cx="3931920" cy="914400"/>
          </a:xfrm>
          <a:prstGeom prst="roundRect">
            <a:avLst>
              <a:gd name="adj" fmla="val 6000"/>
            </a:avLst>
          </a:prstGeom>
          <a:solidFill>
            <a:srgbClr val="EAF3EE"/>
          </a:solidFill>
          <a:ln w="12700">
            <a:solidFill>
              <a:srgbClr val="EAF3EE"/>
            </a:solidFill>
            <a:prstDash val="solid"/>
          </a:ln>
        </p:spPr>
      </p:sp>
      <p:sp>
        <p:nvSpPr>
          <p:cNvPr id="5" name="Text 3"/>
          <p:cNvSpPr txBox="1"/>
          <p:nvPr/>
        </p:nvSpPr>
        <p:spPr>
          <a:xfrm>
            <a:off x="841248" y="1664208"/>
            <a:ext cx="3566160" cy="548640"/>
          </a:xfrm>
          <a:prstGeom prst="rect">
            <a:avLst/>
          </a:prstGeom>
          <a:noFill/>
          <a:ln/>
        </p:spPr>
        <p:txBody>
          <a:bodyPr wrap="square" lIns="0" tIns="0" rIns="0" bIns="0" rtlCol="0" anchor="ctr"/>
          <a:lstStyle/>
          <a:p>
            <a:pPr indent="0" marL="0">
              <a:buNone/>
            </a:pPr>
            <a:r>
              <a:rPr lang="en-US" sz="1200" b="1" dirty="0">
                <a:solidFill>
                  <a:srgbClr val="0E5236"/>
                </a:solidFill>
                <a:latin typeface="Courier New" pitchFamily="34" charset="0"/>
                <a:ea typeface="Courier New" pitchFamily="34" charset="-122"/>
                <a:cs typeface="Courier New" pitchFamily="34" charset="-120"/>
              </a:rPr>
              <a:t>priorité  =  déficit  ×  (part de population)^α  ×  bonus zone blanche</a:t>
            </a:r>
            <a:endParaRPr lang="en-US" sz="1200" dirty="0"/>
          </a:p>
        </p:txBody>
      </p:sp>
      <p:sp>
        <p:nvSpPr>
          <p:cNvPr id="6" name="Text 4"/>
          <p:cNvSpPr txBox="1"/>
          <p:nvPr/>
        </p:nvSpPr>
        <p:spPr>
          <a:xfrm>
            <a:off x="640080" y="2606040"/>
            <a:ext cx="3931920" cy="3291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Calibri" pitchFamily="34" charset="0"/>
                <a:ea typeface="Calibri" pitchFamily="34" charset="-122"/>
                <a:cs typeface="Calibri" pitchFamily="34" charset="-120"/>
              </a:rPr>
              <a:t>Pourquoi un exposant α.</a:t>
            </a:r>
            <a:endParaRPr lang="en-US" sz="1200" dirty="0"/>
          </a:p>
          <a:p>
            <a:pPr indent="0" marL="0">
              <a:lnSpc>
                <a:spcPts val="1600"/>
              </a:lnSpc>
              <a:buNone/>
            </a:pPr>
            <a:r>
              <a:rPr lang="en-US" sz="1200" dirty="0">
                <a:solidFill>
                  <a:srgbClr val="0B0B0B"/>
                </a:solidFill>
                <a:latin typeface="Calibri" pitchFamily="34" charset="0"/>
                <a:ea typeface="Calibri" pitchFamily="34" charset="-122"/>
                <a:cs typeface="Calibri" pitchFamily="34" charset="-120"/>
              </a:rPr>
              <a:t>Le déficit est déjà proportionnel à la population. Le repondérer une seconde fois par la population reviendrait à l’élever au carré et écraserait tout au profit des préfectures les plus peuplées.</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Calibri" pitchFamily="34" charset="0"/>
                <a:ea typeface="Calibri" pitchFamily="34" charset="-122"/>
                <a:cs typeface="Calibri" pitchFamily="34" charset="-120"/>
              </a:rPr>
              <a:t>α = 0 classe au déficit brut ; α = 1 privilégie le nombre d’habitants touchés. La valeur retenue, 0,5, est un compromis — et il est réglable en direct dans le tableau de bord.</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Calibri" pitchFamily="34" charset="0"/>
                <a:ea typeface="Calibri" pitchFamily="34" charset="-122"/>
                <a:cs typeface="Calibri" pitchFamily="34" charset="-120"/>
              </a:rPr>
              <a:t>Ce choix est un arbitrage politique, pas un résultat statistique. Il est exposé, pas dissimulé.</a:t>
            </a:r>
            <a:endParaRPr lang="en-US" sz="1200" dirty="0"/>
          </a:p>
        </p:txBody>
      </p:sp>
      <p:graphicFrame>
        <p:nvGraphicFramePr>
          <p:cNvPr id="7"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Aucun modèle boîte noire, aucun paramètre caché : le score se recalcule à la main à partir de la table publiée.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4FA47C"/>
                </a:solidFill>
                <a:latin typeface="Calibri" pitchFamily="34" charset="0"/>
                <a:ea typeface="Calibri" pitchFamily="34" charset="-122"/>
                <a:cs typeface="Calibri" pitchFamily="34" charset="-120"/>
              </a:rPr>
              <a:t>RECOMMANDATIONS</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Cinq recommandations</a:t>
            </a:r>
            <a:endParaRPr lang="en-US" sz="3000" dirty="0"/>
          </a:p>
        </p:txBody>
      </p:sp>
      <p:sp>
        <p:nvSpPr>
          <p:cNvPr id="4" name="Shape 2"/>
          <p:cNvSpPr/>
          <p:nvPr/>
        </p:nvSpPr>
        <p:spPr>
          <a:xfrm>
            <a:off x="685800" y="1536192"/>
            <a:ext cx="384048" cy="384048"/>
          </a:xfrm>
          <a:prstGeom prst="ellipse">
            <a:avLst/>
          </a:prstGeom>
          <a:solidFill>
            <a:srgbClr val="0E5236"/>
          </a:solidFill>
          <a:ln w="12700">
            <a:solidFill>
              <a:srgbClr val="0E5236"/>
            </a:solidFill>
            <a:prstDash val="solid"/>
          </a:ln>
        </p:spPr>
      </p:sp>
      <p:sp>
        <p:nvSpPr>
          <p:cNvPr id="5" name="Text 3"/>
          <p:cNvSpPr txBox="1"/>
          <p:nvPr/>
        </p:nvSpPr>
        <p:spPr>
          <a:xfrm>
            <a:off x="685800" y="1586484"/>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98448" y="1481328"/>
            <a:ext cx="10241280" cy="292608"/>
          </a:xfrm>
          <a:prstGeom prst="rect">
            <a:avLst/>
          </a:prstGeom>
          <a:noFill/>
          <a:ln/>
        </p:spPr>
        <p:txBody>
          <a:bodyPr wrap="square" lIns="0" tIns="0" rIns="0" bIns="0" rtlCol="0" anchor="ctr"/>
          <a:lstStyle/>
          <a:p>
            <a:pPr indent="0" marL="0">
              <a:buNone/>
            </a:pPr>
            <a:r>
              <a:rPr lang="en-US" sz="1400" b="1" dirty="0">
                <a:solidFill>
                  <a:srgbClr val="0E5236"/>
                </a:solidFill>
                <a:latin typeface="Cambria" pitchFamily="34" charset="0"/>
                <a:ea typeface="Cambria" pitchFamily="34" charset="-122"/>
                <a:cs typeface="Cambria" pitchFamily="34" charset="-120"/>
              </a:rPr>
              <a:t>Concentrer l’effort sur trois préfectures</a:t>
            </a:r>
            <a:endParaRPr lang="en-US" sz="1400" dirty="0"/>
          </a:p>
        </p:txBody>
      </p:sp>
      <p:sp>
        <p:nvSpPr>
          <p:cNvPr id="7" name="Text 5"/>
          <p:cNvSpPr txBox="1"/>
          <p:nvPr/>
        </p:nvSpPr>
        <p:spPr>
          <a:xfrm>
            <a:off x="1298448" y="1792224"/>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Calibri" pitchFamily="34" charset="0"/>
                <a:ea typeface="Calibri" pitchFamily="34" charset="-122"/>
                <a:cs typeface="Calibri" pitchFamily="34" charset="-120"/>
              </a:rPr>
              <a:t>Agoè-Nyivé, Zio et Haho cumulent les scores les plus élevés : un déficit important rapporté à une population nombreuse. Chaque point installé y touche le plus grand nombre d’habitants.</a:t>
            </a:r>
            <a:endParaRPr lang="en-US" sz="1150" dirty="0"/>
          </a:p>
        </p:txBody>
      </p:sp>
      <p:sp>
        <p:nvSpPr>
          <p:cNvPr id="8" name="Shape 6"/>
          <p:cNvSpPr/>
          <p:nvPr/>
        </p:nvSpPr>
        <p:spPr>
          <a:xfrm>
            <a:off x="685800" y="2523744"/>
            <a:ext cx="384048" cy="384048"/>
          </a:xfrm>
          <a:prstGeom prst="ellipse">
            <a:avLst/>
          </a:prstGeom>
          <a:solidFill>
            <a:srgbClr val="0E5236"/>
          </a:solidFill>
          <a:ln w="12700">
            <a:solidFill>
              <a:srgbClr val="0E5236"/>
            </a:solidFill>
            <a:prstDash val="solid"/>
          </a:ln>
        </p:spPr>
      </p:sp>
      <p:sp>
        <p:nvSpPr>
          <p:cNvPr id="9" name="Text 7"/>
          <p:cNvSpPr txBox="1"/>
          <p:nvPr/>
        </p:nvSpPr>
        <p:spPr>
          <a:xfrm>
            <a:off x="685800" y="25740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298448" y="2468880"/>
            <a:ext cx="10241280" cy="292608"/>
          </a:xfrm>
          <a:prstGeom prst="rect">
            <a:avLst/>
          </a:prstGeom>
          <a:noFill/>
          <a:ln/>
        </p:spPr>
        <p:txBody>
          <a:bodyPr wrap="square" lIns="0" tIns="0" rIns="0" bIns="0" rtlCol="0" anchor="ctr"/>
          <a:lstStyle/>
          <a:p>
            <a:pPr indent="0" marL="0">
              <a:buNone/>
            </a:pPr>
            <a:r>
              <a:rPr lang="en-US" sz="1400" b="1" dirty="0">
                <a:solidFill>
                  <a:srgbClr val="0E5236"/>
                </a:solidFill>
                <a:latin typeface="Cambria" pitchFamily="34" charset="0"/>
                <a:ea typeface="Cambria" pitchFamily="34" charset="-122"/>
                <a:cs typeface="Cambria" pitchFamily="34" charset="-120"/>
              </a:rPr>
              <a:t>S’appuyer sur les agents, pas sur les agences</a:t>
            </a:r>
            <a:endParaRPr lang="en-US" sz="1400" dirty="0"/>
          </a:p>
        </p:txBody>
      </p:sp>
      <p:sp>
        <p:nvSpPr>
          <p:cNvPr id="11" name="Text 9"/>
          <p:cNvSpPr txBox="1"/>
          <p:nvPr/>
        </p:nvSpPr>
        <p:spPr>
          <a:xfrm>
            <a:off x="1298448" y="2779776"/>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Calibri" pitchFamily="34" charset="0"/>
                <a:ea typeface="Calibri" pitchFamily="34" charset="-122"/>
                <a:cs typeface="Calibri" pitchFamily="34" charset="-120"/>
              </a:rPr>
              <a:t>Gini 0,31 contre 0,38 : densifier le réseau d’agents agréés corrige l’inégalité territoriale plus vite et à moindre coût que l’ouverture de guichets.</a:t>
            </a:r>
            <a:endParaRPr lang="en-US" sz="1150" dirty="0"/>
          </a:p>
        </p:txBody>
      </p:sp>
      <p:sp>
        <p:nvSpPr>
          <p:cNvPr id="12" name="Shape 10"/>
          <p:cNvSpPr/>
          <p:nvPr/>
        </p:nvSpPr>
        <p:spPr>
          <a:xfrm>
            <a:off x="685800" y="3511296"/>
            <a:ext cx="384048" cy="384048"/>
          </a:xfrm>
          <a:prstGeom prst="ellipse">
            <a:avLst/>
          </a:prstGeom>
          <a:solidFill>
            <a:srgbClr val="0E5236"/>
          </a:solidFill>
          <a:ln w="12700">
            <a:solidFill>
              <a:srgbClr val="0E5236"/>
            </a:solidFill>
            <a:prstDash val="solid"/>
          </a:ln>
        </p:spPr>
      </p:sp>
      <p:sp>
        <p:nvSpPr>
          <p:cNvPr id="13" name="Text 11"/>
          <p:cNvSpPr txBox="1"/>
          <p:nvPr/>
        </p:nvSpPr>
        <p:spPr>
          <a:xfrm>
            <a:off x="685800" y="356158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298448" y="3456432"/>
            <a:ext cx="10241280" cy="292608"/>
          </a:xfrm>
          <a:prstGeom prst="rect">
            <a:avLst/>
          </a:prstGeom>
          <a:noFill/>
          <a:ln/>
        </p:spPr>
        <p:txBody>
          <a:bodyPr wrap="square" lIns="0" tIns="0" rIns="0" bIns="0" rtlCol="0" anchor="ctr"/>
          <a:lstStyle/>
          <a:p>
            <a:pPr indent="0" marL="0">
              <a:buNone/>
            </a:pPr>
            <a:r>
              <a:rPr lang="en-US" sz="1400" b="1" dirty="0">
                <a:solidFill>
                  <a:srgbClr val="0E5236"/>
                </a:solidFill>
                <a:latin typeface="Cambria" pitchFamily="34" charset="0"/>
                <a:ea typeface="Cambria" pitchFamily="34" charset="-122"/>
                <a:cs typeface="Cambria" pitchFamily="34" charset="-120"/>
              </a:rPr>
              <a:t>Ouvrir un point opérateur, même mutualisé, dans les 12 préfectures sans agence</a:t>
            </a:r>
            <a:endParaRPr lang="en-US" sz="1400" dirty="0"/>
          </a:p>
        </p:txBody>
      </p:sp>
      <p:sp>
        <p:nvSpPr>
          <p:cNvPr id="15" name="Text 13"/>
          <p:cNvSpPr txBox="1"/>
          <p:nvPr/>
        </p:nvSpPr>
        <p:spPr>
          <a:xfrm>
            <a:off x="1298448" y="3767328"/>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Calibri" pitchFamily="34" charset="0"/>
                <a:ea typeface="Calibri" pitchFamily="34" charset="-122"/>
                <a:cs typeface="Calibri" pitchFamily="34" charset="-120"/>
              </a:rPr>
              <a:t>Est-Mono, Vo et Lacs cumulent absence de guichet et déficit de points. Ce qui manque n’est pas le volume mais la souscription, le SAV et la réclamation.</a:t>
            </a:r>
            <a:endParaRPr lang="en-US" sz="1150" dirty="0"/>
          </a:p>
        </p:txBody>
      </p:sp>
      <p:sp>
        <p:nvSpPr>
          <p:cNvPr id="16" name="Shape 14"/>
          <p:cNvSpPr/>
          <p:nvPr/>
        </p:nvSpPr>
        <p:spPr>
          <a:xfrm>
            <a:off x="685800" y="4498848"/>
            <a:ext cx="384048" cy="384048"/>
          </a:xfrm>
          <a:prstGeom prst="ellipse">
            <a:avLst/>
          </a:prstGeom>
          <a:solidFill>
            <a:srgbClr val="4FA47C"/>
          </a:solidFill>
          <a:ln w="12700">
            <a:solidFill>
              <a:srgbClr val="4FA47C"/>
            </a:solidFill>
            <a:prstDash val="solid"/>
          </a:ln>
        </p:spPr>
      </p:sp>
      <p:sp>
        <p:nvSpPr>
          <p:cNvPr id="17" name="Text 15"/>
          <p:cNvSpPr txBox="1"/>
          <p:nvPr/>
        </p:nvSpPr>
        <p:spPr>
          <a:xfrm>
            <a:off x="685800" y="4549140"/>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298448" y="4443984"/>
            <a:ext cx="10241280" cy="292608"/>
          </a:xfrm>
          <a:prstGeom prst="rect">
            <a:avLst/>
          </a:prstGeom>
          <a:noFill/>
          <a:ln/>
        </p:spPr>
        <p:txBody>
          <a:bodyPr wrap="square" lIns="0" tIns="0" rIns="0" bIns="0" rtlCol="0" anchor="ctr"/>
          <a:lstStyle/>
          <a:p>
            <a:pPr indent="0" marL="0">
              <a:buNone/>
            </a:pPr>
            <a:r>
              <a:rPr lang="en-US" sz="1400" b="1" dirty="0">
                <a:solidFill>
                  <a:srgbClr val="0E5236"/>
                </a:solidFill>
                <a:latin typeface="Cambria" pitchFamily="34" charset="0"/>
                <a:ea typeface="Cambria" pitchFamily="34" charset="-122"/>
                <a:cs typeface="Cambria" pitchFamily="34" charset="-120"/>
              </a:rPr>
              <a:t>Ne pas confondre urbain et desservi</a:t>
            </a:r>
            <a:endParaRPr lang="en-US" sz="1400" dirty="0"/>
          </a:p>
        </p:txBody>
      </p:sp>
      <p:sp>
        <p:nvSpPr>
          <p:cNvPr id="19" name="Text 17"/>
          <p:cNvSpPr txBox="1"/>
          <p:nvPr/>
        </p:nvSpPr>
        <p:spPr>
          <a:xfrm>
            <a:off x="1298448" y="4754880"/>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Calibri" pitchFamily="34" charset="0"/>
                <a:ea typeface="Calibri" pitchFamily="34" charset="-122"/>
                <a:cs typeface="Calibri" pitchFamily="34" charset="-120"/>
              </a:rPr>
              <a:t>Le déficit le plus lourd est périurbain. Un plan calé sur la seule ruralité manquerait la plus grosse poche de population sous-servie du pays.</a:t>
            </a:r>
            <a:endParaRPr lang="en-US" sz="1150" dirty="0"/>
          </a:p>
        </p:txBody>
      </p:sp>
      <p:sp>
        <p:nvSpPr>
          <p:cNvPr id="20" name="Shape 18"/>
          <p:cNvSpPr/>
          <p:nvPr/>
        </p:nvSpPr>
        <p:spPr>
          <a:xfrm>
            <a:off x="685800" y="5486400"/>
            <a:ext cx="384048" cy="384048"/>
          </a:xfrm>
          <a:prstGeom prst="ellipse">
            <a:avLst/>
          </a:prstGeom>
          <a:solidFill>
            <a:srgbClr val="4FA47C"/>
          </a:solidFill>
          <a:ln w="12700">
            <a:solidFill>
              <a:srgbClr val="4FA47C"/>
            </a:solidFill>
            <a:prstDash val="solid"/>
          </a:ln>
        </p:spPr>
      </p:sp>
      <p:sp>
        <p:nvSpPr>
          <p:cNvPr id="21" name="Text 19"/>
          <p:cNvSpPr txBox="1"/>
          <p:nvPr/>
        </p:nvSpPr>
        <p:spPr>
          <a:xfrm>
            <a:off x="685800" y="5536692"/>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2" name="Text 20"/>
          <p:cNvSpPr txBox="1"/>
          <p:nvPr/>
        </p:nvSpPr>
        <p:spPr>
          <a:xfrm>
            <a:off x="1298448" y="5431536"/>
            <a:ext cx="10241280" cy="292608"/>
          </a:xfrm>
          <a:prstGeom prst="rect">
            <a:avLst/>
          </a:prstGeom>
          <a:noFill/>
          <a:ln/>
        </p:spPr>
        <p:txBody>
          <a:bodyPr wrap="square" lIns="0" tIns="0" rIns="0" bIns="0" rtlCol="0" anchor="ctr"/>
          <a:lstStyle/>
          <a:p>
            <a:pPr indent="0" marL="0">
              <a:buNone/>
            </a:pPr>
            <a:r>
              <a:rPr lang="en-US" sz="1400" b="1" dirty="0">
                <a:solidFill>
                  <a:srgbClr val="0E5236"/>
                </a:solidFill>
                <a:latin typeface="Cambria" pitchFamily="34" charset="0"/>
                <a:ea typeface="Cambria" pitchFamily="34" charset="-122"/>
                <a:cs typeface="Cambria" pitchFamily="34" charset="-120"/>
              </a:rPr>
              <a:t>Fiabiliser la donnée avant de cibler plus fin</a:t>
            </a:r>
            <a:endParaRPr lang="en-US" sz="1400" dirty="0"/>
          </a:p>
        </p:txBody>
      </p:sp>
      <p:sp>
        <p:nvSpPr>
          <p:cNvPr id="23" name="Text 21"/>
          <p:cNvSpPr txBox="1"/>
          <p:nvPr/>
        </p:nvSpPr>
        <p:spPr>
          <a:xfrm>
            <a:off x="1298448" y="5742432"/>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Calibri" pitchFamily="34" charset="0"/>
                <a:ea typeface="Calibri" pitchFamily="34" charset="-122"/>
                <a:cs typeface="Calibri" pitchFamily="34" charset="-120"/>
              </a:rPr>
              <a:t>Jeu CANAL+ vide, couverture radio en accès restreint, 6,8 % d’opérateurs non renseignés : ces trois points conditionnent tout ciblage sous la maille préfectorale.</a:t>
            </a:r>
            <a:endParaRPr lang="en-US" sz="1150" dirty="0"/>
          </a:p>
        </p:txBody>
      </p:sp>
      <p:sp>
        <p:nvSpPr>
          <p:cNvPr id="24" name="Text 2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5A6B62"/>
                </a:solidFill>
                <a:latin typeface="Calibri" pitchFamily="34" charset="0"/>
                <a:ea typeface="Calibri" pitchFamily="34" charset="-122"/>
                <a:cs typeface="Calibri" pitchFamily="34" charset="-120"/>
              </a:rPr>
              <a:t>Les trois premières recommandations découlent directement du score de priorité ; les deux dernières, des limites de la donnée.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341F"/>
        </a:solidFill>
      </p:bgPr>
    </p:bg>
    <p:spTree>
      <p:nvGrpSpPr>
        <p:cNvPr id="1" name=""/>
        <p:cNvGrpSpPr/>
        <p:nvPr/>
      </p:nvGrpSpPr>
      <p:grpSpPr>
        <a:xfrm>
          <a:off x="0" y="0"/>
          <a:ext cx="0" cy="0"/>
          <a:chOff x="0" y="0"/>
          <a:chExt cx="0" cy="0"/>
        </a:xfrm>
      </p:grpSpPr>
      <p:sp>
        <p:nvSpPr>
          <p:cNvPr id="2" name="Text 0"/>
          <p:cNvSpPr txBox="1"/>
          <p:nvPr/>
        </p:nvSpPr>
        <p:spPr>
          <a:xfrm>
            <a:off x="822960" y="777240"/>
            <a:ext cx="10515600" cy="274320"/>
          </a:xfrm>
          <a:prstGeom prst="rect">
            <a:avLst/>
          </a:prstGeom>
          <a:noFill/>
          <a:ln/>
        </p:spPr>
        <p:txBody>
          <a:bodyPr wrap="square" lIns="0" tIns="0" rIns="0" bIns="0" rtlCol="0" anchor="ctr"/>
          <a:lstStyle/>
          <a:p>
            <a:pPr indent="0" marL="0">
              <a:buNone/>
            </a:pPr>
            <a:r>
              <a:rPr lang="en-US" sz="1200" b="1" spc="200" kern="0" dirty="0">
                <a:solidFill>
                  <a:srgbClr val="4FA47C"/>
                </a:solidFill>
                <a:latin typeface="Calibri" pitchFamily="34" charset="0"/>
                <a:ea typeface="Calibri" pitchFamily="34" charset="-122"/>
                <a:cs typeface="Calibri" pitchFamily="34" charset="-120"/>
              </a:rPr>
              <a:t>CE SUR QUOI REPOSE CE DIAGNOSTIC · ET CE QU’IL NE DIT PAS</a:t>
            </a:r>
            <a:endParaRPr lang="en-US" sz="1200" dirty="0"/>
          </a:p>
        </p:txBody>
      </p:sp>
      <p:sp>
        <p:nvSpPr>
          <p:cNvPr id="3" name="Text 1"/>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Les six hypothèses, écrites noir sur blanc</a:t>
            </a:r>
            <a:endParaRPr lang="en-US" sz="3000" dirty="0"/>
          </a:p>
        </p:txBody>
      </p:sp>
      <p:sp>
        <p:nvSpPr>
          <p:cNvPr id="4" name="Text 2"/>
          <p:cNvSpPr txBox="1"/>
          <p:nvPr/>
        </p:nvSpPr>
        <p:spPr>
          <a:xfrm>
            <a:off x="822960" y="2011680"/>
            <a:ext cx="3337560" cy="274320"/>
          </a:xfrm>
          <a:prstGeom prst="rect">
            <a:avLst/>
          </a:prstGeom>
          <a:noFill/>
          <a:ln/>
        </p:spPr>
        <p:txBody>
          <a:bodyPr wrap="square" lIns="0" tIns="0" rIns="0" bIns="0" rtlCol="0" anchor="ctr"/>
          <a:lstStyle/>
          <a:p>
            <a:pPr indent="0" marL="0">
              <a:buNone/>
            </a:pPr>
            <a:r>
              <a:rPr lang="en-US" sz="1300" b="1" dirty="0">
                <a:solidFill>
                  <a:srgbClr val="F2C230"/>
                </a:solidFill>
                <a:latin typeface="Cambria" pitchFamily="34" charset="0"/>
                <a:ea typeface="Cambria" pitchFamily="34" charset="-122"/>
                <a:cs typeface="Cambria" pitchFamily="34" charset="-120"/>
              </a:rPr>
              <a:t>H1 · Norme d’équité</a:t>
            </a:r>
            <a:endParaRPr lang="en-US" sz="1300" dirty="0"/>
          </a:p>
        </p:txBody>
      </p:sp>
      <p:sp>
        <p:nvSpPr>
          <p:cNvPr id="5" name="Text 3"/>
          <p:cNvSpPr txBox="1"/>
          <p:nvPr/>
        </p:nvSpPr>
        <p:spPr>
          <a:xfrm>
            <a:off x="822960" y="2322576"/>
            <a:ext cx="3337560" cy="1143000"/>
          </a:xfrm>
          <a:prstGeom prst="rect">
            <a:avLst/>
          </a:prstGeom>
          <a:noFill/>
          <a:ln/>
        </p:spPr>
        <p:txBody>
          <a:bodyPr wrap="square" lIns="0" tIns="0" rIns="0" bIns="0" rtlCol="0" anchor="ctr"/>
          <a:lstStyle/>
          <a:p>
            <a:pPr indent="0" marL="0">
              <a:buNone/>
            </a:pPr>
            <a:r>
              <a:rPr lang="en-US" sz="1050" dirty="0">
                <a:solidFill>
                  <a:srgbClr val="CFE3D7"/>
                </a:solidFill>
                <a:latin typeface="Calibri" pitchFamily="34" charset="0"/>
                <a:ea typeface="Calibri" pitchFamily="34" charset="-122"/>
                <a:cs typeface="Calibri" pitchFamily="34" charset="-120"/>
              </a:rPr>
              <a:t>« Attendu » = répartition proportionnelle à la population. Norme choisie, pas loi économique : une autre norme donnerait un autre classement.</a:t>
            </a:r>
            <a:endParaRPr lang="en-US" sz="1050" dirty="0"/>
          </a:p>
        </p:txBody>
      </p:sp>
      <p:sp>
        <p:nvSpPr>
          <p:cNvPr id="6" name="Text 4"/>
          <p:cNvSpPr txBox="1"/>
          <p:nvPr/>
        </p:nvSpPr>
        <p:spPr>
          <a:xfrm>
            <a:off x="4526280" y="2011680"/>
            <a:ext cx="3337560" cy="274320"/>
          </a:xfrm>
          <a:prstGeom prst="rect">
            <a:avLst/>
          </a:prstGeom>
          <a:noFill/>
          <a:ln/>
        </p:spPr>
        <p:txBody>
          <a:bodyPr wrap="square" lIns="0" tIns="0" rIns="0" bIns="0" rtlCol="0" anchor="ctr"/>
          <a:lstStyle/>
          <a:p>
            <a:pPr indent="0" marL="0">
              <a:buNone/>
            </a:pPr>
            <a:r>
              <a:rPr lang="en-US" sz="1300" b="1" dirty="0">
                <a:solidFill>
                  <a:srgbClr val="F2C230"/>
                </a:solidFill>
                <a:latin typeface="Cambria" pitchFamily="34" charset="0"/>
                <a:ea typeface="Cambria" pitchFamily="34" charset="-122"/>
                <a:cs typeface="Cambria" pitchFamily="34" charset="-120"/>
              </a:rPr>
              <a:t>H2 · Poids de la population</a:t>
            </a:r>
            <a:endParaRPr lang="en-US" sz="1300" dirty="0"/>
          </a:p>
        </p:txBody>
      </p:sp>
      <p:sp>
        <p:nvSpPr>
          <p:cNvPr id="7" name="Text 5"/>
          <p:cNvSpPr txBox="1"/>
          <p:nvPr/>
        </p:nvSpPr>
        <p:spPr>
          <a:xfrm>
            <a:off x="4526280" y="2322576"/>
            <a:ext cx="3337560" cy="1143000"/>
          </a:xfrm>
          <a:prstGeom prst="rect">
            <a:avLst/>
          </a:prstGeom>
          <a:noFill/>
          <a:ln/>
        </p:spPr>
        <p:txBody>
          <a:bodyPr wrap="square" lIns="0" tIns="0" rIns="0" bIns="0" rtlCol="0" anchor="ctr"/>
          <a:lstStyle/>
          <a:p>
            <a:pPr indent="0" marL="0">
              <a:buNone/>
            </a:pPr>
            <a:r>
              <a:rPr lang="en-US" sz="1050" dirty="0">
                <a:solidFill>
                  <a:srgbClr val="CFE3D7"/>
                </a:solidFill>
                <a:latin typeface="Calibri" pitchFamily="34" charset="0"/>
                <a:ea typeface="Calibri" pitchFamily="34" charset="-122"/>
                <a:cs typeface="Calibri" pitchFamily="34" charset="-120"/>
              </a:rPr>
              <a:t>L’exposant α = 0,5 du score de priorité est un arbitrage politique. Il est réglable en direct dans le tableau de bord.</a:t>
            </a:r>
            <a:endParaRPr lang="en-US" sz="1050" dirty="0"/>
          </a:p>
        </p:txBody>
      </p:sp>
      <p:sp>
        <p:nvSpPr>
          <p:cNvPr id="8" name="Text 6"/>
          <p:cNvSpPr txBox="1"/>
          <p:nvPr/>
        </p:nvSpPr>
        <p:spPr>
          <a:xfrm>
            <a:off x="8229600" y="2011680"/>
            <a:ext cx="3337560" cy="274320"/>
          </a:xfrm>
          <a:prstGeom prst="rect">
            <a:avLst/>
          </a:prstGeom>
          <a:noFill/>
          <a:ln/>
        </p:spPr>
        <p:txBody>
          <a:bodyPr wrap="square" lIns="0" tIns="0" rIns="0" bIns="0" rtlCol="0" anchor="ctr"/>
          <a:lstStyle/>
          <a:p>
            <a:pPr indent="0" marL="0">
              <a:buNone/>
            </a:pPr>
            <a:r>
              <a:rPr lang="en-US" sz="1300" b="1" dirty="0">
                <a:solidFill>
                  <a:srgbClr val="F2C230"/>
                </a:solidFill>
                <a:latin typeface="Cambria" pitchFamily="34" charset="0"/>
                <a:ea typeface="Cambria" pitchFamily="34" charset="-122"/>
                <a:cs typeface="Cambria" pitchFamily="34" charset="-120"/>
              </a:rPr>
              <a:t>H3 · Couverture radio</a:t>
            </a:r>
            <a:endParaRPr lang="en-US" sz="1300" dirty="0"/>
          </a:p>
        </p:txBody>
      </p:sp>
      <p:sp>
        <p:nvSpPr>
          <p:cNvPr id="9" name="Text 7"/>
          <p:cNvSpPr txBox="1"/>
          <p:nvPr/>
        </p:nvSpPr>
        <p:spPr>
          <a:xfrm>
            <a:off x="8229600" y="2322576"/>
            <a:ext cx="3337560" cy="1143000"/>
          </a:xfrm>
          <a:prstGeom prst="rect">
            <a:avLst/>
          </a:prstGeom>
          <a:noFill/>
          <a:ln/>
        </p:spPr>
        <p:txBody>
          <a:bodyPr wrap="square" lIns="0" tIns="0" rIns="0" bIns="0" rtlCol="0" anchor="ctr"/>
          <a:lstStyle/>
          <a:p>
            <a:pPr indent="0" marL="0">
              <a:buNone/>
            </a:pPr>
            <a:r>
              <a:rPr lang="en-US" sz="1050" dirty="0">
                <a:solidFill>
                  <a:srgbClr val="CFE3D7"/>
                </a:solidFill>
                <a:latin typeface="Calibri" pitchFamily="34" charset="0"/>
                <a:ea typeface="Calibri" pitchFamily="34" charset="-122"/>
                <a:cs typeface="Calibri" pitchFamily="34" charset="-120"/>
              </a:rPr>
              <a:t>Couches « Tours télécoms » en accès restreint (HTTP 403) ; OpenStreetMap écarté (115 mâts pour tout le pays). Zone blanche = sans service, pas sans signal.</a:t>
            </a:r>
            <a:endParaRPr lang="en-US" sz="1050" dirty="0"/>
          </a:p>
        </p:txBody>
      </p:sp>
      <p:sp>
        <p:nvSpPr>
          <p:cNvPr id="10" name="Text 8"/>
          <p:cNvSpPr txBox="1"/>
          <p:nvPr/>
        </p:nvSpPr>
        <p:spPr>
          <a:xfrm>
            <a:off x="822960" y="3611880"/>
            <a:ext cx="3337560" cy="274320"/>
          </a:xfrm>
          <a:prstGeom prst="rect">
            <a:avLst/>
          </a:prstGeom>
          <a:noFill/>
          <a:ln/>
        </p:spPr>
        <p:txBody>
          <a:bodyPr wrap="square" lIns="0" tIns="0" rIns="0" bIns="0" rtlCol="0" anchor="ctr"/>
          <a:lstStyle/>
          <a:p>
            <a:pPr indent="0" marL="0">
              <a:buNone/>
            </a:pPr>
            <a:r>
              <a:rPr lang="en-US" sz="1300" b="1" dirty="0">
                <a:solidFill>
                  <a:srgbClr val="F2C230"/>
                </a:solidFill>
                <a:latin typeface="Cambria" pitchFamily="34" charset="0"/>
                <a:ea typeface="Cambria" pitchFamily="34" charset="-122"/>
                <a:cs typeface="Cambria" pitchFamily="34" charset="-120"/>
              </a:rPr>
              <a:t>H4 · Centroïde du canton</a:t>
            </a:r>
            <a:endParaRPr lang="en-US" sz="1300" dirty="0"/>
          </a:p>
        </p:txBody>
      </p:sp>
      <p:sp>
        <p:nvSpPr>
          <p:cNvPr id="11" name="Text 9"/>
          <p:cNvSpPr txBox="1"/>
          <p:nvPr/>
        </p:nvSpPr>
        <p:spPr>
          <a:xfrm>
            <a:off x="822960" y="3922776"/>
            <a:ext cx="3337560" cy="1143000"/>
          </a:xfrm>
          <a:prstGeom prst="rect">
            <a:avLst/>
          </a:prstGeom>
          <a:noFill/>
          <a:ln/>
        </p:spPr>
        <p:txBody>
          <a:bodyPr wrap="square" lIns="0" tIns="0" rIns="0" bIns="0" rtlCol="0" anchor="ctr"/>
          <a:lstStyle/>
          <a:p>
            <a:pPr indent="0" marL="0">
              <a:buNone/>
            </a:pPr>
            <a:r>
              <a:rPr lang="en-US" sz="1050" dirty="0">
                <a:solidFill>
                  <a:srgbClr val="CFE3D7"/>
                </a:solidFill>
                <a:latin typeface="Calibri" pitchFamily="34" charset="0"/>
                <a:ea typeface="Calibri" pitchFamily="34" charset="-122"/>
                <a:cs typeface="Calibri" pitchFamily="34" charset="-120"/>
              </a:rPr>
              <a:t>Les distances partent du centre géométrique : aucune population infra-préfectorale n’est publiée.</a:t>
            </a:r>
            <a:endParaRPr lang="en-US" sz="1050" dirty="0"/>
          </a:p>
        </p:txBody>
      </p:sp>
      <p:sp>
        <p:nvSpPr>
          <p:cNvPr id="12" name="Text 10"/>
          <p:cNvSpPr txBox="1"/>
          <p:nvPr/>
        </p:nvSpPr>
        <p:spPr>
          <a:xfrm>
            <a:off x="4526280" y="3611880"/>
            <a:ext cx="3337560" cy="274320"/>
          </a:xfrm>
          <a:prstGeom prst="rect">
            <a:avLst/>
          </a:prstGeom>
          <a:noFill/>
          <a:ln/>
        </p:spPr>
        <p:txBody>
          <a:bodyPr wrap="square" lIns="0" tIns="0" rIns="0" bIns="0" rtlCol="0" anchor="ctr"/>
          <a:lstStyle/>
          <a:p>
            <a:pPr indent="0" marL="0">
              <a:buNone/>
            </a:pPr>
            <a:r>
              <a:rPr lang="en-US" sz="1300" b="1" dirty="0">
                <a:solidFill>
                  <a:srgbClr val="F2C230"/>
                </a:solidFill>
                <a:latin typeface="Cambria" pitchFamily="34" charset="0"/>
                <a:ea typeface="Cambria" pitchFamily="34" charset="-122"/>
                <a:cs typeface="Cambria" pitchFamily="34" charset="-120"/>
              </a:rPr>
              <a:t>H5 · Noms reconstruits</a:t>
            </a:r>
            <a:endParaRPr lang="en-US" sz="1300" dirty="0"/>
          </a:p>
        </p:txBody>
      </p:sp>
      <p:sp>
        <p:nvSpPr>
          <p:cNvPr id="13" name="Text 11"/>
          <p:cNvSpPr txBox="1"/>
          <p:nvPr/>
        </p:nvSpPr>
        <p:spPr>
          <a:xfrm>
            <a:off x="4526280" y="3922776"/>
            <a:ext cx="3337560" cy="1143000"/>
          </a:xfrm>
          <a:prstGeom prst="rect">
            <a:avLst/>
          </a:prstGeom>
          <a:noFill/>
          <a:ln/>
        </p:spPr>
        <p:txBody>
          <a:bodyPr wrap="square" lIns="0" tIns="0" rIns="0" bIns="0" rtlCol="0" anchor="ctr"/>
          <a:lstStyle/>
          <a:p>
            <a:pPr indent="0" marL="0">
              <a:buNone/>
            </a:pPr>
            <a:r>
              <a:rPr lang="en-US" sz="1050" dirty="0">
                <a:solidFill>
                  <a:srgbClr val="CFE3D7"/>
                </a:solidFill>
                <a:latin typeface="Calibri" pitchFamily="34" charset="0"/>
                <a:ea typeface="Calibri" pitchFamily="34" charset="-122"/>
                <a:cs typeface="Calibri" pitchFamily="34" charset="-120"/>
              </a:rPr>
              <a:t>Les polygones officiels n’ont aucun attribut. Noms rétablis par jointure spatiale : 39/39, et superficies à 0,18 % du chiffre officiel.</a:t>
            </a:r>
            <a:endParaRPr lang="en-US" sz="1050" dirty="0"/>
          </a:p>
        </p:txBody>
      </p:sp>
      <p:sp>
        <p:nvSpPr>
          <p:cNvPr id="14" name="Text 12"/>
          <p:cNvSpPr txBox="1"/>
          <p:nvPr/>
        </p:nvSpPr>
        <p:spPr>
          <a:xfrm>
            <a:off x="8229600" y="3611880"/>
            <a:ext cx="3337560" cy="274320"/>
          </a:xfrm>
          <a:prstGeom prst="rect">
            <a:avLst/>
          </a:prstGeom>
          <a:noFill/>
          <a:ln/>
        </p:spPr>
        <p:txBody>
          <a:bodyPr wrap="square" lIns="0" tIns="0" rIns="0" bIns="0" rtlCol="0" anchor="ctr"/>
          <a:lstStyle/>
          <a:p>
            <a:pPr indent="0" marL="0">
              <a:buNone/>
            </a:pPr>
            <a:r>
              <a:rPr lang="en-US" sz="1300" b="1" dirty="0">
                <a:solidFill>
                  <a:srgbClr val="F2C230"/>
                </a:solidFill>
                <a:latin typeface="Cambria" pitchFamily="34" charset="0"/>
                <a:ea typeface="Cambria" pitchFamily="34" charset="-122"/>
                <a:cs typeface="Cambria" pitchFamily="34" charset="-120"/>
              </a:rPr>
              <a:t>H6 · Données et millésimes</a:t>
            </a:r>
            <a:endParaRPr lang="en-US" sz="1300" dirty="0"/>
          </a:p>
        </p:txBody>
      </p:sp>
      <p:sp>
        <p:nvSpPr>
          <p:cNvPr id="15" name="Text 13"/>
          <p:cNvSpPr txBox="1"/>
          <p:nvPr/>
        </p:nvSpPr>
        <p:spPr>
          <a:xfrm>
            <a:off x="8229600" y="3922776"/>
            <a:ext cx="3337560" cy="1143000"/>
          </a:xfrm>
          <a:prstGeom prst="rect">
            <a:avLst/>
          </a:prstGeom>
          <a:noFill/>
          <a:ln/>
        </p:spPr>
        <p:txBody>
          <a:bodyPr wrap="square" lIns="0" tIns="0" rIns="0" bIns="0" rtlCol="0" anchor="ctr"/>
          <a:lstStyle/>
          <a:p>
            <a:pPr indent="0" marL="0">
              <a:buNone/>
            </a:pPr>
            <a:r>
              <a:rPr lang="en-US" sz="1050" dirty="0">
                <a:solidFill>
                  <a:srgbClr val="CFE3D7"/>
                </a:solidFill>
                <a:latin typeface="Calibri" pitchFamily="34" charset="0"/>
                <a:ea typeface="Calibri" pitchFamily="34" charset="-122"/>
                <a:cs typeface="Calibri" pitchFamily="34" charset="-120"/>
              </a:rPr>
              <a:t>Inventaire et non échantillon, donc aucune inférence. Population 2022, implantations de date inconnue. 6,8 % d’opérateurs non renseignés, conservés. Telecom = Moov + Togocom : jamais additionnés.</a:t>
            </a:r>
            <a:endParaRPr lang="en-US" sz="1050" dirty="0"/>
          </a:p>
        </p:txBody>
      </p:sp>
      <p:sp>
        <p:nvSpPr>
          <p:cNvPr id="16" name="Shape 14"/>
          <p:cNvSpPr/>
          <p:nvPr/>
        </p:nvSpPr>
        <p:spPr>
          <a:xfrm>
            <a:off x="822960" y="5257800"/>
            <a:ext cx="10515600" cy="0"/>
          </a:xfrm>
          <a:prstGeom prst="line">
            <a:avLst/>
          </a:prstGeom>
          <a:noFill/>
          <a:ln w="19050">
            <a:solidFill>
              <a:srgbClr val="1C7C54"/>
            </a:solidFill>
            <a:prstDash val="solid"/>
          </a:ln>
        </p:spPr>
      </p:sp>
      <p:sp>
        <p:nvSpPr>
          <p:cNvPr id="17" name="Text 15"/>
          <p:cNvSpPr txBox="1"/>
          <p:nvPr/>
        </p:nvSpPr>
        <p:spPr>
          <a:xfrm>
            <a:off x="822960" y="5468112"/>
            <a:ext cx="6858000" cy="3200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Tableau de bord interactif, données et code reproductible</a:t>
            </a:r>
            <a:endParaRPr lang="en-US" sz="1400" dirty="0"/>
          </a:p>
        </p:txBody>
      </p:sp>
      <p:sp>
        <p:nvSpPr>
          <p:cNvPr id="18" name="Text 16"/>
          <p:cNvSpPr txBox="1"/>
          <p:nvPr/>
        </p:nvSpPr>
        <p:spPr>
          <a:xfrm>
            <a:off x="822960" y="5797296"/>
            <a:ext cx="10515600" cy="548640"/>
          </a:xfrm>
          <a:prstGeom prst="rect">
            <a:avLst/>
          </a:prstGeom>
          <a:noFill/>
          <a:ln/>
        </p:spPr>
        <p:txBody>
          <a:bodyPr wrap="square" lIns="0" tIns="0" rIns="0" bIns="0" rtlCol="0" anchor="ctr"/>
          <a:lstStyle/>
          <a:p>
            <a:pPr indent="0" marL="0">
              <a:buNone/>
            </a:pPr>
            <a:r>
              <a:rPr lang="en-US" sz="1100" dirty="0">
                <a:solidFill>
                  <a:srgbClr val="8CC4A5"/>
                </a:solidFill>
                <a:latin typeface="Calibri" pitchFamily="34" charset="0"/>
                <a:ea typeface="Calibri" pitchFamily="34" charset="-122"/>
                <a:cs typeface="Calibri" pitchFamily="34" charset="-120"/>
              </a:rPr>
              <a:t>8 vues, filtrables par région et par échelle · lecture automatique recalculée à chaque filtre · export CSV de toutes les tables · 3 scripts Python des sources brutes au rendu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Accès aux télécoms et aux services numériques au Togo</dc:title>
  <dc:subject>PptxGenJS Presentation</dc:subject>
  <dc:creator>Komi Selassi GAYI</dc:creator>
  <cp:lastModifiedBy>Komi Selassi GAYI</cp:lastModifiedBy>
  <cp:revision>1</cp:revision>
  <dcterms:created xsi:type="dcterms:W3CDTF">2026-09-11T13:50:44Z</dcterms:created>
  <dcterms:modified xsi:type="dcterms:W3CDTF">2026-09-11T13:50:44Z</dcterms:modified>
</cp:coreProperties>
</file>