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charts/chart2.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3.xml" ContentType="application/vnd.openxmlformats-officedocument.drawingml.chart+xml"/>
  <Override PartName="/ppt/notesSlides/notesSlide8.xml" ContentType="application/vnd.openxmlformats-officedocument.presentationml.notesSlide+xml"/>
  <Override PartName="/ppt/charts/chart4.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7" d="100"/>
          <a:sy n="67" d="100"/>
        </p:scale>
        <p:origin x="62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5A6B62"/>
                </a:solidFill>
                <a:latin typeface="Calibri"/>
              </a:defRPr>
            </a:pPr>
            <a:r>
              <a:rPr lang="fr-FR" sz="1200" b="0" i="0" u="none" strike="noStrike">
                <a:solidFill>
                  <a:srgbClr val="5A6B62"/>
                </a:solidFill>
                <a:latin typeface="Calibri"/>
              </a:rPr>
              <a:t>Points mobile money pour 10 000 habitants</a:t>
            </a:r>
          </a:p>
        </c:rich>
      </c:tx>
      <c:overlay val="0"/>
    </c:title>
    <c:autoTitleDeleted val="0"/>
    <c:plotArea>
      <c:layout/>
      <c:barChart>
        <c:barDir val="bar"/>
        <c:grouping val="clustered"/>
        <c:varyColors val="0"/>
        <c:ser>
          <c:idx val="0"/>
          <c:order val="0"/>
          <c:tx>
            <c:strRef>
              <c:f>Sheet1!$B$1</c:f>
              <c:strCache>
                <c:ptCount val="1"/>
                <c:pt idx="0">
                  <c:v>Points / 10 000 hab.</c:v>
                </c:pt>
              </c:strCache>
            </c:strRef>
          </c:tx>
          <c:spPr>
            <a:solidFill>
              <a:srgbClr val="2A78D6"/>
            </a:solidFill>
            <a:effectLst/>
          </c:spPr>
          <c:invertIfNegative val="0"/>
          <c:dLbls>
            <c:numFmt formatCode="0.0" sourceLinked="0"/>
            <c:spPr>
              <a:noFill/>
              <a:ln>
                <a:noFill/>
              </a:ln>
              <a:effectLst/>
            </c:spPr>
            <c:txPr>
              <a:bodyPr/>
              <a:lstStyle/>
              <a:p>
                <a:pPr>
                  <a:defRPr sz="1100" b="0" i="0" u="none" strike="noStrike">
                    <a:solidFill>
                      <a:srgbClr val="0B0B0B"/>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Plateaux</c:v>
                </c:pt>
                <c:pt idx="1">
                  <c:v>Savanes</c:v>
                </c:pt>
                <c:pt idx="2">
                  <c:v>Maritime</c:v>
                </c:pt>
                <c:pt idx="3">
                  <c:v>Centrale</c:v>
                </c:pt>
                <c:pt idx="4">
                  <c:v>Kara</c:v>
                </c:pt>
              </c:strCache>
            </c:strRef>
          </c:cat>
          <c:val>
            <c:numRef>
              <c:f>Sheet1!$B$2:$B$6</c:f>
              <c:numCache>
                <c:formatCode>General</c:formatCode>
                <c:ptCount val="5"/>
                <c:pt idx="0">
                  <c:v>18.8</c:v>
                </c:pt>
                <c:pt idx="1">
                  <c:v>23.4</c:v>
                </c:pt>
                <c:pt idx="2">
                  <c:v>25.4</c:v>
                </c:pt>
                <c:pt idx="3">
                  <c:v>26.3</c:v>
                </c:pt>
                <c:pt idx="4">
                  <c:v>29.9</c:v>
                </c:pt>
              </c:numCache>
            </c:numRef>
          </c:val>
          <c:extLst>
            <c:ext xmlns:c16="http://schemas.microsoft.com/office/drawing/2014/chart" uri="{C3380CC4-5D6E-409C-BE32-E72D297353CC}">
              <c16:uniqueId val="{00000000-163B-4135-B3A1-6725CDB91BCE}"/>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A6B62"/>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b"/>
        <c:majorGridlines>
          <c:spPr>
            <a:ln w="12700" cap="flat">
              <a:solidFill>
                <a:srgbClr val="EFEEEA"/>
              </a:solidFill>
              <a:prstDash val="solid"/>
              <a:round/>
            </a:ln>
          </c:spPr>
        </c:majorGridlines>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5A6B62"/>
                </a:solidFill>
                <a:latin typeface="Calibri"/>
              </a:defRPr>
            </a:pPr>
            <a:r>
              <a:rPr lang="fr-FR" sz="1200" b="0" i="0" u="none" strike="noStrike">
                <a:solidFill>
                  <a:srgbClr val="5A6B62"/>
                </a:solidFill>
                <a:latin typeface="Calibri"/>
              </a:rPr>
              <a:t>Population des préfectures dépourvues d’agence télécom</a:t>
            </a:r>
          </a:p>
        </c:rich>
      </c:tx>
      <c:overlay val="0"/>
    </c:title>
    <c:autoTitleDeleted val="0"/>
    <c:plotArea>
      <c:layout/>
      <c:barChart>
        <c:barDir val="bar"/>
        <c:grouping val="clustered"/>
        <c:varyColors val="0"/>
        <c:ser>
          <c:idx val="0"/>
          <c:order val="0"/>
          <c:tx>
            <c:strRef>
              <c:f>Sheet1!$B$1</c:f>
              <c:strCache>
                <c:ptCount val="1"/>
                <c:pt idx="0">
                  <c:v>Population</c:v>
                </c:pt>
              </c:strCache>
            </c:strRef>
          </c:tx>
          <c:spPr>
            <a:solidFill>
              <a:srgbClr val="2A78D6"/>
            </a:solidFill>
            <a:effectLst/>
          </c:spPr>
          <c:invertIfNegative val="0"/>
          <c:dLbls>
            <c:numFmt formatCode="#\ ##0" sourceLinked="0"/>
            <c:spPr>
              <a:noFill/>
              <a:ln>
                <a:noFill/>
              </a:ln>
              <a:effectLst/>
            </c:spPr>
            <c:txPr>
              <a:bodyPr/>
              <a:lstStyle/>
              <a:p>
                <a:pPr>
                  <a:defRPr sz="1100" b="0" i="0" u="none" strike="noStrike">
                    <a:solidFill>
                      <a:srgbClr val="0B0B0B"/>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Sheet1!$A$2:$A$13</c:f>
              <c:strCache>
                <c:ptCount val="12"/>
                <c:pt idx="0">
                  <c:v>Danyi</c:v>
                </c:pt>
                <c:pt idx="1">
                  <c:v>Mô</c:v>
                </c:pt>
                <c:pt idx="2">
                  <c:v>Akébou</c:v>
                </c:pt>
                <c:pt idx="3">
                  <c:v>Binah</c:v>
                </c:pt>
                <c:pt idx="4">
                  <c:v>Kpendjal</c:v>
                </c:pt>
                <c:pt idx="5">
                  <c:v>Wawa</c:v>
                </c:pt>
                <c:pt idx="6">
                  <c:v>Amou</c:v>
                </c:pt>
                <c:pt idx="7">
                  <c:v>Kpendjal-Ouest</c:v>
                </c:pt>
                <c:pt idx="8">
                  <c:v>Tandjoaré</c:v>
                </c:pt>
                <c:pt idx="9">
                  <c:v>Est-Mono</c:v>
                </c:pt>
                <c:pt idx="10">
                  <c:v>Vo</c:v>
                </c:pt>
                <c:pt idx="11">
                  <c:v>Lacs</c:v>
                </c:pt>
              </c:strCache>
            </c:strRef>
          </c:cat>
          <c:val>
            <c:numRef>
              <c:f>Sheet1!$B$2:$B$13</c:f>
              <c:numCache>
                <c:formatCode>General</c:formatCode>
                <c:ptCount val="12"/>
                <c:pt idx="0">
                  <c:v>40240</c:v>
                </c:pt>
                <c:pt idx="1">
                  <c:v>52448</c:v>
                </c:pt>
                <c:pt idx="2">
                  <c:v>73830</c:v>
                </c:pt>
                <c:pt idx="3">
                  <c:v>84199</c:v>
                </c:pt>
                <c:pt idx="4">
                  <c:v>88365</c:v>
                </c:pt>
                <c:pt idx="5">
                  <c:v>101300</c:v>
                </c:pt>
                <c:pt idx="6">
                  <c:v>114172</c:v>
                </c:pt>
                <c:pt idx="7">
                  <c:v>123330</c:v>
                </c:pt>
                <c:pt idx="8">
                  <c:v>138867</c:v>
                </c:pt>
                <c:pt idx="9">
                  <c:v>164460</c:v>
                </c:pt>
                <c:pt idx="10">
                  <c:v>224411</c:v>
                </c:pt>
                <c:pt idx="11">
                  <c:v>241247</c:v>
                </c:pt>
              </c:numCache>
            </c:numRef>
          </c:val>
          <c:extLst>
            <c:ext xmlns:c16="http://schemas.microsoft.com/office/drawing/2014/chart" uri="{C3380CC4-5D6E-409C-BE32-E72D297353CC}">
              <c16:uniqueId val="{00000000-E0A8-437F-91B2-CD1C299230A9}"/>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A6B62"/>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b"/>
        <c:majorGridlines>
          <c:spPr>
            <a:ln w="12700" cap="flat">
              <a:solidFill>
                <a:srgbClr val="EFEEEA"/>
              </a:solidFill>
              <a:prstDash val="solid"/>
              <a:round/>
            </a:ln>
          </c:spPr>
        </c:majorGridlines>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5A6B62"/>
                </a:solidFill>
                <a:latin typeface="Calibri"/>
              </a:defRPr>
            </a:pPr>
            <a:r>
              <a:rPr lang="fr-FR" sz="1200" b="0" i="0" u="none" strike="noStrike">
                <a:solidFill>
                  <a:srgbClr val="5A6B62"/>
                </a:solidFill>
                <a:latin typeface="Calibri"/>
              </a:rPr>
              <a:t>Accès observé rapporté à l’accès attendu (1,00 = proportionnel à la population)</a:t>
            </a:r>
          </a:p>
        </c:rich>
      </c:tx>
      <c:overlay val="0"/>
    </c:title>
    <c:autoTitleDeleted val="0"/>
    <c:plotArea>
      <c:layout/>
      <c:barChart>
        <c:barDir val="bar"/>
        <c:grouping val="clustered"/>
        <c:varyColors val="0"/>
        <c:ser>
          <c:idx val="0"/>
          <c:order val="0"/>
          <c:tx>
            <c:strRef>
              <c:f>Sheet1!$B$1</c:f>
              <c:strCache>
                <c:ptCount val="1"/>
                <c:pt idx="0">
                  <c:v>Ratio observé / attendu</c:v>
                </c:pt>
              </c:strCache>
            </c:strRef>
          </c:tx>
          <c:spPr>
            <a:solidFill>
              <a:srgbClr val="2A78D6"/>
            </a:solidFill>
            <a:effectLst/>
          </c:spPr>
          <c:invertIfNegative val="0"/>
          <c:dLbls>
            <c:numFmt formatCode="0.00" sourceLinked="0"/>
            <c:spPr>
              <a:noFill/>
              <a:ln>
                <a:noFill/>
              </a:ln>
              <a:effectLst/>
            </c:spPr>
            <c:txPr>
              <a:bodyPr/>
              <a:lstStyle/>
              <a:p>
                <a:pPr>
                  <a:defRPr sz="1100" b="0" i="0" u="none" strike="noStrike">
                    <a:solidFill>
                      <a:srgbClr val="0B0B0B"/>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Kpendjal</c:v>
                </c:pt>
                <c:pt idx="1">
                  <c:v>Blitta</c:v>
                </c:pt>
                <c:pt idx="2">
                  <c:v>Mô</c:v>
                </c:pt>
                <c:pt idx="3">
                  <c:v>Moyen-Mono</c:v>
                </c:pt>
                <c:pt idx="4">
                  <c:v>Yoto</c:v>
                </c:pt>
                <c:pt idx="5">
                  <c:v>Tchamba</c:v>
                </c:pt>
                <c:pt idx="6">
                  <c:v>Agoè-Nyivé</c:v>
                </c:pt>
              </c:strCache>
            </c:strRef>
          </c:cat>
          <c:val>
            <c:numRef>
              <c:f>Sheet1!$B$2:$B$8</c:f>
              <c:numCache>
                <c:formatCode>General</c:formatCode>
                <c:ptCount val="7"/>
                <c:pt idx="0">
                  <c:v>0.19</c:v>
                </c:pt>
                <c:pt idx="1">
                  <c:v>0.23</c:v>
                </c:pt>
                <c:pt idx="2">
                  <c:v>0.25</c:v>
                </c:pt>
                <c:pt idx="3">
                  <c:v>0.37</c:v>
                </c:pt>
                <c:pt idx="4">
                  <c:v>0.37</c:v>
                </c:pt>
                <c:pt idx="5">
                  <c:v>0.42</c:v>
                </c:pt>
                <c:pt idx="6">
                  <c:v>0.65</c:v>
                </c:pt>
              </c:numCache>
            </c:numRef>
          </c:val>
          <c:extLst>
            <c:ext xmlns:c16="http://schemas.microsoft.com/office/drawing/2014/chart" uri="{C3380CC4-5D6E-409C-BE32-E72D297353CC}">
              <c16:uniqueId val="{00000000-747E-45A6-B115-D8E2DC5F7BCF}"/>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A6B62"/>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b"/>
        <c:majorGridlines>
          <c:spPr>
            <a:ln w="12700" cap="flat">
              <a:solidFill>
                <a:srgbClr val="EFEEEA"/>
              </a:solidFill>
              <a:prstDash val="solid"/>
              <a:round/>
            </a:ln>
          </c:spPr>
        </c:majorGridlines>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5A6B62"/>
                </a:solidFill>
                <a:latin typeface="Calibri"/>
              </a:defRPr>
            </a:pPr>
            <a:r>
              <a:rPr lang="fr-FR" sz="1200" b="0" i="0" u="none" strike="noStrike">
                <a:solidFill>
                  <a:srgbClr val="5A6B62"/>
                </a:solidFill>
                <a:latin typeface="Calibri"/>
              </a:rPr>
              <a:t>Score de priorité d’extension (base 100 = priorité maximale)</a:t>
            </a:r>
          </a:p>
        </c:rich>
      </c:tx>
      <c:overlay val="0"/>
    </c:title>
    <c:autoTitleDeleted val="0"/>
    <c:plotArea>
      <c:layout/>
      <c:barChart>
        <c:barDir val="bar"/>
        <c:grouping val="clustered"/>
        <c:varyColors val="0"/>
        <c:ser>
          <c:idx val="0"/>
          <c:order val="0"/>
          <c:tx>
            <c:strRef>
              <c:f>Sheet1!$B$1</c:f>
              <c:strCache>
                <c:ptCount val="1"/>
                <c:pt idx="0">
                  <c:v>Score de priorité</c:v>
                </c:pt>
              </c:strCache>
            </c:strRef>
          </c:tx>
          <c:spPr>
            <a:solidFill>
              <a:srgbClr val="2A78D6"/>
            </a:solidFill>
            <a:effectLst/>
          </c:spPr>
          <c:invertIfNegative val="0"/>
          <c:dLbls>
            <c:numFmt formatCode="0" sourceLinked="0"/>
            <c:spPr>
              <a:noFill/>
              <a:ln>
                <a:noFill/>
              </a:ln>
              <a:effectLst/>
            </c:spPr>
            <c:txPr>
              <a:bodyPr/>
              <a:lstStyle/>
              <a:p>
                <a:pPr>
                  <a:defRPr sz="1100" b="0" i="0" u="none" strike="noStrike">
                    <a:solidFill>
                      <a:srgbClr val="0B0B0B"/>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Dankpen</c:v>
                </c:pt>
                <c:pt idx="1">
                  <c:v>Est-Mono</c:v>
                </c:pt>
                <c:pt idx="2">
                  <c:v>Yoto</c:v>
                </c:pt>
                <c:pt idx="3">
                  <c:v>Tchamba</c:v>
                </c:pt>
                <c:pt idx="4">
                  <c:v>Blitta</c:v>
                </c:pt>
                <c:pt idx="5">
                  <c:v>Haho</c:v>
                </c:pt>
                <c:pt idx="6">
                  <c:v>Zio</c:v>
                </c:pt>
                <c:pt idx="7">
                  <c:v>Agoè-Nyivé</c:v>
                </c:pt>
              </c:strCache>
            </c:strRef>
          </c:cat>
          <c:val>
            <c:numRef>
              <c:f>Sheet1!$B$2:$B$9</c:f>
              <c:numCache>
                <c:formatCode>General</c:formatCode>
                <c:ptCount val="8"/>
                <c:pt idx="0">
                  <c:v>16</c:v>
                </c:pt>
                <c:pt idx="1">
                  <c:v>16</c:v>
                </c:pt>
                <c:pt idx="2">
                  <c:v>16</c:v>
                </c:pt>
                <c:pt idx="3">
                  <c:v>18</c:v>
                </c:pt>
                <c:pt idx="4">
                  <c:v>18</c:v>
                </c:pt>
                <c:pt idx="5">
                  <c:v>23</c:v>
                </c:pt>
                <c:pt idx="6">
                  <c:v>44</c:v>
                </c:pt>
                <c:pt idx="7">
                  <c:v>100</c:v>
                </c:pt>
              </c:numCache>
            </c:numRef>
          </c:val>
          <c:extLst>
            <c:ext xmlns:c16="http://schemas.microsoft.com/office/drawing/2014/chart" uri="{C3380CC4-5D6E-409C-BE32-E72D297353CC}">
              <c16:uniqueId val="{00000000-8534-41F9-897E-EEDA8691CC17}"/>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A6B62"/>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b"/>
        <c:majorGridlines>
          <c:spPr>
            <a:ln w="12700" cap="flat">
              <a:solidFill>
                <a:srgbClr val="EFEEEA"/>
              </a:solidFill>
              <a:prstDash val="solid"/>
              <a:round/>
            </a:ln>
          </c:spPr>
        </c:majorGridlines>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130378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message d'ouverture : le diagnostic ne porte pas sur le signal mais sur l'accès effectif au service.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Insister : la valeur ajoutée est la reconstruction des noms de préfectures et de cantons, absents des polygones officiels.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de bascule de la présentation : montrer que le récit intuitif est faux.</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Préciser la limite : le centroïde n’est pas le barycentre de population.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CFCFB"/>
        </a:solidFill>
        <a:effectLst/>
      </p:bgPr>
    </p:bg>
    <p:spTree>
      <p:nvGrpSpPr>
        <p:cNvPr id="1" name=""/>
        <p:cNvGrpSpPr/>
        <p:nvPr/>
      </p:nvGrpSpPr>
      <p:grpSpPr>
        <a:xfrm>
          <a:off x="0" y="0"/>
          <a:ext cx="0" cy="0"/>
          <a:chOff x="0" y="0"/>
          <a:chExt cx="0" cy="0"/>
        </a:xfrm>
      </p:grpSpPr>
      <p:sp>
        <p:nvSpPr>
          <p:cNvPr id="2" name="Text 0"/>
          <p:cNvSpPr txBox="1"/>
          <p:nvPr/>
        </p:nvSpPr>
        <p:spPr>
          <a:xfrm>
            <a:off x="822960" y="1371600"/>
            <a:ext cx="10515600" cy="274320"/>
          </a:xfrm>
          <a:prstGeom prst="rect">
            <a:avLst/>
          </a:prstGeom>
          <a:noFill/>
          <a:ln/>
        </p:spPr>
        <p:txBody>
          <a:bodyPr wrap="square" lIns="0" tIns="0" rIns="0" bIns="0" rtlCol="0" anchor="ctr"/>
          <a:lstStyle/>
          <a:p>
            <a:pPr marL="0" indent="0">
              <a:buNone/>
            </a:pPr>
            <a:r>
              <a:rPr lang="en-US" sz="1200" b="1" kern="0" spc="200" dirty="0">
                <a:solidFill>
                  <a:srgbClr val="12345F"/>
                </a:solidFill>
                <a:latin typeface="Aptos" pitchFamily="34" charset="0"/>
                <a:ea typeface="Calibri" pitchFamily="34" charset="-122"/>
                <a:cs typeface="Calibri" pitchFamily="34" charset="-120"/>
              </a:rPr>
              <a:t>DATA CHALLENGE TOGO AI LAB · ÉCONOMIE NUMÉRIQUE, DÉFI 1</a:t>
            </a:r>
            <a:endParaRPr lang="en-US" sz="1200" dirty="0"/>
          </a:p>
        </p:txBody>
      </p:sp>
      <p:sp>
        <p:nvSpPr>
          <p:cNvPr id="3" name="Text 1"/>
          <p:cNvSpPr txBox="1"/>
          <p:nvPr/>
        </p:nvSpPr>
        <p:spPr>
          <a:xfrm>
            <a:off x="822960" y="1783080"/>
            <a:ext cx="10241280" cy="1371600"/>
          </a:xfrm>
          <a:prstGeom prst="rect">
            <a:avLst/>
          </a:prstGeom>
          <a:noFill/>
          <a:ln/>
        </p:spPr>
        <p:txBody>
          <a:bodyPr wrap="square" lIns="0" tIns="0" rIns="0" bIns="0" rtlCol="0" anchor="ctr"/>
          <a:lstStyle/>
          <a:p>
            <a:pPr marL="0" indent="0">
              <a:buNone/>
            </a:pPr>
            <a:r>
              <a:rPr lang="en-US" sz="4200" b="1" dirty="0">
                <a:solidFill>
                  <a:srgbClr val="12345F"/>
                </a:solidFill>
                <a:latin typeface="Aptos" pitchFamily="34" charset="0"/>
                <a:ea typeface="Cambria" pitchFamily="34" charset="-122"/>
                <a:cs typeface="Cambria" pitchFamily="34" charset="-120"/>
              </a:rPr>
              <a:t>Accès aux télécoms et aux services numériques au Togo</a:t>
            </a:r>
            <a:endParaRPr lang="en-US" sz="4200" dirty="0"/>
          </a:p>
        </p:txBody>
      </p:sp>
      <p:sp>
        <p:nvSpPr>
          <p:cNvPr id="4" name="Text 2"/>
          <p:cNvSpPr txBox="1"/>
          <p:nvPr/>
        </p:nvSpPr>
        <p:spPr>
          <a:xfrm>
            <a:off x="822960" y="3108960"/>
            <a:ext cx="9601200" cy="457200"/>
          </a:xfrm>
          <a:prstGeom prst="rect">
            <a:avLst/>
          </a:prstGeom>
          <a:noFill/>
          <a:ln/>
        </p:spPr>
        <p:txBody>
          <a:bodyPr wrap="square" lIns="0" tIns="0" rIns="0" bIns="0" rtlCol="0" anchor="ctr"/>
          <a:lstStyle/>
          <a:p>
            <a:pPr marL="0" indent="0">
              <a:buNone/>
            </a:pPr>
            <a:r>
              <a:rPr lang="en-US" sz="1700" dirty="0">
                <a:solidFill>
                  <a:srgbClr val="12345F"/>
                </a:solidFill>
                <a:latin typeface="Aptos" pitchFamily="34" charset="0"/>
                <a:ea typeface="Calibri" pitchFamily="34" charset="-122"/>
                <a:cs typeface="Calibri" pitchFamily="34" charset="-120"/>
              </a:rPr>
              <a:t>Diagnostic territorial et priorisation de l’extension de la connectivité</a:t>
            </a:r>
            <a:endParaRPr lang="en-US" sz="1700" dirty="0"/>
          </a:p>
        </p:txBody>
      </p:sp>
      <p:sp>
        <p:nvSpPr>
          <p:cNvPr id="5" name="Shape 3"/>
          <p:cNvSpPr/>
          <p:nvPr/>
        </p:nvSpPr>
        <p:spPr>
          <a:xfrm>
            <a:off x="822960" y="3749040"/>
            <a:ext cx="2011680" cy="0"/>
          </a:xfrm>
          <a:prstGeom prst="line">
            <a:avLst/>
          </a:prstGeom>
          <a:noFill/>
          <a:ln w="31750">
            <a:solidFill>
              <a:srgbClr val="F2C230"/>
            </a:solidFill>
            <a:prstDash val="solid"/>
          </a:ln>
        </p:spPr>
        <p:txBody>
          <a:bodyPr/>
          <a:lstStyle/>
          <a:p>
            <a:endParaRPr/>
          </a:p>
        </p:txBody>
      </p:sp>
      <p:sp>
        <p:nvSpPr>
          <p:cNvPr id="6" name="Text 4"/>
          <p:cNvSpPr txBox="1"/>
          <p:nvPr/>
        </p:nvSpPr>
        <p:spPr>
          <a:xfrm>
            <a:off x="822960" y="4069080"/>
            <a:ext cx="8778240" cy="868680"/>
          </a:xfrm>
          <a:prstGeom prst="rect">
            <a:avLst/>
          </a:prstGeom>
          <a:noFill/>
          <a:ln/>
        </p:spPr>
        <p:txBody>
          <a:bodyPr wrap="square" lIns="0" tIns="0" rIns="0" bIns="0" rtlCol="0" anchor="ctr"/>
          <a:lstStyle/>
          <a:p>
            <a:pPr marL="0" indent="0">
              <a:buNone/>
            </a:pPr>
            <a:r>
              <a:rPr lang="en-US" sz="1900" i="1" dirty="0">
                <a:solidFill>
                  <a:srgbClr val="12345F"/>
                </a:solidFill>
                <a:latin typeface="Aptos" pitchFamily="34" charset="0"/>
                <a:ea typeface="Cambria" pitchFamily="34" charset="-122"/>
                <a:cs typeface="Cambria" pitchFamily="34" charset="-120"/>
              </a:rPr>
              <a:t>Un Togolais sur six vit dans une préfecture où </a:t>
            </a:r>
            <a:r>
              <a:rPr lang="en-US" sz="1900" i="1" dirty="0" err="1">
                <a:solidFill>
                  <a:srgbClr val="12345F"/>
                </a:solidFill>
                <a:latin typeface="Aptos" pitchFamily="34" charset="0"/>
                <a:ea typeface="Cambria" pitchFamily="34" charset="-122"/>
                <a:cs typeface="Cambria" pitchFamily="34" charset="-120"/>
              </a:rPr>
              <a:t>aucun</a:t>
            </a:r>
            <a:r>
              <a:rPr lang="en-US" sz="1900" i="1" dirty="0">
                <a:solidFill>
                  <a:srgbClr val="12345F"/>
                </a:solidFill>
                <a:latin typeface="Aptos" pitchFamily="34" charset="0"/>
                <a:ea typeface="Cambria" pitchFamily="34" charset="-122"/>
                <a:cs typeface="Cambria" pitchFamily="34" charset="-120"/>
              </a:rPr>
              <a:t> </a:t>
            </a:r>
            <a:r>
              <a:rPr lang="en-US" sz="1900" i="1" dirty="0" err="1">
                <a:solidFill>
                  <a:srgbClr val="12345F"/>
                </a:solidFill>
                <a:latin typeface="Aptos" pitchFamily="34" charset="0"/>
                <a:ea typeface="Cambria" pitchFamily="34" charset="-122"/>
                <a:cs typeface="Cambria" pitchFamily="34" charset="-120"/>
              </a:rPr>
              <a:t>opérateur</a:t>
            </a:r>
            <a:r>
              <a:rPr lang="en-US" sz="1900" i="1" dirty="0">
                <a:solidFill>
                  <a:srgbClr val="12345F"/>
                </a:solidFill>
                <a:latin typeface="Aptos" pitchFamily="34" charset="0"/>
                <a:ea typeface="Cambria" pitchFamily="34" charset="-122"/>
                <a:cs typeface="Cambria" pitchFamily="34" charset="-120"/>
              </a:rPr>
              <a:t> </a:t>
            </a:r>
            <a:r>
              <a:rPr lang="en-US" sz="1900" i="1" dirty="0" err="1">
                <a:solidFill>
                  <a:srgbClr val="12345F"/>
                </a:solidFill>
                <a:latin typeface="Aptos" pitchFamily="34" charset="0"/>
                <a:ea typeface="Cambria" pitchFamily="34" charset="-122"/>
                <a:cs typeface="Cambria" pitchFamily="34" charset="-120"/>
              </a:rPr>
              <a:t>n’a</a:t>
            </a:r>
            <a:r>
              <a:rPr lang="en-US" sz="1900" i="1" dirty="0">
                <a:solidFill>
                  <a:srgbClr val="12345F"/>
                </a:solidFill>
                <a:latin typeface="Aptos" pitchFamily="34" charset="0"/>
                <a:ea typeface="Cambria" pitchFamily="34" charset="-122"/>
                <a:cs typeface="Cambria" pitchFamily="34" charset="-120"/>
              </a:rPr>
              <a:t> de guichet physique</a:t>
            </a:r>
            <a:r>
              <a:rPr lang="en-US" sz="1900" i="1" dirty="0">
                <a:solidFill>
                  <a:srgbClr val="0B0B0B"/>
                </a:solidFill>
                <a:latin typeface="Aptos" pitchFamily="34" charset="0"/>
                <a:ea typeface="Cambria" pitchFamily="34" charset="-122"/>
                <a:cs typeface="Cambria" pitchFamily="34" charset="-120"/>
              </a:rPr>
              <a:t>.</a:t>
            </a:r>
            <a:endParaRPr lang="en-US" sz="1900" dirty="0"/>
          </a:p>
        </p:txBody>
      </p:sp>
      <p:sp>
        <p:nvSpPr>
          <p:cNvPr id="7" name="Text 5"/>
          <p:cNvSpPr txBox="1"/>
          <p:nvPr/>
        </p:nvSpPr>
        <p:spPr>
          <a:xfrm>
            <a:off x="822960" y="5943600"/>
            <a:ext cx="10515600" cy="320040"/>
          </a:xfrm>
          <a:prstGeom prst="rect">
            <a:avLst/>
          </a:prstGeom>
          <a:noFill/>
          <a:ln/>
        </p:spPr>
        <p:txBody>
          <a:bodyPr wrap="square" lIns="0" tIns="0" rIns="0" bIns="0" rtlCol="0" anchor="ctr"/>
          <a:lstStyle/>
          <a:p>
            <a:pPr marL="0" indent="0">
              <a:buNone/>
            </a:pPr>
            <a:r>
              <a:rPr lang="en-US" dirty="0">
                <a:solidFill>
                  <a:srgbClr val="12345F"/>
                </a:solidFill>
                <a:latin typeface="Aptos" pitchFamily="34" charset="0"/>
                <a:ea typeface="Calibri" pitchFamily="34" charset="-122"/>
                <a:cs typeface="Calibri" pitchFamily="34" charset="-120"/>
              </a:rPr>
              <a:t>GAYI Komi Selassi  ·  septembre 2026  </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CFB"/>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ctr"/>
          <a:lstStyle/>
          <a:p>
            <a:pPr marL="0" indent="0">
              <a:buNone/>
            </a:pPr>
            <a:r>
              <a:rPr lang="en-US" sz="1100" b="1" kern="0" spc="200" dirty="0">
                <a:solidFill>
                  <a:srgbClr val="12345F"/>
                </a:solidFill>
                <a:latin typeface="Aptos" pitchFamily="34" charset="0"/>
                <a:ea typeface="Calibri" pitchFamily="34" charset="-122"/>
                <a:cs typeface="Calibri" pitchFamily="34" charset="-120"/>
              </a:rPr>
              <a:t>MÉTHODE</a:t>
            </a:r>
            <a:endParaRPr lang="en-US" sz="1100" dirty="0"/>
          </a:p>
        </p:txBody>
      </p:sp>
      <p:sp>
        <p:nvSpPr>
          <p:cNvPr id="3" name="Text 1"/>
          <p:cNvSpPr txBox="1"/>
          <p:nvPr/>
        </p:nvSpPr>
        <p:spPr>
          <a:xfrm>
            <a:off x="640080" y="658368"/>
            <a:ext cx="10881360" cy="658368"/>
          </a:xfrm>
          <a:prstGeom prst="rect">
            <a:avLst/>
          </a:prstGeom>
          <a:noFill/>
          <a:ln/>
        </p:spPr>
        <p:txBody>
          <a:bodyPr wrap="square" lIns="0" tIns="0" rIns="0" bIns="0" rtlCol="0" anchor="ctr"/>
          <a:lstStyle/>
          <a:p>
            <a:pPr marL="0" indent="0">
              <a:buNone/>
            </a:pPr>
            <a:r>
              <a:rPr lang="en-US" sz="3000" b="1" dirty="0">
                <a:solidFill>
                  <a:srgbClr val="12345F"/>
                </a:solidFill>
                <a:latin typeface="Aptos" pitchFamily="34" charset="0"/>
                <a:ea typeface="Cambria" pitchFamily="34" charset="-122"/>
                <a:cs typeface="Cambria" pitchFamily="34" charset="-120"/>
              </a:rPr>
              <a:t>De la donnée brute à la recommandation</a:t>
            </a:r>
            <a:endParaRPr lang="en-US" sz="3000" dirty="0"/>
          </a:p>
        </p:txBody>
      </p:sp>
      <p:sp>
        <p:nvSpPr>
          <p:cNvPr id="4" name="Shape 2"/>
          <p:cNvSpPr/>
          <p:nvPr/>
        </p:nvSpPr>
        <p:spPr>
          <a:xfrm>
            <a:off x="685800" y="1691640"/>
            <a:ext cx="384048" cy="384048"/>
          </a:xfrm>
          <a:prstGeom prst="ellipse">
            <a:avLst/>
          </a:prstGeom>
          <a:solidFill>
            <a:srgbClr val="12345F"/>
          </a:solidFill>
          <a:ln w="12700">
            <a:solidFill>
              <a:srgbClr val="12345F"/>
            </a:solidFill>
            <a:prstDash val="solid"/>
          </a:ln>
        </p:spPr>
        <p:txBody>
          <a:bodyPr/>
          <a:lstStyle/>
          <a:p>
            <a:endParaRPr/>
          </a:p>
        </p:txBody>
      </p:sp>
      <p:sp>
        <p:nvSpPr>
          <p:cNvPr id="5" name="Text 3"/>
          <p:cNvSpPr txBox="1"/>
          <p:nvPr/>
        </p:nvSpPr>
        <p:spPr>
          <a:xfrm>
            <a:off x="685800" y="1741932"/>
            <a:ext cx="384048" cy="274320"/>
          </a:xfrm>
          <a:prstGeom prst="rect">
            <a:avLst/>
          </a:prstGeom>
          <a:noFill/>
          <a:ln/>
        </p:spPr>
        <p:txBody>
          <a:bodyPr wrap="square" lIns="0" tIns="0" rIns="0" bIns="0" rtlCol="0" anchor="ctr"/>
          <a:lstStyle/>
          <a:p>
            <a:pPr marL="0" indent="0" algn="ctr">
              <a:buNone/>
            </a:pPr>
            <a:r>
              <a:rPr lang="en-US" sz="1500" b="1" dirty="0">
                <a:solidFill>
                  <a:srgbClr val="FFFFFF"/>
                </a:solidFill>
                <a:latin typeface="Aptos" pitchFamily="34" charset="0"/>
                <a:ea typeface="Cambria" pitchFamily="34" charset="-122"/>
                <a:cs typeface="Cambria" pitchFamily="34" charset="-120"/>
              </a:rPr>
              <a:t>1</a:t>
            </a:r>
            <a:endParaRPr lang="en-US" sz="1500" dirty="0"/>
          </a:p>
        </p:txBody>
      </p:sp>
      <p:sp>
        <p:nvSpPr>
          <p:cNvPr id="6" name="Text 4"/>
          <p:cNvSpPr txBox="1"/>
          <p:nvPr/>
        </p:nvSpPr>
        <p:spPr>
          <a:xfrm>
            <a:off x="1298448" y="1600200"/>
            <a:ext cx="2011680" cy="457200"/>
          </a:xfrm>
          <a:prstGeom prst="rect">
            <a:avLst/>
          </a:prstGeom>
          <a:noFill/>
          <a:ln/>
        </p:spPr>
        <p:txBody>
          <a:bodyPr wrap="square" lIns="0" tIns="0" rIns="0" bIns="0" rtlCol="0" anchor="ctr"/>
          <a:lstStyle/>
          <a:p>
            <a:pPr marL="0" indent="0">
              <a:buNone/>
            </a:pPr>
            <a:endParaRPr lang="en-US" sz="2300" dirty="0"/>
          </a:p>
        </p:txBody>
      </p:sp>
      <p:sp>
        <p:nvSpPr>
          <p:cNvPr id="7" name="Text 5"/>
          <p:cNvSpPr txBox="1"/>
          <p:nvPr/>
        </p:nvSpPr>
        <p:spPr>
          <a:xfrm>
            <a:off x="3383280" y="1636776"/>
            <a:ext cx="3200400" cy="365760"/>
          </a:xfrm>
          <a:prstGeom prst="rect">
            <a:avLst/>
          </a:prstGeom>
          <a:noFill/>
          <a:ln/>
        </p:spPr>
        <p:txBody>
          <a:bodyPr wrap="square" lIns="0" tIns="0" rIns="0" bIns="0" rtlCol="0" anchor="ctr"/>
          <a:lstStyle/>
          <a:p>
            <a:pPr marL="0" indent="0">
              <a:buNone/>
            </a:pPr>
            <a:r>
              <a:rPr lang="en-US" sz="1400" b="1" dirty="0">
                <a:solidFill>
                  <a:srgbClr val="12345F"/>
                </a:solidFill>
                <a:latin typeface="Aptos" pitchFamily="34" charset="0"/>
                <a:ea typeface="Calibri" pitchFamily="34" charset="-122"/>
                <a:cs typeface="Calibri" pitchFamily="34" charset="-120"/>
              </a:rPr>
              <a:t>Harmoniser les données</a:t>
            </a:r>
            <a:endParaRPr lang="en-US" sz="1400" dirty="0"/>
          </a:p>
        </p:txBody>
      </p:sp>
      <p:sp>
        <p:nvSpPr>
          <p:cNvPr id="8" name="Text 6"/>
          <p:cNvSpPr txBox="1"/>
          <p:nvPr/>
        </p:nvSpPr>
        <p:spPr>
          <a:xfrm>
            <a:off x="3383280" y="1984248"/>
            <a:ext cx="3931920" cy="548640"/>
          </a:xfrm>
          <a:prstGeom prst="rect">
            <a:avLst/>
          </a:prstGeom>
          <a:noFill/>
          <a:ln/>
        </p:spPr>
        <p:txBody>
          <a:bodyPr wrap="square" lIns="0" tIns="0" rIns="0" bIns="0" rtlCol="0" anchor="ctr"/>
          <a:lstStyle/>
          <a:p>
            <a:pPr marL="0" indent="0">
              <a:buNone/>
            </a:pPr>
            <a:r>
              <a:rPr lang="en-US" sz="1100" dirty="0">
                <a:solidFill>
                  <a:srgbClr val="12345F"/>
                </a:solidFill>
                <a:latin typeface="Aptos" pitchFamily="34" charset="0"/>
                <a:ea typeface="Calibri" pitchFamily="34" charset="-122"/>
                <a:cs typeface="Calibri" pitchFamily="34" charset="-120"/>
              </a:rPr>
              <a:t>Géodata Togo et INSEED
Jointure spatiale, contrôle des noms et des superficies.</a:t>
            </a:r>
            <a:endParaRPr lang="en-US" sz="1100" dirty="0"/>
          </a:p>
        </p:txBody>
      </p:sp>
      <p:sp>
        <p:nvSpPr>
          <p:cNvPr id="9" name="Shape 7"/>
          <p:cNvSpPr/>
          <p:nvPr/>
        </p:nvSpPr>
        <p:spPr>
          <a:xfrm>
            <a:off x="685800" y="2807208"/>
            <a:ext cx="384048" cy="384048"/>
          </a:xfrm>
          <a:prstGeom prst="ellipse">
            <a:avLst/>
          </a:prstGeom>
          <a:solidFill>
            <a:srgbClr val="12345F"/>
          </a:solidFill>
          <a:ln w="12700">
            <a:solidFill>
              <a:srgbClr val="12345F"/>
            </a:solidFill>
            <a:prstDash val="solid"/>
          </a:ln>
        </p:spPr>
        <p:txBody>
          <a:bodyPr/>
          <a:lstStyle/>
          <a:p>
            <a:endParaRPr/>
          </a:p>
        </p:txBody>
      </p:sp>
      <p:sp>
        <p:nvSpPr>
          <p:cNvPr id="10" name="Text 8"/>
          <p:cNvSpPr txBox="1"/>
          <p:nvPr/>
        </p:nvSpPr>
        <p:spPr>
          <a:xfrm>
            <a:off x="685800" y="2857500"/>
            <a:ext cx="384048" cy="274320"/>
          </a:xfrm>
          <a:prstGeom prst="rect">
            <a:avLst/>
          </a:prstGeom>
          <a:noFill/>
          <a:ln/>
        </p:spPr>
        <p:txBody>
          <a:bodyPr wrap="square" lIns="0" tIns="0" rIns="0" bIns="0" rtlCol="0" anchor="ctr"/>
          <a:lstStyle/>
          <a:p>
            <a:pPr marL="0" indent="0" algn="ctr">
              <a:buNone/>
            </a:pPr>
            <a:r>
              <a:rPr lang="en-US" sz="1500" b="1" dirty="0">
                <a:solidFill>
                  <a:srgbClr val="FFFFFF"/>
                </a:solidFill>
                <a:latin typeface="Aptos" pitchFamily="34" charset="0"/>
                <a:ea typeface="Cambria" pitchFamily="34" charset="-122"/>
                <a:cs typeface="Cambria" pitchFamily="34" charset="-120"/>
              </a:rPr>
              <a:t>2</a:t>
            </a:r>
            <a:endParaRPr lang="en-US" sz="1500" dirty="0"/>
          </a:p>
        </p:txBody>
      </p:sp>
      <p:sp>
        <p:nvSpPr>
          <p:cNvPr id="11" name="Text 9"/>
          <p:cNvSpPr txBox="1"/>
          <p:nvPr/>
        </p:nvSpPr>
        <p:spPr>
          <a:xfrm>
            <a:off x="1298448" y="2715768"/>
            <a:ext cx="2011680" cy="457200"/>
          </a:xfrm>
          <a:prstGeom prst="rect">
            <a:avLst/>
          </a:prstGeom>
          <a:noFill/>
          <a:ln/>
        </p:spPr>
        <p:txBody>
          <a:bodyPr wrap="square" lIns="0" tIns="0" rIns="0" bIns="0" rtlCol="0" anchor="ctr"/>
          <a:lstStyle/>
          <a:p>
            <a:pPr marL="0" indent="0">
              <a:buNone/>
            </a:pPr>
            <a:endParaRPr lang="en-US" sz="2300" dirty="0"/>
          </a:p>
        </p:txBody>
      </p:sp>
      <p:sp>
        <p:nvSpPr>
          <p:cNvPr id="12" name="Text 10"/>
          <p:cNvSpPr txBox="1"/>
          <p:nvPr/>
        </p:nvSpPr>
        <p:spPr>
          <a:xfrm>
            <a:off x="3383280" y="2752344"/>
            <a:ext cx="3200400" cy="365760"/>
          </a:xfrm>
          <a:prstGeom prst="rect">
            <a:avLst/>
          </a:prstGeom>
          <a:noFill/>
          <a:ln/>
        </p:spPr>
        <p:txBody>
          <a:bodyPr wrap="square" lIns="0" tIns="0" rIns="0" bIns="0" rtlCol="0" anchor="ctr"/>
          <a:lstStyle/>
          <a:p>
            <a:pPr marL="0" indent="0">
              <a:buNone/>
            </a:pPr>
            <a:r>
              <a:rPr lang="en-US" sz="1400" b="1" dirty="0">
                <a:solidFill>
                  <a:srgbClr val="12345F"/>
                </a:solidFill>
                <a:latin typeface="Aptos" pitchFamily="34" charset="0"/>
                <a:ea typeface="Calibri" pitchFamily="34" charset="-122"/>
                <a:cs typeface="Calibri" pitchFamily="34" charset="-120"/>
              </a:rPr>
              <a:t>Construire les indicateurs</a:t>
            </a:r>
            <a:endParaRPr lang="en-US" sz="1400" dirty="0"/>
          </a:p>
        </p:txBody>
      </p:sp>
      <p:sp>
        <p:nvSpPr>
          <p:cNvPr id="13" name="Text 11"/>
          <p:cNvSpPr txBox="1"/>
          <p:nvPr/>
        </p:nvSpPr>
        <p:spPr>
          <a:xfrm>
            <a:off x="3383280" y="3099816"/>
            <a:ext cx="3931920" cy="548640"/>
          </a:xfrm>
          <a:prstGeom prst="rect">
            <a:avLst/>
          </a:prstGeom>
          <a:noFill/>
          <a:ln/>
        </p:spPr>
        <p:txBody>
          <a:bodyPr wrap="square" lIns="0" tIns="0" rIns="0" bIns="0" rtlCol="0" anchor="ctr"/>
          <a:lstStyle/>
          <a:p>
            <a:pPr marL="0" indent="0">
              <a:buNone/>
            </a:pPr>
            <a:r>
              <a:rPr lang="en-US" sz="1100" dirty="0">
                <a:solidFill>
                  <a:srgbClr val="12345F"/>
                </a:solidFill>
                <a:latin typeface="Aptos" pitchFamily="34" charset="0"/>
                <a:ea typeface="Calibri" pitchFamily="34" charset="-122"/>
                <a:cs typeface="Calibri" pitchFamily="34" charset="-120"/>
              </a:rPr>
              <a:t>Comptages et taux par habitant
Observé / attendu, distances et indice de Gini.</a:t>
            </a:r>
            <a:endParaRPr lang="en-US" sz="1100" dirty="0"/>
          </a:p>
        </p:txBody>
      </p:sp>
      <p:sp>
        <p:nvSpPr>
          <p:cNvPr id="14" name="Shape 12"/>
          <p:cNvSpPr/>
          <p:nvPr/>
        </p:nvSpPr>
        <p:spPr>
          <a:xfrm>
            <a:off x="685800" y="3922776"/>
            <a:ext cx="384048" cy="384048"/>
          </a:xfrm>
          <a:prstGeom prst="ellipse">
            <a:avLst/>
          </a:prstGeom>
          <a:solidFill>
            <a:srgbClr val="12345F"/>
          </a:solidFill>
          <a:ln w="12700">
            <a:solidFill>
              <a:srgbClr val="12345F"/>
            </a:solidFill>
            <a:prstDash val="solid"/>
          </a:ln>
        </p:spPr>
        <p:txBody>
          <a:bodyPr/>
          <a:lstStyle/>
          <a:p>
            <a:endParaRPr/>
          </a:p>
        </p:txBody>
      </p:sp>
      <p:sp>
        <p:nvSpPr>
          <p:cNvPr id="15" name="Text 13"/>
          <p:cNvSpPr txBox="1"/>
          <p:nvPr/>
        </p:nvSpPr>
        <p:spPr>
          <a:xfrm>
            <a:off x="685800" y="3973068"/>
            <a:ext cx="384048" cy="274320"/>
          </a:xfrm>
          <a:prstGeom prst="rect">
            <a:avLst/>
          </a:prstGeom>
          <a:noFill/>
          <a:ln/>
        </p:spPr>
        <p:txBody>
          <a:bodyPr wrap="square" lIns="0" tIns="0" rIns="0" bIns="0" rtlCol="0" anchor="ctr"/>
          <a:lstStyle/>
          <a:p>
            <a:pPr marL="0" indent="0" algn="ctr">
              <a:buNone/>
            </a:pPr>
            <a:r>
              <a:rPr lang="en-US" sz="1500" b="1" dirty="0">
                <a:solidFill>
                  <a:srgbClr val="FFFFFF"/>
                </a:solidFill>
                <a:latin typeface="Aptos" pitchFamily="34" charset="0"/>
                <a:ea typeface="Cambria" pitchFamily="34" charset="-122"/>
                <a:cs typeface="Cambria" pitchFamily="34" charset="-120"/>
              </a:rPr>
              <a:t>3</a:t>
            </a:r>
            <a:endParaRPr lang="en-US" sz="1500" dirty="0"/>
          </a:p>
        </p:txBody>
      </p:sp>
      <p:sp>
        <p:nvSpPr>
          <p:cNvPr id="16" name="Text 14"/>
          <p:cNvSpPr txBox="1"/>
          <p:nvPr/>
        </p:nvSpPr>
        <p:spPr>
          <a:xfrm>
            <a:off x="1298448" y="3831336"/>
            <a:ext cx="2011680" cy="457200"/>
          </a:xfrm>
          <a:prstGeom prst="rect">
            <a:avLst/>
          </a:prstGeom>
          <a:noFill/>
          <a:ln/>
        </p:spPr>
        <p:txBody>
          <a:bodyPr wrap="square" lIns="0" tIns="0" rIns="0" bIns="0" rtlCol="0" anchor="ctr"/>
          <a:lstStyle/>
          <a:p>
            <a:pPr marL="0" indent="0">
              <a:buNone/>
            </a:pPr>
            <a:endParaRPr lang="en-US" sz="2300" dirty="0"/>
          </a:p>
        </p:txBody>
      </p:sp>
      <p:sp>
        <p:nvSpPr>
          <p:cNvPr id="17" name="Text 15"/>
          <p:cNvSpPr txBox="1"/>
          <p:nvPr/>
        </p:nvSpPr>
        <p:spPr>
          <a:xfrm>
            <a:off x="3383280" y="3867912"/>
            <a:ext cx="3200400" cy="365760"/>
          </a:xfrm>
          <a:prstGeom prst="rect">
            <a:avLst/>
          </a:prstGeom>
          <a:noFill/>
          <a:ln/>
        </p:spPr>
        <p:txBody>
          <a:bodyPr wrap="square" lIns="0" tIns="0" rIns="0" bIns="0" rtlCol="0" anchor="ctr"/>
          <a:lstStyle/>
          <a:p>
            <a:pPr marL="0" indent="0">
              <a:buNone/>
            </a:pPr>
            <a:r>
              <a:rPr lang="en-US" sz="1400" b="1" dirty="0">
                <a:solidFill>
                  <a:srgbClr val="12345F"/>
                </a:solidFill>
                <a:latin typeface="Aptos" pitchFamily="34" charset="0"/>
                <a:ea typeface="Calibri" pitchFamily="34" charset="-122"/>
                <a:cs typeface="Calibri" pitchFamily="34" charset="-120"/>
              </a:rPr>
              <a:t>Comparer les échelles</a:t>
            </a:r>
            <a:endParaRPr lang="en-US" sz="1400" dirty="0"/>
          </a:p>
        </p:txBody>
      </p:sp>
      <p:sp>
        <p:nvSpPr>
          <p:cNvPr id="18" name="Text 16"/>
          <p:cNvSpPr txBox="1"/>
          <p:nvPr/>
        </p:nvSpPr>
        <p:spPr>
          <a:xfrm>
            <a:off x="3383280" y="4215384"/>
            <a:ext cx="3931920" cy="548640"/>
          </a:xfrm>
          <a:prstGeom prst="rect">
            <a:avLst/>
          </a:prstGeom>
          <a:noFill/>
          <a:ln/>
        </p:spPr>
        <p:txBody>
          <a:bodyPr wrap="square" lIns="0" tIns="0" rIns="0" bIns="0" rtlCol="0" anchor="ctr"/>
          <a:lstStyle/>
          <a:p>
            <a:pPr marL="0" indent="0">
              <a:buNone/>
            </a:pPr>
            <a:r>
              <a:rPr lang="en-US" sz="1100" dirty="0">
                <a:solidFill>
                  <a:srgbClr val="12345F"/>
                </a:solidFill>
                <a:latin typeface="Aptos" pitchFamily="34" charset="0"/>
                <a:ea typeface="Calibri" pitchFamily="34" charset="-122"/>
                <a:cs typeface="Calibri" pitchFamily="34" charset="-120"/>
              </a:rPr>
              <a:t>Préfecture pour le diagnostic
Canton pour mesurer la proximité et les zones sans service.</a:t>
            </a:r>
            <a:endParaRPr lang="en-US" sz="1100" dirty="0"/>
          </a:p>
        </p:txBody>
      </p:sp>
      <p:sp>
        <p:nvSpPr>
          <p:cNvPr id="19" name="Shape 17"/>
          <p:cNvSpPr/>
          <p:nvPr/>
        </p:nvSpPr>
        <p:spPr>
          <a:xfrm>
            <a:off x="685800" y="5038344"/>
            <a:ext cx="384048" cy="384048"/>
          </a:xfrm>
          <a:prstGeom prst="ellipse">
            <a:avLst/>
          </a:prstGeom>
          <a:solidFill>
            <a:srgbClr val="12345F"/>
          </a:solidFill>
          <a:ln w="12700">
            <a:solidFill>
              <a:srgbClr val="12345F"/>
            </a:solidFill>
            <a:prstDash val="solid"/>
          </a:ln>
        </p:spPr>
        <p:txBody>
          <a:bodyPr/>
          <a:lstStyle/>
          <a:p>
            <a:endParaRPr/>
          </a:p>
        </p:txBody>
      </p:sp>
      <p:sp>
        <p:nvSpPr>
          <p:cNvPr id="20" name="Text 18"/>
          <p:cNvSpPr txBox="1"/>
          <p:nvPr/>
        </p:nvSpPr>
        <p:spPr>
          <a:xfrm>
            <a:off x="685800" y="5088636"/>
            <a:ext cx="384048" cy="274320"/>
          </a:xfrm>
          <a:prstGeom prst="rect">
            <a:avLst/>
          </a:prstGeom>
          <a:noFill/>
          <a:ln/>
        </p:spPr>
        <p:txBody>
          <a:bodyPr wrap="square" lIns="0" tIns="0" rIns="0" bIns="0" rtlCol="0" anchor="ctr"/>
          <a:lstStyle/>
          <a:p>
            <a:pPr marL="0" indent="0" algn="ctr">
              <a:buNone/>
            </a:pPr>
            <a:r>
              <a:rPr lang="en-US" sz="1500" b="1" dirty="0">
                <a:solidFill>
                  <a:srgbClr val="FFFFFF"/>
                </a:solidFill>
                <a:latin typeface="Aptos" pitchFamily="34" charset="0"/>
                <a:ea typeface="Cambria" pitchFamily="34" charset="-122"/>
                <a:cs typeface="Cambria" pitchFamily="34" charset="-120"/>
              </a:rPr>
              <a:t>4</a:t>
            </a:r>
            <a:endParaRPr lang="en-US" sz="1500" dirty="0"/>
          </a:p>
        </p:txBody>
      </p:sp>
      <p:sp>
        <p:nvSpPr>
          <p:cNvPr id="21" name="Text 19"/>
          <p:cNvSpPr txBox="1"/>
          <p:nvPr/>
        </p:nvSpPr>
        <p:spPr>
          <a:xfrm>
            <a:off x="1298448" y="4946904"/>
            <a:ext cx="2011680" cy="457200"/>
          </a:xfrm>
          <a:prstGeom prst="rect">
            <a:avLst/>
          </a:prstGeom>
          <a:noFill/>
          <a:ln/>
        </p:spPr>
        <p:txBody>
          <a:bodyPr wrap="square" lIns="0" tIns="0" rIns="0" bIns="0" rtlCol="0" anchor="ctr"/>
          <a:lstStyle/>
          <a:p>
            <a:pPr marL="0" indent="0">
              <a:buNone/>
            </a:pPr>
            <a:endParaRPr lang="en-US" sz="2300" dirty="0"/>
          </a:p>
        </p:txBody>
      </p:sp>
      <p:sp>
        <p:nvSpPr>
          <p:cNvPr id="22" name="Text 20"/>
          <p:cNvSpPr txBox="1"/>
          <p:nvPr/>
        </p:nvSpPr>
        <p:spPr>
          <a:xfrm>
            <a:off x="3383280" y="4983480"/>
            <a:ext cx="3200400" cy="365760"/>
          </a:xfrm>
          <a:prstGeom prst="rect">
            <a:avLst/>
          </a:prstGeom>
          <a:noFill/>
          <a:ln/>
        </p:spPr>
        <p:txBody>
          <a:bodyPr wrap="square" lIns="0" tIns="0" rIns="0" bIns="0" rtlCol="0" anchor="ctr"/>
          <a:lstStyle/>
          <a:p>
            <a:pPr marL="0" indent="0">
              <a:buNone/>
            </a:pPr>
            <a:r>
              <a:rPr lang="en-US" sz="1400" b="1" dirty="0">
                <a:solidFill>
                  <a:srgbClr val="12345F"/>
                </a:solidFill>
                <a:latin typeface="Aptos" pitchFamily="34" charset="0"/>
                <a:ea typeface="Calibri" pitchFamily="34" charset="-122"/>
                <a:cs typeface="Calibri" pitchFamily="34" charset="-120"/>
              </a:rPr>
              <a:t>Prioriser l’action</a:t>
            </a:r>
            <a:endParaRPr lang="en-US" sz="1400" dirty="0"/>
          </a:p>
        </p:txBody>
      </p:sp>
      <p:sp>
        <p:nvSpPr>
          <p:cNvPr id="23" name="Text 21"/>
          <p:cNvSpPr txBox="1"/>
          <p:nvPr/>
        </p:nvSpPr>
        <p:spPr>
          <a:xfrm>
            <a:off x="3383280" y="5330952"/>
            <a:ext cx="3931920" cy="548640"/>
          </a:xfrm>
          <a:prstGeom prst="rect">
            <a:avLst/>
          </a:prstGeom>
          <a:noFill/>
          <a:ln/>
        </p:spPr>
        <p:txBody>
          <a:bodyPr wrap="square" lIns="0" tIns="0" rIns="0" bIns="0" rtlCol="0" anchor="ctr"/>
          <a:lstStyle/>
          <a:p>
            <a:pPr marL="0" indent="0">
              <a:buNone/>
            </a:pPr>
            <a:r>
              <a:rPr lang="en-US" sz="1100" dirty="0">
                <a:solidFill>
                  <a:srgbClr val="12345F"/>
                </a:solidFill>
                <a:latin typeface="Aptos" pitchFamily="34" charset="0"/>
                <a:ea typeface="Calibri" pitchFamily="34" charset="-122"/>
                <a:cs typeface="Calibri" pitchFamily="34" charset="-120"/>
              </a:rPr>
              <a:t>Déficit × poids de population × bonus zone blanche
Classement transparent et recommandations ciblées.</a:t>
            </a:r>
            <a:endParaRPr lang="en-US" sz="1100" dirty="0"/>
          </a:p>
        </p:txBody>
      </p:sp>
      <p:sp>
        <p:nvSpPr>
          <p:cNvPr id="24" name="Shape 22"/>
          <p:cNvSpPr/>
          <p:nvPr/>
        </p:nvSpPr>
        <p:spPr>
          <a:xfrm>
            <a:off x="7635240" y="1600200"/>
            <a:ext cx="3886200" cy="4297680"/>
          </a:xfrm>
          <a:prstGeom prst="roundRect">
            <a:avLst>
              <a:gd name="adj" fmla="val 1882"/>
            </a:avLst>
          </a:prstGeom>
          <a:solidFill>
            <a:srgbClr val="EAF1FB"/>
          </a:solidFill>
          <a:ln w="12700">
            <a:solidFill>
              <a:srgbClr val="EAF1FB"/>
            </a:solidFill>
            <a:prstDash val="solid"/>
          </a:ln>
        </p:spPr>
        <p:txBody>
          <a:bodyPr/>
          <a:lstStyle/>
          <a:p>
            <a:endParaRPr/>
          </a:p>
        </p:txBody>
      </p:sp>
      <p:sp>
        <p:nvSpPr>
          <p:cNvPr id="25" name="Text 23"/>
          <p:cNvSpPr txBox="1"/>
          <p:nvPr/>
        </p:nvSpPr>
        <p:spPr>
          <a:xfrm>
            <a:off x="7973568" y="1828800"/>
            <a:ext cx="3291840" cy="365760"/>
          </a:xfrm>
          <a:prstGeom prst="rect">
            <a:avLst/>
          </a:prstGeom>
          <a:noFill/>
          <a:ln/>
        </p:spPr>
        <p:txBody>
          <a:bodyPr wrap="square" lIns="0" tIns="0" rIns="0" bIns="0" rtlCol="0" anchor="ctr"/>
          <a:lstStyle/>
          <a:p>
            <a:pPr marL="0" indent="0">
              <a:buNone/>
            </a:pPr>
            <a:r>
              <a:rPr lang="en-US" sz="1600" b="1" dirty="0">
                <a:solidFill>
                  <a:srgbClr val="12345F"/>
                </a:solidFill>
                <a:latin typeface="Aptos" pitchFamily="34" charset="0"/>
                <a:ea typeface="Cambria" pitchFamily="34" charset="-122"/>
                <a:cs typeface="Cambria" pitchFamily="34" charset="-120"/>
              </a:rPr>
              <a:t>Ce que mesure l’étude</a:t>
            </a:r>
            <a:endParaRPr lang="en-US" sz="1600" dirty="0"/>
          </a:p>
        </p:txBody>
      </p:sp>
      <p:sp>
        <p:nvSpPr>
          <p:cNvPr id="26" name="Text 24"/>
          <p:cNvSpPr txBox="1"/>
          <p:nvPr/>
        </p:nvSpPr>
        <p:spPr>
          <a:xfrm>
            <a:off x="7973568" y="2286000"/>
            <a:ext cx="3246120" cy="3383280"/>
          </a:xfrm>
          <a:prstGeom prst="rect">
            <a:avLst/>
          </a:prstGeom>
          <a:noFill/>
          <a:ln/>
        </p:spPr>
        <p:txBody>
          <a:bodyPr wrap="square" lIns="0" tIns="0" rIns="0" bIns="0" rtlCol="0" anchor="ctr"/>
          <a:lstStyle/>
          <a:p>
            <a:pPr marL="0" indent="0">
              <a:lnSpc>
                <a:spcPts val="1600"/>
              </a:lnSpc>
              <a:buNone/>
            </a:pPr>
            <a:r>
              <a:rPr lang="en-US" sz="1150" b="1" dirty="0">
                <a:solidFill>
                  <a:srgbClr val="0B0B0B"/>
                </a:solidFill>
                <a:latin typeface="Aptos" pitchFamily="34" charset="0"/>
                <a:ea typeface="Calibri" pitchFamily="34" charset="-122"/>
                <a:cs typeface="Calibri" pitchFamily="34" charset="-120"/>
              </a:rPr>
              <a:t>Accès aux points de service : la couverture radio n’est pas mesurée.
Résultats descriptifs : les données sont un inventaire, pas un échantillon.
Norme explicite : « attendu » signifie une répartition proportionnelle à la population.</a:t>
            </a:r>
            <a:endParaRPr lang="en-US" sz="1150" dirty="0"/>
          </a:p>
          <a:p>
            <a:pPr marL="0" indent="0">
              <a:lnSpc>
                <a:spcPts val="1600"/>
              </a:lnSpc>
              <a:buNone/>
            </a:pPr>
            <a:endParaRPr lang="en-US" sz="1150" dirty="0"/>
          </a:p>
          <a:p>
            <a:pPr marL="0" indent="0">
              <a:lnSpc>
                <a:spcPts val="1600"/>
              </a:lnSpc>
              <a:buNone/>
            </a:pPr>
            <a:endParaRPr lang="en-US" sz="1150" dirty="0"/>
          </a:p>
          <a:p>
            <a:pPr marL="0" indent="0">
              <a:lnSpc>
                <a:spcPts val="1600"/>
              </a:lnSpc>
              <a:buNone/>
            </a:pPr>
            <a:endParaRPr lang="en-US" sz="1150" dirty="0"/>
          </a:p>
          <a:p>
            <a:pPr marL="0" indent="0">
              <a:lnSpc>
                <a:spcPts val="1600"/>
              </a:lnSpc>
              <a:buNone/>
            </a:pPr>
            <a:endParaRPr lang="en-US" sz="1150" dirty="0"/>
          </a:p>
          <a:p>
            <a:pPr marL="0" indent="0">
              <a:lnSpc>
                <a:spcPts val="1600"/>
              </a:lnSpc>
              <a:buNone/>
            </a:pPr>
            <a:endParaRPr lang="en-US" sz="1150" dirty="0"/>
          </a:p>
          <a:p>
            <a:pPr marL="0" indent="0">
              <a:lnSpc>
                <a:spcPts val="1600"/>
              </a:lnSpc>
              <a:buNone/>
            </a:pPr>
            <a:endParaRPr lang="en-US" sz="1150" dirty="0"/>
          </a:p>
        </p:txBody>
      </p:sp>
      <p:sp>
        <p:nvSpPr>
          <p:cNvPr id="27" name="Text 25"/>
          <p:cNvSpPr txBox="1"/>
          <p:nvPr/>
        </p:nvSpPr>
        <p:spPr>
          <a:xfrm>
            <a:off x="640080" y="6236208"/>
            <a:ext cx="10881360" cy="365760"/>
          </a:xfrm>
          <a:prstGeom prst="rect">
            <a:avLst/>
          </a:prstGeom>
          <a:noFill/>
          <a:ln/>
        </p:spPr>
        <p:txBody>
          <a:bodyPr wrap="square" lIns="0" tIns="0" rIns="0" bIns="0" rtlCol="0" anchor="ctr"/>
          <a:lstStyle/>
          <a:p>
            <a:pPr marL="0" indent="0">
              <a:buNone/>
            </a:pPr>
            <a:r>
              <a:rPr lang="en-US" sz="1400" dirty="0">
                <a:solidFill>
                  <a:srgbClr val="0B0B0B"/>
                </a:solidFill>
                <a:latin typeface="Aptos" pitchFamily="34" charset="0"/>
                <a:ea typeface="Calibri" pitchFamily="34" charset="-122"/>
                <a:cs typeface="Calibri" pitchFamily="34" charset="-120"/>
              </a:rPr>
              <a:t>Chaîne reproductible : sources → scripts Python → indicateurs → dashboard et rapport.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CFB"/>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ctr"/>
          <a:lstStyle/>
          <a:p>
            <a:pPr marL="0" indent="0">
              <a:buNone/>
            </a:pPr>
            <a:r>
              <a:rPr lang="en-US" sz="1100" b="1" kern="0" spc="200" dirty="0">
                <a:solidFill>
                  <a:srgbClr val="12345F"/>
                </a:solidFill>
                <a:latin typeface="Aptos" pitchFamily="34" charset="0"/>
                <a:ea typeface="Calibri" pitchFamily="34" charset="-122"/>
                <a:cs typeface="Calibri" pitchFamily="34" charset="-120"/>
              </a:rPr>
              <a:t>RÉSULTAT 1</a:t>
            </a:r>
            <a:endParaRPr lang="en-US" sz="1100" dirty="0"/>
          </a:p>
        </p:txBody>
      </p:sp>
      <p:sp>
        <p:nvSpPr>
          <p:cNvPr id="3" name="Text 1"/>
          <p:cNvSpPr txBox="1"/>
          <p:nvPr/>
        </p:nvSpPr>
        <p:spPr>
          <a:xfrm>
            <a:off x="640080" y="658368"/>
            <a:ext cx="10881360" cy="658368"/>
          </a:xfrm>
          <a:prstGeom prst="rect">
            <a:avLst/>
          </a:prstGeom>
          <a:noFill/>
          <a:ln/>
        </p:spPr>
        <p:txBody>
          <a:bodyPr wrap="square" lIns="0" tIns="0" rIns="0" bIns="0" rtlCol="0" anchor="ctr"/>
          <a:lstStyle/>
          <a:p>
            <a:pPr marL="0" indent="0">
              <a:buNone/>
            </a:pPr>
            <a:r>
              <a:rPr lang="en-US" sz="3000" b="1" dirty="0">
                <a:solidFill>
                  <a:srgbClr val="12345F"/>
                </a:solidFill>
                <a:latin typeface="Aptos" pitchFamily="34" charset="0"/>
                <a:ea typeface="Cambria" pitchFamily="34" charset="-122"/>
                <a:cs typeface="Cambria" pitchFamily="34" charset="-120"/>
              </a:rPr>
              <a:t>Rapporté aux habitants, le Sud n’est pas le mieux servi</a:t>
            </a:r>
            <a:endParaRPr lang="en-US" sz="3000" dirty="0"/>
          </a:p>
        </p:txBody>
      </p:sp>
      <p:pic>
        <p:nvPicPr>
          <p:cNvPr id="4" name="Image 0" descr="img/carte_acces.png"/>
          <p:cNvPicPr>
            <a:picLocks noChangeAspect="1"/>
          </p:cNvPicPr>
          <p:nvPr/>
        </p:nvPicPr>
        <p:blipFill>
          <a:blip r:embed="rId3"/>
          <a:stretch>
            <a:fillRect/>
          </a:stretch>
        </p:blipFill>
        <p:spPr>
          <a:xfrm>
            <a:off x="640080" y="1417320"/>
            <a:ext cx="3291840" cy="4480560"/>
          </a:xfrm>
          <a:prstGeom prst="rect">
            <a:avLst/>
          </a:prstGeom>
        </p:spPr>
      </p:pic>
      <p:graphicFrame>
        <p:nvGraphicFramePr>
          <p:cNvPr id="5" name="Chart 0"/>
          <p:cNvGraphicFramePr/>
          <p:nvPr/>
        </p:nvGraphicFramePr>
        <p:xfrm>
          <a:off x="4114800" y="1554480"/>
          <a:ext cx="4206240" cy="2834640"/>
        </p:xfrm>
        <a:graphic>
          <a:graphicData uri="http://schemas.openxmlformats.org/drawingml/2006/chart">
            <c:chart xmlns:c="http://schemas.openxmlformats.org/drawingml/2006/chart" xmlns:r="http://schemas.openxmlformats.org/officeDocument/2006/relationships" r:id="rId4"/>
          </a:graphicData>
        </a:graphic>
      </p:graphicFrame>
      <p:sp>
        <p:nvSpPr>
          <p:cNvPr id="6" name="Text 2"/>
          <p:cNvSpPr txBox="1"/>
          <p:nvPr/>
        </p:nvSpPr>
        <p:spPr>
          <a:xfrm>
            <a:off x="3657601" y="5500497"/>
            <a:ext cx="8020050" cy="711327"/>
          </a:xfrm>
          <a:prstGeom prst="rect">
            <a:avLst/>
          </a:prstGeom>
          <a:solidFill>
            <a:schemeClr val="accent6">
              <a:lumMod val="60000"/>
              <a:lumOff val="40000"/>
            </a:schemeClr>
          </a:solidFill>
          <a:ln/>
        </p:spPr>
        <p:txBody>
          <a:bodyPr wrap="square" lIns="0" tIns="0" rIns="0" bIns="0" rtlCol="0" anchor="ctr"/>
          <a:lstStyle/>
          <a:p>
            <a:pPr marL="0" indent="0">
              <a:buNone/>
            </a:pPr>
            <a:r>
              <a:rPr lang="en-US" sz="1400" b="1" dirty="0">
                <a:solidFill>
                  <a:srgbClr val="0B0B0B"/>
                </a:solidFill>
                <a:latin typeface="Aptos" pitchFamily="34" charset="0"/>
                <a:ea typeface="Calibri" pitchFamily="34" charset="-122"/>
                <a:cs typeface="Calibri" pitchFamily="34" charset="-120"/>
              </a:rPr>
              <a:t>Le classement en valeur absolue dit </a:t>
            </a:r>
            <a:r>
              <a:rPr lang="en-US" sz="1400" b="1" dirty="0" err="1">
                <a:solidFill>
                  <a:srgbClr val="0B0B0B"/>
                </a:solidFill>
                <a:latin typeface="Aptos" pitchFamily="34" charset="0"/>
                <a:ea typeface="Calibri" pitchFamily="34" charset="-122"/>
                <a:cs typeface="Calibri" pitchFamily="34" charset="-120"/>
              </a:rPr>
              <a:t>l’inverse</a:t>
            </a:r>
            <a:r>
              <a:rPr lang="en-US" sz="1400" b="1" dirty="0">
                <a:solidFill>
                  <a:srgbClr val="0B0B0B"/>
                </a:solidFill>
                <a:latin typeface="Aptos" pitchFamily="34" charset="0"/>
                <a:ea typeface="Calibri" pitchFamily="34" charset="-122"/>
                <a:cs typeface="Calibri" pitchFamily="34" charset="-120"/>
              </a:rPr>
              <a:t> :</a:t>
            </a:r>
          </a:p>
          <a:p>
            <a:pPr marL="0" indent="0">
              <a:buNone/>
            </a:pPr>
            <a:r>
              <a:rPr lang="en-US" sz="1400" b="1" dirty="0">
                <a:solidFill>
                  <a:srgbClr val="0B0B0B"/>
                </a:solidFill>
                <a:latin typeface="Aptos" pitchFamily="34" charset="0"/>
                <a:ea typeface="Calibri" pitchFamily="34" charset="-122"/>
                <a:cs typeface="Calibri" pitchFamily="34" charset="-120"/>
              </a:rPr>
              <a:t> </a:t>
            </a:r>
            <a:r>
              <a:rPr lang="en-US" sz="1400" dirty="0">
                <a:solidFill>
                  <a:srgbClr val="0B0B0B"/>
                </a:solidFill>
                <a:latin typeface="Aptos" pitchFamily="34" charset="0"/>
                <a:ea typeface="Calibri" pitchFamily="34" charset="-122"/>
                <a:cs typeface="Calibri" pitchFamily="34" charset="-120"/>
              </a:rPr>
              <a:t>Maritime concentre </a:t>
            </a:r>
            <a:r>
              <a:rPr lang="en-US" sz="1400" b="1" dirty="0">
                <a:solidFill>
                  <a:srgbClr val="0B0B0B"/>
                </a:solidFill>
                <a:latin typeface="Aptos" pitchFamily="34" charset="0"/>
                <a:ea typeface="Calibri" pitchFamily="34" charset="-122"/>
                <a:cs typeface="Calibri" pitchFamily="34" charset="-120"/>
              </a:rPr>
              <a:t>45 % </a:t>
            </a:r>
            <a:r>
              <a:rPr lang="en-US" sz="1400" dirty="0">
                <a:solidFill>
                  <a:srgbClr val="0B0B0B"/>
                </a:solidFill>
                <a:latin typeface="Aptos" pitchFamily="34" charset="0"/>
                <a:ea typeface="Calibri" pitchFamily="34" charset="-122"/>
                <a:cs typeface="Calibri" pitchFamily="34" charset="-120"/>
              </a:rPr>
              <a:t>des points de service. C’est le </a:t>
            </a:r>
            <a:r>
              <a:rPr lang="en-US" sz="1400" dirty="0" err="1">
                <a:solidFill>
                  <a:srgbClr val="0B0B0B"/>
                </a:solidFill>
                <a:latin typeface="Aptos" pitchFamily="34" charset="0"/>
                <a:ea typeface="Calibri" pitchFamily="34" charset="-122"/>
                <a:cs typeface="Calibri" pitchFamily="34" charset="-120"/>
              </a:rPr>
              <a:t>dénominateur</a:t>
            </a:r>
            <a:r>
              <a:rPr lang="en-US" sz="1400" b="1" dirty="0">
                <a:solidFill>
                  <a:srgbClr val="0B0B0B"/>
                </a:solidFill>
                <a:latin typeface="Aptos" pitchFamily="34" charset="0"/>
                <a:ea typeface="Calibri" pitchFamily="34" charset="-122"/>
                <a:cs typeface="Calibri" pitchFamily="34" charset="-120"/>
              </a:rPr>
              <a:t>, la population </a:t>
            </a:r>
            <a:r>
              <a:rPr lang="en-US" sz="1400" dirty="0">
                <a:solidFill>
                  <a:srgbClr val="0B0B0B"/>
                </a:solidFill>
                <a:latin typeface="Aptos" pitchFamily="34" charset="0"/>
                <a:ea typeface="Calibri" pitchFamily="34" charset="-122"/>
                <a:cs typeface="Calibri" pitchFamily="34" charset="-120"/>
              </a:rPr>
              <a:t>qui renverse la lecture.</a:t>
            </a:r>
            <a:endParaRPr lang="en-US" sz="1400" dirty="0"/>
          </a:p>
        </p:txBody>
      </p:sp>
      <p:sp>
        <p:nvSpPr>
          <p:cNvPr id="7" name="Shape 3"/>
          <p:cNvSpPr/>
          <p:nvPr/>
        </p:nvSpPr>
        <p:spPr>
          <a:xfrm>
            <a:off x="8595360" y="1554480"/>
            <a:ext cx="2926080" cy="1481328"/>
          </a:xfrm>
          <a:prstGeom prst="roundRect">
            <a:avLst>
              <a:gd name="adj" fmla="val 4938"/>
            </a:avLst>
          </a:prstGeom>
          <a:solidFill>
            <a:srgbClr val="EAF1FB"/>
          </a:solidFill>
          <a:ln w="12700">
            <a:solidFill>
              <a:srgbClr val="EAF1FB"/>
            </a:solidFill>
            <a:prstDash val="solid"/>
          </a:ln>
        </p:spPr>
        <p:txBody>
          <a:bodyPr/>
          <a:lstStyle/>
          <a:p>
            <a:endParaRPr/>
          </a:p>
        </p:txBody>
      </p:sp>
      <p:sp>
        <p:nvSpPr>
          <p:cNvPr id="8" name="Text 4"/>
          <p:cNvSpPr txBox="1"/>
          <p:nvPr/>
        </p:nvSpPr>
        <p:spPr>
          <a:xfrm>
            <a:off x="8851392" y="1719072"/>
            <a:ext cx="2468880" cy="658368"/>
          </a:xfrm>
          <a:prstGeom prst="rect">
            <a:avLst/>
          </a:prstGeom>
          <a:noFill/>
          <a:ln/>
        </p:spPr>
        <p:txBody>
          <a:bodyPr wrap="square" lIns="0" tIns="0" rIns="0" bIns="0" rtlCol="0" anchor="ctr"/>
          <a:lstStyle/>
          <a:p>
            <a:pPr marL="0" indent="0">
              <a:buNone/>
            </a:pPr>
            <a:r>
              <a:rPr lang="en-US" sz="3400" b="1" dirty="0">
                <a:solidFill>
                  <a:srgbClr val="12345F"/>
                </a:solidFill>
                <a:latin typeface="Aptos" pitchFamily="34" charset="0"/>
                <a:ea typeface="Cambria" pitchFamily="34" charset="-122"/>
                <a:cs typeface="Cambria" pitchFamily="34" charset="-120"/>
              </a:rPr>
              <a:t>3ᵉ</a:t>
            </a:r>
            <a:endParaRPr lang="en-US" sz="3400" dirty="0"/>
          </a:p>
        </p:txBody>
      </p:sp>
      <p:sp>
        <p:nvSpPr>
          <p:cNvPr id="9" name="Text 5"/>
          <p:cNvSpPr txBox="1"/>
          <p:nvPr/>
        </p:nvSpPr>
        <p:spPr>
          <a:xfrm>
            <a:off x="8851392" y="2377440"/>
            <a:ext cx="2468880" cy="237744"/>
          </a:xfrm>
          <a:prstGeom prst="rect">
            <a:avLst/>
          </a:prstGeom>
          <a:noFill/>
          <a:ln/>
        </p:spPr>
        <p:txBody>
          <a:bodyPr wrap="square" lIns="0" tIns="0" rIns="0" bIns="0" rtlCol="0" anchor="ctr"/>
          <a:lstStyle/>
          <a:p>
            <a:pPr marL="0" indent="0">
              <a:buNone/>
            </a:pPr>
            <a:r>
              <a:rPr lang="en-US" sz="1200" b="1" dirty="0">
                <a:solidFill>
                  <a:srgbClr val="12345F"/>
                </a:solidFill>
                <a:latin typeface="Aptos" pitchFamily="34" charset="0"/>
                <a:ea typeface="Calibri" pitchFamily="34" charset="-122"/>
                <a:cs typeface="Calibri" pitchFamily="34" charset="-120"/>
              </a:rPr>
              <a:t>Rang de Maritime</a:t>
            </a:r>
            <a:endParaRPr lang="en-US" sz="1200" dirty="0"/>
          </a:p>
        </p:txBody>
      </p:sp>
      <p:sp>
        <p:nvSpPr>
          <p:cNvPr id="10" name="Text 6"/>
          <p:cNvSpPr txBox="1"/>
          <p:nvPr/>
        </p:nvSpPr>
        <p:spPr>
          <a:xfrm>
            <a:off x="8851392" y="2615184"/>
            <a:ext cx="2468880" cy="310896"/>
          </a:xfrm>
          <a:prstGeom prst="rect">
            <a:avLst/>
          </a:prstGeom>
          <a:noFill/>
          <a:ln/>
        </p:spPr>
        <p:txBody>
          <a:bodyPr wrap="square" lIns="0" tIns="0" rIns="0" bIns="0" rtlCol="0" anchor="ctr"/>
          <a:lstStyle/>
          <a:p>
            <a:pPr marL="0" indent="0">
              <a:buNone/>
            </a:pPr>
            <a:r>
              <a:rPr lang="en-US" sz="1000" dirty="0">
                <a:solidFill>
                  <a:srgbClr val="12345F"/>
                </a:solidFill>
                <a:latin typeface="Aptos" pitchFamily="34" charset="0"/>
                <a:ea typeface="Calibri" pitchFamily="34" charset="-122"/>
                <a:cs typeface="Calibri" pitchFamily="34" charset="-120"/>
              </a:rPr>
              <a:t>en accès par habitant</a:t>
            </a:r>
            <a:endParaRPr lang="en-US" sz="1000" dirty="0"/>
          </a:p>
        </p:txBody>
      </p:sp>
      <p:sp>
        <p:nvSpPr>
          <p:cNvPr id="11" name="Shape 7"/>
          <p:cNvSpPr/>
          <p:nvPr/>
        </p:nvSpPr>
        <p:spPr>
          <a:xfrm>
            <a:off x="8595360" y="3200400"/>
            <a:ext cx="2926080" cy="1481328"/>
          </a:xfrm>
          <a:prstGeom prst="roundRect">
            <a:avLst>
              <a:gd name="adj" fmla="val 4938"/>
            </a:avLst>
          </a:prstGeom>
          <a:solidFill>
            <a:srgbClr val="EAF1FB"/>
          </a:solidFill>
          <a:ln w="12700">
            <a:solidFill>
              <a:srgbClr val="EAF1FB"/>
            </a:solidFill>
            <a:prstDash val="solid"/>
          </a:ln>
        </p:spPr>
        <p:txBody>
          <a:bodyPr/>
          <a:lstStyle/>
          <a:p>
            <a:endParaRPr/>
          </a:p>
        </p:txBody>
      </p:sp>
      <p:sp>
        <p:nvSpPr>
          <p:cNvPr id="12" name="Text 8"/>
          <p:cNvSpPr txBox="1"/>
          <p:nvPr/>
        </p:nvSpPr>
        <p:spPr>
          <a:xfrm>
            <a:off x="8851392" y="3364992"/>
            <a:ext cx="2468880" cy="658368"/>
          </a:xfrm>
          <a:prstGeom prst="rect">
            <a:avLst/>
          </a:prstGeom>
          <a:noFill/>
          <a:ln/>
        </p:spPr>
        <p:txBody>
          <a:bodyPr wrap="square" lIns="0" tIns="0" rIns="0" bIns="0" rtlCol="0" anchor="ctr"/>
          <a:lstStyle/>
          <a:p>
            <a:pPr marL="0" indent="0">
              <a:buNone/>
            </a:pPr>
            <a:r>
              <a:rPr lang="en-US" sz="3400" b="1" dirty="0">
                <a:solidFill>
                  <a:srgbClr val="12345F"/>
                </a:solidFill>
                <a:latin typeface="Aptos" pitchFamily="34" charset="0"/>
                <a:ea typeface="Cambria" pitchFamily="34" charset="-122"/>
                <a:cs typeface="Cambria" pitchFamily="34" charset="-120"/>
              </a:rPr>
              <a:t>Plateaux</a:t>
            </a:r>
            <a:endParaRPr lang="en-US" sz="3400" dirty="0"/>
          </a:p>
        </p:txBody>
      </p:sp>
      <p:sp>
        <p:nvSpPr>
          <p:cNvPr id="13" name="Text 9"/>
          <p:cNvSpPr txBox="1"/>
          <p:nvPr/>
        </p:nvSpPr>
        <p:spPr>
          <a:xfrm>
            <a:off x="8851392" y="4023360"/>
            <a:ext cx="2468880" cy="237744"/>
          </a:xfrm>
          <a:prstGeom prst="rect">
            <a:avLst/>
          </a:prstGeom>
          <a:noFill/>
          <a:ln/>
        </p:spPr>
        <p:txBody>
          <a:bodyPr wrap="square" lIns="0" tIns="0" rIns="0" bIns="0" rtlCol="0" anchor="ctr"/>
          <a:lstStyle/>
          <a:p>
            <a:pPr marL="0" indent="0">
              <a:buNone/>
            </a:pPr>
            <a:r>
              <a:rPr lang="en-US" sz="1200" b="1" dirty="0">
                <a:solidFill>
                  <a:srgbClr val="12345F"/>
                </a:solidFill>
                <a:latin typeface="Aptos" pitchFamily="34" charset="0"/>
                <a:ea typeface="Calibri" pitchFamily="34" charset="-122"/>
                <a:cs typeface="Calibri" pitchFamily="34" charset="-120"/>
              </a:rPr>
              <a:t>Région la moins dotée</a:t>
            </a:r>
            <a:endParaRPr lang="en-US" sz="1200" dirty="0"/>
          </a:p>
        </p:txBody>
      </p:sp>
      <p:sp>
        <p:nvSpPr>
          <p:cNvPr id="14" name="Text 10"/>
          <p:cNvSpPr txBox="1"/>
          <p:nvPr/>
        </p:nvSpPr>
        <p:spPr>
          <a:xfrm>
            <a:off x="8851392" y="4261104"/>
            <a:ext cx="2468880" cy="310896"/>
          </a:xfrm>
          <a:prstGeom prst="rect">
            <a:avLst/>
          </a:prstGeom>
          <a:noFill/>
          <a:ln/>
        </p:spPr>
        <p:txBody>
          <a:bodyPr wrap="square" lIns="0" tIns="0" rIns="0" bIns="0" rtlCol="0" anchor="ctr"/>
          <a:lstStyle/>
          <a:p>
            <a:pPr marL="0" indent="0">
              <a:buNone/>
            </a:pPr>
            <a:r>
              <a:rPr lang="en-US" sz="1000" dirty="0">
                <a:solidFill>
                  <a:srgbClr val="12345F"/>
                </a:solidFill>
                <a:latin typeface="Aptos" pitchFamily="34" charset="0"/>
                <a:ea typeface="Calibri" pitchFamily="34" charset="-122"/>
                <a:cs typeface="Calibri" pitchFamily="34" charset="-120"/>
              </a:rPr>
              <a:t>18,8 points / 10 000 hab.</a:t>
            </a:r>
            <a:endParaRPr lang="en-US" sz="1000" dirty="0"/>
          </a:p>
        </p:txBody>
      </p:sp>
      <p:sp>
        <p:nvSpPr>
          <p:cNvPr id="16" name="Text 12"/>
          <p:cNvSpPr txBox="1"/>
          <p:nvPr/>
        </p:nvSpPr>
        <p:spPr>
          <a:xfrm>
            <a:off x="640080" y="6473952"/>
            <a:ext cx="10881360" cy="365760"/>
          </a:xfrm>
          <a:prstGeom prst="rect">
            <a:avLst/>
          </a:prstGeom>
          <a:noFill/>
          <a:ln/>
        </p:spPr>
        <p:txBody>
          <a:bodyPr wrap="square" lIns="0" tIns="0" rIns="0" bIns="0" rtlCol="0" anchor="ctr"/>
          <a:lstStyle/>
          <a:p>
            <a:pPr marL="0" indent="0">
              <a:buNone/>
            </a:pPr>
            <a:r>
              <a:rPr lang="en-US" sz="1100" dirty="0">
                <a:solidFill>
                  <a:srgbClr val="12345F"/>
                </a:solidFill>
                <a:latin typeface="Aptos" pitchFamily="34" charset="0"/>
                <a:ea typeface="Calibri" pitchFamily="34" charset="-122"/>
                <a:cs typeface="Calibri" pitchFamily="34" charset="-120"/>
              </a:rPr>
              <a:t>Source : Géoportail Géodata Togo (extraction du 9 septembre 2026) et RGPH-5, INSEED 2022.</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CFB"/>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ctr"/>
          <a:lstStyle/>
          <a:p>
            <a:pPr marL="0" indent="0">
              <a:buNone/>
            </a:pPr>
            <a:r>
              <a:rPr lang="en-US" sz="1100" b="1" kern="0" spc="200" dirty="0">
                <a:solidFill>
                  <a:srgbClr val="12345F"/>
                </a:solidFill>
                <a:latin typeface="Aptos" pitchFamily="34" charset="0"/>
                <a:ea typeface="Calibri" pitchFamily="34" charset="-122"/>
                <a:cs typeface="Calibri" pitchFamily="34" charset="-120"/>
              </a:rPr>
              <a:t>RÉSULTAT 2</a:t>
            </a:r>
            <a:endParaRPr lang="en-US" sz="1100" dirty="0"/>
          </a:p>
        </p:txBody>
      </p:sp>
      <p:sp>
        <p:nvSpPr>
          <p:cNvPr id="3" name="Text 1"/>
          <p:cNvSpPr txBox="1"/>
          <p:nvPr/>
        </p:nvSpPr>
        <p:spPr>
          <a:xfrm>
            <a:off x="640080" y="658368"/>
            <a:ext cx="10881360" cy="658368"/>
          </a:xfrm>
          <a:prstGeom prst="rect">
            <a:avLst/>
          </a:prstGeom>
          <a:noFill/>
          <a:ln/>
        </p:spPr>
        <p:txBody>
          <a:bodyPr wrap="square" lIns="0" tIns="0" rIns="0" bIns="0" rtlCol="0" anchor="ctr"/>
          <a:lstStyle/>
          <a:p>
            <a:pPr marL="0" indent="0">
              <a:buNone/>
            </a:pPr>
            <a:r>
              <a:rPr lang="en-US" sz="3000" b="1" dirty="0">
                <a:solidFill>
                  <a:srgbClr val="12345F"/>
                </a:solidFill>
                <a:latin typeface="Aptos" pitchFamily="34" charset="0"/>
                <a:ea typeface="Cambria" pitchFamily="34" charset="-122"/>
                <a:cs typeface="Cambria" pitchFamily="34" charset="-120"/>
              </a:rPr>
              <a:t>12 préfectures sans le moindre guichet opérateur</a:t>
            </a:r>
            <a:endParaRPr lang="en-US" sz="3000" dirty="0"/>
          </a:p>
        </p:txBody>
      </p:sp>
      <p:sp>
        <p:nvSpPr>
          <p:cNvPr id="4" name="Shape 2"/>
          <p:cNvSpPr/>
          <p:nvPr/>
        </p:nvSpPr>
        <p:spPr>
          <a:xfrm>
            <a:off x="640080" y="1463040"/>
            <a:ext cx="3383280" cy="1481328"/>
          </a:xfrm>
          <a:prstGeom prst="roundRect">
            <a:avLst>
              <a:gd name="adj" fmla="val 4938"/>
            </a:avLst>
          </a:prstGeom>
          <a:solidFill>
            <a:srgbClr val="EAF1FB"/>
          </a:solidFill>
          <a:ln w="12700">
            <a:solidFill>
              <a:srgbClr val="EAF1FB"/>
            </a:solidFill>
            <a:prstDash val="solid"/>
          </a:ln>
        </p:spPr>
        <p:txBody>
          <a:bodyPr/>
          <a:lstStyle/>
          <a:p>
            <a:endParaRPr/>
          </a:p>
        </p:txBody>
      </p:sp>
      <p:sp>
        <p:nvSpPr>
          <p:cNvPr id="5" name="Text 3"/>
          <p:cNvSpPr txBox="1"/>
          <p:nvPr/>
        </p:nvSpPr>
        <p:spPr>
          <a:xfrm>
            <a:off x="896112" y="1627632"/>
            <a:ext cx="2926080" cy="658368"/>
          </a:xfrm>
          <a:prstGeom prst="rect">
            <a:avLst/>
          </a:prstGeom>
          <a:noFill/>
          <a:ln/>
        </p:spPr>
        <p:txBody>
          <a:bodyPr wrap="square" lIns="0" tIns="0" rIns="0" bIns="0" rtlCol="0" anchor="ctr"/>
          <a:lstStyle/>
          <a:p>
            <a:pPr marL="0" indent="0">
              <a:buNone/>
            </a:pPr>
            <a:r>
              <a:rPr lang="en-US" sz="3400" b="1" dirty="0">
                <a:solidFill>
                  <a:srgbClr val="12345F"/>
                </a:solidFill>
                <a:latin typeface="Aptos" pitchFamily="34" charset="0"/>
                <a:ea typeface="Cambria" pitchFamily="34" charset="-122"/>
                <a:cs typeface="Cambria" pitchFamily="34" charset="-120"/>
              </a:rPr>
              <a:t>1 446 869</a:t>
            </a:r>
            <a:endParaRPr lang="en-US" sz="3400" dirty="0"/>
          </a:p>
        </p:txBody>
      </p:sp>
      <p:sp>
        <p:nvSpPr>
          <p:cNvPr id="6" name="Text 4"/>
          <p:cNvSpPr txBox="1"/>
          <p:nvPr/>
        </p:nvSpPr>
        <p:spPr>
          <a:xfrm>
            <a:off x="896112" y="2286000"/>
            <a:ext cx="2926080" cy="237744"/>
          </a:xfrm>
          <a:prstGeom prst="rect">
            <a:avLst/>
          </a:prstGeom>
          <a:noFill/>
          <a:ln/>
        </p:spPr>
        <p:txBody>
          <a:bodyPr wrap="square" lIns="0" tIns="0" rIns="0" bIns="0" rtlCol="0" anchor="ctr"/>
          <a:lstStyle/>
          <a:p>
            <a:pPr marL="0" indent="0">
              <a:buNone/>
            </a:pPr>
            <a:r>
              <a:rPr lang="en-US" sz="1200" b="1" dirty="0">
                <a:solidFill>
                  <a:srgbClr val="12345F"/>
                </a:solidFill>
                <a:latin typeface="Aptos" pitchFamily="34" charset="0"/>
                <a:ea typeface="Calibri" pitchFamily="34" charset="-122"/>
                <a:cs typeface="Calibri" pitchFamily="34" charset="-120"/>
              </a:rPr>
              <a:t>Habitants concernés</a:t>
            </a:r>
            <a:endParaRPr lang="en-US" sz="1200" dirty="0"/>
          </a:p>
        </p:txBody>
      </p:sp>
      <p:sp>
        <p:nvSpPr>
          <p:cNvPr id="7" name="Text 5"/>
          <p:cNvSpPr txBox="1"/>
          <p:nvPr/>
        </p:nvSpPr>
        <p:spPr>
          <a:xfrm>
            <a:off x="896112" y="2523744"/>
            <a:ext cx="2926080" cy="310896"/>
          </a:xfrm>
          <a:prstGeom prst="rect">
            <a:avLst/>
          </a:prstGeom>
          <a:noFill/>
          <a:ln/>
        </p:spPr>
        <p:txBody>
          <a:bodyPr wrap="square" lIns="0" tIns="0" rIns="0" bIns="0" rtlCol="0" anchor="ctr"/>
          <a:lstStyle/>
          <a:p>
            <a:pPr marL="0" indent="0">
              <a:buNone/>
            </a:pPr>
            <a:r>
              <a:rPr lang="en-US" sz="1000" dirty="0">
                <a:solidFill>
                  <a:srgbClr val="12345F"/>
                </a:solidFill>
                <a:latin typeface="Aptos" pitchFamily="34" charset="0"/>
                <a:ea typeface="Calibri" pitchFamily="34" charset="-122"/>
                <a:cs typeface="Calibri" pitchFamily="34" charset="-120"/>
              </a:rPr>
              <a:t>17,9 % de la population du pays</a:t>
            </a:r>
            <a:endParaRPr lang="en-US" sz="1000" dirty="0"/>
          </a:p>
        </p:txBody>
      </p:sp>
      <p:sp>
        <p:nvSpPr>
          <p:cNvPr id="8" name="Shape 6"/>
          <p:cNvSpPr/>
          <p:nvPr/>
        </p:nvSpPr>
        <p:spPr>
          <a:xfrm>
            <a:off x="640080" y="3108960"/>
            <a:ext cx="3383280" cy="1481328"/>
          </a:xfrm>
          <a:prstGeom prst="roundRect">
            <a:avLst>
              <a:gd name="adj" fmla="val 4938"/>
            </a:avLst>
          </a:prstGeom>
          <a:solidFill>
            <a:srgbClr val="EAF1FB"/>
          </a:solidFill>
          <a:ln w="12700">
            <a:solidFill>
              <a:srgbClr val="EAF1FB"/>
            </a:solidFill>
            <a:prstDash val="solid"/>
          </a:ln>
        </p:spPr>
        <p:txBody>
          <a:bodyPr/>
          <a:lstStyle/>
          <a:p>
            <a:endParaRPr/>
          </a:p>
        </p:txBody>
      </p:sp>
      <p:sp>
        <p:nvSpPr>
          <p:cNvPr id="9" name="Text 7"/>
          <p:cNvSpPr txBox="1"/>
          <p:nvPr/>
        </p:nvSpPr>
        <p:spPr>
          <a:xfrm>
            <a:off x="896112" y="3273552"/>
            <a:ext cx="2926080" cy="658368"/>
          </a:xfrm>
          <a:prstGeom prst="rect">
            <a:avLst/>
          </a:prstGeom>
          <a:noFill/>
          <a:ln/>
        </p:spPr>
        <p:txBody>
          <a:bodyPr wrap="square" lIns="0" tIns="0" rIns="0" bIns="0" rtlCol="0" anchor="ctr"/>
          <a:lstStyle/>
          <a:p>
            <a:pPr marL="0" indent="0">
              <a:buNone/>
            </a:pPr>
            <a:r>
              <a:rPr lang="en-US" sz="3400" b="1" dirty="0">
                <a:solidFill>
                  <a:srgbClr val="12345F"/>
                </a:solidFill>
                <a:latin typeface="Aptos" pitchFamily="34" charset="0"/>
                <a:ea typeface="Cambria" pitchFamily="34" charset="-122"/>
                <a:cs typeface="Cambria" pitchFamily="34" charset="-120"/>
              </a:rPr>
              <a:t>12 / 39</a:t>
            </a:r>
            <a:endParaRPr lang="en-US" sz="3400" dirty="0"/>
          </a:p>
        </p:txBody>
      </p:sp>
      <p:sp>
        <p:nvSpPr>
          <p:cNvPr id="10" name="Text 8"/>
          <p:cNvSpPr txBox="1"/>
          <p:nvPr/>
        </p:nvSpPr>
        <p:spPr>
          <a:xfrm>
            <a:off x="896112" y="3931920"/>
            <a:ext cx="2926080" cy="237744"/>
          </a:xfrm>
          <a:prstGeom prst="rect">
            <a:avLst/>
          </a:prstGeom>
          <a:noFill/>
          <a:ln/>
        </p:spPr>
        <p:txBody>
          <a:bodyPr wrap="square" lIns="0" tIns="0" rIns="0" bIns="0" rtlCol="0" anchor="ctr"/>
          <a:lstStyle/>
          <a:p>
            <a:pPr marL="0" indent="0">
              <a:buNone/>
            </a:pPr>
            <a:r>
              <a:rPr lang="en-US" sz="1200" b="1" dirty="0">
                <a:solidFill>
                  <a:srgbClr val="12345F"/>
                </a:solidFill>
                <a:latin typeface="Aptos" pitchFamily="34" charset="0"/>
                <a:ea typeface="Calibri" pitchFamily="34" charset="-122"/>
                <a:cs typeface="Calibri" pitchFamily="34" charset="-120"/>
              </a:rPr>
              <a:t>Préfectures sans agence</a:t>
            </a:r>
            <a:endParaRPr lang="en-US" sz="1200" dirty="0"/>
          </a:p>
        </p:txBody>
      </p:sp>
      <p:sp>
        <p:nvSpPr>
          <p:cNvPr id="11" name="Text 9"/>
          <p:cNvSpPr txBox="1"/>
          <p:nvPr/>
        </p:nvSpPr>
        <p:spPr>
          <a:xfrm>
            <a:off x="896112" y="4169664"/>
            <a:ext cx="2926080" cy="310896"/>
          </a:xfrm>
          <a:prstGeom prst="rect">
            <a:avLst/>
          </a:prstGeom>
          <a:noFill/>
          <a:ln/>
        </p:spPr>
        <p:txBody>
          <a:bodyPr wrap="square" lIns="0" tIns="0" rIns="0" bIns="0" rtlCol="0" anchor="ctr"/>
          <a:lstStyle/>
          <a:p>
            <a:pPr marL="0" indent="0">
              <a:buNone/>
            </a:pPr>
            <a:r>
              <a:rPr lang="en-US" sz="1000" dirty="0">
                <a:solidFill>
                  <a:srgbClr val="12345F"/>
                </a:solidFill>
                <a:latin typeface="Aptos" pitchFamily="34" charset="0"/>
                <a:ea typeface="Calibri" pitchFamily="34" charset="-122"/>
                <a:cs typeface="Calibri" pitchFamily="34" charset="-120"/>
              </a:rPr>
              <a:t>aucun guichet opérateur ni point physique de souscription</a:t>
            </a:r>
            <a:endParaRPr lang="en-US" sz="1000" dirty="0"/>
          </a:p>
        </p:txBody>
      </p:sp>
      <p:sp>
        <p:nvSpPr>
          <p:cNvPr id="12" name="Text 10"/>
          <p:cNvSpPr txBox="1"/>
          <p:nvPr/>
        </p:nvSpPr>
        <p:spPr>
          <a:xfrm>
            <a:off x="640080" y="4800600"/>
            <a:ext cx="3383280" cy="1188720"/>
          </a:xfrm>
          <a:prstGeom prst="rect">
            <a:avLst/>
          </a:prstGeom>
          <a:noFill/>
          <a:ln/>
        </p:spPr>
        <p:txBody>
          <a:bodyPr wrap="square" lIns="0" tIns="0" rIns="0" bIns="0" rtlCol="0" anchor="ctr"/>
          <a:lstStyle/>
          <a:p>
            <a:pPr marL="0" indent="0">
              <a:buNone/>
            </a:pPr>
            <a:r>
              <a:rPr lang="en-US" sz="1200" dirty="0">
                <a:solidFill>
                  <a:srgbClr val="0B0B0B"/>
                </a:solidFill>
                <a:latin typeface="Aptos" pitchFamily="34" charset="0"/>
                <a:ea typeface="Calibri" pitchFamily="34" charset="-122"/>
                <a:cs typeface="Calibri" pitchFamily="34" charset="-120"/>
              </a:rPr>
              <a:t>Lacs et Vo dépassent chacune 220 000 habitants. Ce ne sont pas des marges : ce sont des territoires entiers sans porte d’entrée physique vers l’offre télécom.</a:t>
            </a:r>
            <a:endParaRPr lang="en-US" sz="1200" dirty="0"/>
          </a:p>
        </p:txBody>
      </p:sp>
      <p:graphicFrame>
        <p:nvGraphicFramePr>
          <p:cNvPr id="13" name="Chart 0"/>
          <p:cNvGraphicFramePr/>
          <p:nvPr/>
        </p:nvGraphicFramePr>
        <p:xfrm>
          <a:off x="4343400" y="1463040"/>
          <a:ext cx="7178040" cy="4526280"/>
        </p:xfrm>
        <a:graphic>
          <a:graphicData uri="http://schemas.openxmlformats.org/drawingml/2006/chart">
            <c:chart xmlns:c="http://schemas.openxmlformats.org/drawingml/2006/chart" xmlns:r="http://schemas.openxmlformats.org/officeDocument/2006/relationships" r:id="rId3"/>
          </a:graphicData>
        </a:graphic>
      </p:graphicFrame>
      <p:sp>
        <p:nvSpPr>
          <p:cNvPr id="14" name="Text 11"/>
          <p:cNvSpPr txBox="1"/>
          <p:nvPr/>
        </p:nvSpPr>
        <p:spPr>
          <a:xfrm>
            <a:off x="640080" y="6419088"/>
            <a:ext cx="10881360" cy="365760"/>
          </a:xfrm>
          <a:prstGeom prst="rect">
            <a:avLst/>
          </a:prstGeom>
          <a:noFill/>
          <a:ln/>
        </p:spPr>
        <p:txBody>
          <a:bodyPr wrap="square" lIns="0" tIns="0" rIns="0" bIns="0" rtlCol="0" anchor="ctr"/>
          <a:lstStyle/>
          <a:p>
            <a:pPr marL="0" indent="0">
              <a:buNone/>
            </a:pPr>
            <a:r>
              <a:rPr lang="en-US" sz="1400" b="1" dirty="0">
                <a:solidFill>
                  <a:srgbClr val="0B0B0B"/>
                </a:solidFill>
                <a:latin typeface="Aptos" pitchFamily="34" charset="0"/>
                <a:ea typeface="Calibri" pitchFamily="34" charset="-122"/>
                <a:cs typeface="Calibri" pitchFamily="34" charset="-120"/>
              </a:rPr>
              <a:t>Une agence n’est pas qu’un point de vente : c’est le lieu de la souscription, du SAV et de la réclamation.</a:t>
            </a:r>
            <a:endParaRPr lang="en-US" sz="1400"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CFB"/>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ctr"/>
          <a:lstStyle/>
          <a:p>
            <a:pPr marL="0" indent="0">
              <a:buNone/>
            </a:pPr>
            <a:r>
              <a:rPr lang="en-US" sz="1100" b="1" kern="0" spc="200" dirty="0">
                <a:solidFill>
                  <a:srgbClr val="12345F"/>
                </a:solidFill>
                <a:latin typeface="Aptos" pitchFamily="34" charset="0"/>
                <a:ea typeface="Calibri" pitchFamily="34" charset="-122"/>
                <a:cs typeface="Calibri" pitchFamily="34" charset="-120"/>
              </a:rPr>
              <a:t>RÉSULTAT 3 · ÉCHELLE CANTON</a:t>
            </a:r>
            <a:endParaRPr lang="en-US" sz="1100" dirty="0"/>
          </a:p>
        </p:txBody>
      </p:sp>
      <p:sp>
        <p:nvSpPr>
          <p:cNvPr id="3" name="Text 1"/>
          <p:cNvSpPr txBox="1"/>
          <p:nvPr/>
        </p:nvSpPr>
        <p:spPr>
          <a:xfrm>
            <a:off x="640080" y="658368"/>
            <a:ext cx="10881360" cy="658368"/>
          </a:xfrm>
          <a:prstGeom prst="rect">
            <a:avLst/>
          </a:prstGeom>
          <a:noFill/>
          <a:ln/>
        </p:spPr>
        <p:txBody>
          <a:bodyPr wrap="square" lIns="0" tIns="0" rIns="0" bIns="0" rtlCol="0" anchor="ctr"/>
          <a:lstStyle/>
          <a:p>
            <a:pPr marL="0" indent="0">
              <a:buNone/>
            </a:pPr>
            <a:r>
              <a:rPr lang="en-US" sz="3000" b="1" dirty="0">
                <a:solidFill>
                  <a:srgbClr val="12345F"/>
                </a:solidFill>
                <a:latin typeface="Aptos" pitchFamily="34" charset="0"/>
                <a:ea typeface="Cambria" pitchFamily="34" charset="-122"/>
                <a:cs typeface="Cambria" pitchFamily="34" charset="-120"/>
              </a:rPr>
              <a:t>2 km pour un agent, 16 km pour un opérateur</a:t>
            </a:r>
            <a:endParaRPr lang="en-US" sz="3000" dirty="0"/>
          </a:p>
        </p:txBody>
      </p:sp>
      <p:pic>
        <p:nvPicPr>
          <p:cNvPr id="4" name="Image 0" descr="img/carte_distance.png"/>
          <p:cNvPicPr>
            <a:picLocks noChangeAspect="1"/>
          </p:cNvPicPr>
          <p:nvPr/>
        </p:nvPicPr>
        <p:blipFill>
          <a:blip r:embed="rId3"/>
          <a:stretch>
            <a:fillRect/>
          </a:stretch>
        </p:blipFill>
        <p:spPr>
          <a:xfrm>
            <a:off x="8275320" y="1371600"/>
            <a:ext cx="3200400" cy="4572000"/>
          </a:xfrm>
          <a:prstGeom prst="rect">
            <a:avLst/>
          </a:prstGeom>
        </p:spPr>
      </p:pic>
      <p:sp>
        <p:nvSpPr>
          <p:cNvPr id="5" name="Shape 2"/>
          <p:cNvSpPr/>
          <p:nvPr/>
        </p:nvSpPr>
        <p:spPr>
          <a:xfrm>
            <a:off x="640080" y="1508760"/>
            <a:ext cx="3566160" cy="1481328"/>
          </a:xfrm>
          <a:prstGeom prst="roundRect">
            <a:avLst>
              <a:gd name="adj" fmla="val 4938"/>
            </a:avLst>
          </a:prstGeom>
          <a:solidFill>
            <a:srgbClr val="EAF1FB"/>
          </a:solidFill>
          <a:ln w="12700">
            <a:solidFill>
              <a:srgbClr val="EAF1FB"/>
            </a:solidFill>
            <a:prstDash val="solid"/>
          </a:ln>
        </p:spPr>
        <p:txBody>
          <a:bodyPr/>
          <a:lstStyle/>
          <a:p>
            <a:endParaRPr/>
          </a:p>
        </p:txBody>
      </p:sp>
      <p:sp>
        <p:nvSpPr>
          <p:cNvPr id="6" name="Text 3"/>
          <p:cNvSpPr txBox="1"/>
          <p:nvPr/>
        </p:nvSpPr>
        <p:spPr>
          <a:xfrm>
            <a:off x="896112" y="1673352"/>
            <a:ext cx="3108960" cy="658368"/>
          </a:xfrm>
          <a:prstGeom prst="rect">
            <a:avLst/>
          </a:prstGeom>
          <a:noFill/>
          <a:ln/>
        </p:spPr>
        <p:txBody>
          <a:bodyPr wrap="square" lIns="0" tIns="0" rIns="0" bIns="0" rtlCol="0" anchor="ctr"/>
          <a:lstStyle/>
          <a:p>
            <a:pPr marL="0" indent="0">
              <a:buNone/>
            </a:pPr>
            <a:r>
              <a:rPr lang="en-US" sz="3400" b="1" dirty="0">
                <a:solidFill>
                  <a:srgbClr val="12345F"/>
                </a:solidFill>
                <a:latin typeface="Aptos" pitchFamily="34" charset="0"/>
                <a:ea typeface="Cambria" pitchFamily="34" charset="-122"/>
                <a:cs typeface="Cambria" pitchFamily="34" charset="-120"/>
              </a:rPr>
              <a:t>2,0 km</a:t>
            </a:r>
            <a:endParaRPr lang="en-US" sz="3400" dirty="0"/>
          </a:p>
        </p:txBody>
      </p:sp>
      <p:sp>
        <p:nvSpPr>
          <p:cNvPr id="7" name="Text 4"/>
          <p:cNvSpPr txBox="1"/>
          <p:nvPr/>
        </p:nvSpPr>
        <p:spPr>
          <a:xfrm>
            <a:off x="896112" y="2331720"/>
            <a:ext cx="3108960" cy="237744"/>
          </a:xfrm>
          <a:prstGeom prst="rect">
            <a:avLst/>
          </a:prstGeom>
          <a:noFill/>
          <a:ln/>
        </p:spPr>
        <p:txBody>
          <a:bodyPr wrap="square" lIns="0" tIns="0" rIns="0" bIns="0" rtlCol="0" anchor="ctr"/>
          <a:lstStyle/>
          <a:p>
            <a:pPr marL="0" indent="0">
              <a:buNone/>
            </a:pPr>
            <a:r>
              <a:rPr lang="en-US" sz="1200" b="1" dirty="0">
                <a:solidFill>
                  <a:srgbClr val="12345F"/>
                </a:solidFill>
                <a:latin typeface="Aptos" pitchFamily="34" charset="0"/>
                <a:ea typeface="Calibri" pitchFamily="34" charset="-122"/>
                <a:cs typeface="Calibri" pitchFamily="34" charset="-120"/>
              </a:rPr>
              <a:t>Distance médiane à un service</a:t>
            </a:r>
            <a:endParaRPr lang="en-US" sz="1200" dirty="0"/>
          </a:p>
        </p:txBody>
      </p:sp>
      <p:sp>
        <p:nvSpPr>
          <p:cNvPr id="8" name="Text 5"/>
          <p:cNvSpPr txBox="1"/>
          <p:nvPr/>
        </p:nvSpPr>
        <p:spPr>
          <a:xfrm>
            <a:off x="896112" y="2569464"/>
            <a:ext cx="3108960" cy="310896"/>
          </a:xfrm>
          <a:prstGeom prst="rect">
            <a:avLst/>
          </a:prstGeom>
          <a:noFill/>
          <a:ln/>
        </p:spPr>
        <p:txBody>
          <a:bodyPr wrap="square" lIns="0" tIns="0" rIns="0" bIns="0" rtlCol="0" anchor="ctr"/>
          <a:lstStyle/>
          <a:p>
            <a:pPr marL="0" indent="0">
              <a:buNone/>
            </a:pPr>
            <a:r>
              <a:rPr lang="en-US" sz="1000" dirty="0">
                <a:solidFill>
                  <a:srgbClr val="12345F"/>
                </a:solidFill>
                <a:latin typeface="Aptos" pitchFamily="34" charset="0"/>
                <a:ea typeface="Calibri" pitchFamily="34" charset="-122"/>
                <a:cs typeface="Calibri" pitchFamily="34" charset="-120"/>
              </a:rPr>
              <a:t>tous services confondus, 396 cantons</a:t>
            </a:r>
            <a:endParaRPr lang="en-US" sz="1000" dirty="0"/>
          </a:p>
        </p:txBody>
      </p:sp>
      <p:sp>
        <p:nvSpPr>
          <p:cNvPr id="9" name="Shape 6"/>
          <p:cNvSpPr/>
          <p:nvPr/>
        </p:nvSpPr>
        <p:spPr>
          <a:xfrm>
            <a:off x="4389120" y="1508760"/>
            <a:ext cx="3566160" cy="1481328"/>
          </a:xfrm>
          <a:prstGeom prst="roundRect">
            <a:avLst>
              <a:gd name="adj" fmla="val 4938"/>
            </a:avLst>
          </a:prstGeom>
          <a:solidFill>
            <a:srgbClr val="EAF1FB"/>
          </a:solidFill>
          <a:ln w="12700">
            <a:solidFill>
              <a:srgbClr val="EAF1FB"/>
            </a:solidFill>
            <a:prstDash val="solid"/>
          </a:ln>
        </p:spPr>
        <p:txBody>
          <a:bodyPr/>
          <a:lstStyle/>
          <a:p>
            <a:endParaRPr/>
          </a:p>
        </p:txBody>
      </p:sp>
      <p:sp>
        <p:nvSpPr>
          <p:cNvPr id="10" name="Text 7"/>
          <p:cNvSpPr txBox="1"/>
          <p:nvPr/>
        </p:nvSpPr>
        <p:spPr>
          <a:xfrm>
            <a:off x="4645152" y="1673352"/>
            <a:ext cx="3108960" cy="658368"/>
          </a:xfrm>
          <a:prstGeom prst="rect">
            <a:avLst/>
          </a:prstGeom>
          <a:noFill/>
          <a:ln/>
        </p:spPr>
        <p:txBody>
          <a:bodyPr wrap="square" lIns="0" tIns="0" rIns="0" bIns="0" rtlCol="0" anchor="ctr"/>
          <a:lstStyle/>
          <a:p>
            <a:pPr marL="0" indent="0">
              <a:buNone/>
            </a:pPr>
            <a:r>
              <a:rPr lang="en-US" sz="3400" b="1" dirty="0">
                <a:solidFill>
                  <a:srgbClr val="12345F"/>
                </a:solidFill>
                <a:latin typeface="Aptos" pitchFamily="34" charset="0"/>
                <a:ea typeface="Cambria" pitchFamily="34" charset="-122"/>
                <a:cs typeface="Cambria" pitchFamily="34" charset="-120"/>
              </a:rPr>
              <a:t>16,2 km</a:t>
            </a:r>
            <a:endParaRPr lang="en-US" sz="3400" dirty="0"/>
          </a:p>
        </p:txBody>
      </p:sp>
      <p:sp>
        <p:nvSpPr>
          <p:cNvPr id="11" name="Text 8"/>
          <p:cNvSpPr txBox="1"/>
          <p:nvPr/>
        </p:nvSpPr>
        <p:spPr>
          <a:xfrm>
            <a:off x="4645152" y="2331720"/>
            <a:ext cx="3108960" cy="237744"/>
          </a:xfrm>
          <a:prstGeom prst="rect">
            <a:avLst/>
          </a:prstGeom>
          <a:noFill/>
          <a:ln/>
        </p:spPr>
        <p:txBody>
          <a:bodyPr wrap="square" lIns="0" tIns="0" rIns="0" bIns="0" rtlCol="0" anchor="ctr"/>
          <a:lstStyle/>
          <a:p>
            <a:pPr marL="0" indent="0">
              <a:buNone/>
            </a:pPr>
            <a:r>
              <a:rPr lang="en-US" sz="1200" b="1" dirty="0">
                <a:solidFill>
                  <a:srgbClr val="12345F"/>
                </a:solidFill>
                <a:latin typeface="Aptos" pitchFamily="34" charset="0"/>
                <a:ea typeface="Calibri" pitchFamily="34" charset="-122"/>
                <a:cs typeface="Calibri" pitchFamily="34" charset="-120"/>
              </a:rPr>
              <a:t>Distance médiane à une agence</a:t>
            </a:r>
            <a:endParaRPr lang="en-US" sz="1200" dirty="0"/>
          </a:p>
        </p:txBody>
      </p:sp>
      <p:sp>
        <p:nvSpPr>
          <p:cNvPr id="12" name="Text 9"/>
          <p:cNvSpPr txBox="1"/>
          <p:nvPr/>
        </p:nvSpPr>
        <p:spPr>
          <a:xfrm>
            <a:off x="4645152" y="2569464"/>
            <a:ext cx="3108960" cy="310896"/>
          </a:xfrm>
          <a:prstGeom prst="rect">
            <a:avLst/>
          </a:prstGeom>
          <a:noFill/>
          <a:ln/>
        </p:spPr>
        <p:txBody>
          <a:bodyPr wrap="square" lIns="0" tIns="0" rIns="0" bIns="0" rtlCol="0" anchor="ctr"/>
          <a:lstStyle/>
          <a:p>
            <a:pPr marL="0" indent="0">
              <a:buNone/>
            </a:pPr>
            <a:r>
              <a:rPr lang="en-US" sz="1000" dirty="0">
                <a:solidFill>
                  <a:srgbClr val="12345F"/>
                </a:solidFill>
                <a:latin typeface="Aptos" pitchFamily="34" charset="0"/>
                <a:ea typeface="Calibri" pitchFamily="34" charset="-122"/>
                <a:cs typeface="Calibri" pitchFamily="34" charset="-120"/>
              </a:rPr>
              <a:t>jusqu’à 63 km dans le canton le plus isolé</a:t>
            </a:r>
            <a:endParaRPr lang="en-US" sz="1000" dirty="0"/>
          </a:p>
        </p:txBody>
      </p:sp>
      <p:sp>
        <p:nvSpPr>
          <p:cNvPr id="13" name="Shape 10"/>
          <p:cNvSpPr/>
          <p:nvPr/>
        </p:nvSpPr>
        <p:spPr>
          <a:xfrm>
            <a:off x="640080" y="3337560"/>
            <a:ext cx="7315200" cy="1234440"/>
          </a:xfrm>
          <a:prstGeom prst="roundRect">
            <a:avLst>
              <a:gd name="adj" fmla="val 5926"/>
            </a:avLst>
          </a:prstGeom>
          <a:solidFill>
            <a:srgbClr val="0B2540"/>
          </a:solidFill>
          <a:ln w="12700">
            <a:solidFill>
              <a:srgbClr val="0B2540"/>
            </a:solidFill>
            <a:prstDash val="solid"/>
          </a:ln>
        </p:spPr>
        <p:txBody>
          <a:bodyPr/>
          <a:lstStyle/>
          <a:p>
            <a:endParaRPr/>
          </a:p>
        </p:txBody>
      </p:sp>
      <p:sp>
        <p:nvSpPr>
          <p:cNvPr id="14" name="Text 11"/>
          <p:cNvSpPr txBox="1"/>
          <p:nvPr/>
        </p:nvSpPr>
        <p:spPr>
          <a:xfrm>
            <a:off x="914400" y="3520440"/>
            <a:ext cx="6766560" cy="868680"/>
          </a:xfrm>
          <a:prstGeom prst="rect">
            <a:avLst/>
          </a:prstGeom>
          <a:noFill/>
          <a:ln/>
        </p:spPr>
        <p:txBody>
          <a:bodyPr wrap="square" lIns="0" tIns="0" rIns="0" bIns="0" rtlCol="0" anchor="ctr"/>
          <a:lstStyle/>
          <a:p>
            <a:pPr marL="0" indent="0">
              <a:buNone/>
            </a:pPr>
            <a:r>
              <a:rPr lang="en-US" sz="1450" i="1" dirty="0">
                <a:solidFill>
                  <a:srgbClr val="FFFFFF"/>
                </a:solidFill>
                <a:latin typeface="Aptos" pitchFamily="34" charset="0"/>
                <a:ea typeface="Cambria" pitchFamily="34" charset="-122"/>
                <a:cs typeface="Cambria" pitchFamily="34" charset="-120"/>
              </a:rPr>
              <a:t>L’écart entre ces deux chiffres est un résultat, pas un </a:t>
            </a:r>
            <a:r>
              <a:rPr lang="en-US" sz="1450" i="1" dirty="0" err="1">
                <a:solidFill>
                  <a:srgbClr val="FFFFFF"/>
                </a:solidFill>
                <a:latin typeface="Aptos" pitchFamily="34" charset="0"/>
                <a:ea typeface="Cambria" pitchFamily="34" charset="-122"/>
                <a:cs typeface="Cambria" pitchFamily="34" charset="-120"/>
              </a:rPr>
              <a:t>détail</a:t>
            </a:r>
            <a:r>
              <a:rPr lang="en-US" sz="1450" i="1" dirty="0">
                <a:solidFill>
                  <a:srgbClr val="FFFFFF"/>
                </a:solidFill>
                <a:latin typeface="Aptos" pitchFamily="34" charset="0"/>
                <a:ea typeface="Cambria" pitchFamily="34" charset="-122"/>
                <a:cs typeface="Cambria" pitchFamily="34" charset="-120"/>
              </a:rPr>
              <a:t> : il mesure exactement ce que le réseau d’agents privés compense là où les opérateurs ne vont pas.</a:t>
            </a:r>
            <a:endParaRPr lang="en-US" sz="1450" dirty="0"/>
          </a:p>
        </p:txBody>
      </p:sp>
      <p:sp>
        <p:nvSpPr>
          <p:cNvPr id="15" name="Text 12"/>
          <p:cNvSpPr txBox="1"/>
          <p:nvPr/>
        </p:nvSpPr>
        <p:spPr>
          <a:xfrm>
            <a:off x="640080" y="4754880"/>
            <a:ext cx="7315200" cy="1371600"/>
          </a:xfrm>
          <a:prstGeom prst="rect">
            <a:avLst/>
          </a:prstGeom>
          <a:noFill/>
          <a:ln/>
        </p:spPr>
        <p:txBody>
          <a:bodyPr wrap="square" lIns="0" tIns="0" rIns="0" bIns="0" rtlCol="0" anchor="ctr"/>
          <a:lstStyle/>
          <a:p>
            <a:pPr marL="0" indent="0">
              <a:lnSpc>
                <a:spcPts val="1700"/>
              </a:lnSpc>
              <a:buNone/>
            </a:pPr>
            <a:r>
              <a:rPr lang="en-US" sz="1250" b="1" dirty="0">
                <a:solidFill>
                  <a:srgbClr val="0B0B0B"/>
                </a:solidFill>
                <a:latin typeface="Aptos" pitchFamily="34" charset="0"/>
                <a:ea typeface="Calibri" pitchFamily="34" charset="-122"/>
                <a:cs typeface="Calibri" pitchFamily="34" charset="-120"/>
              </a:rPr>
              <a:t>23 cantons sur 396</a:t>
            </a:r>
            <a:r>
              <a:rPr lang="en-US" sz="1250" dirty="0">
                <a:solidFill>
                  <a:srgbClr val="0B0B0B"/>
                </a:solidFill>
                <a:latin typeface="Aptos" pitchFamily="34" charset="0"/>
                <a:ea typeface="Calibri" pitchFamily="34" charset="-122"/>
                <a:cs typeface="Calibri" pitchFamily="34" charset="-120"/>
              </a:rPr>
              <a:t> ne comptent aucun point de service. Le plus isolé, dans Blitta, est à 21 km du premier service quel qu’il soit.</a:t>
            </a:r>
            <a:endParaRPr lang="en-US" sz="1250" dirty="0"/>
          </a:p>
          <a:p>
            <a:pPr marL="0" indent="0">
              <a:lnSpc>
                <a:spcPts val="1700"/>
              </a:lnSpc>
              <a:buNone/>
            </a:pPr>
            <a:endParaRPr lang="en-US" sz="1250" dirty="0"/>
          </a:p>
          <a:p>
            <a:pPr marL="0" indent="0">
              <a:lnSpc>
                <a:spcPts val="1700"/>
              </a:lnSpc>
              <a:buNone/>
            </a:pPr>
            <a:r>
              <a:rPr lang="en-US" sz="1250" dirty="0">
                <a:solidFill>
                  <a:srgbClr val="0B0B0B"/>
                </a:solidFill>
                <a:latin typeface="Aptos" pitchFamily="34" charset="0"/>
                <a:ea typeface="Calibri" pitchFamily="34" charset="-122"/>
                <a:cs typeface="Calibri" pitchFamily="34" charset="-120"/>
              </a:rPr>
              <a:t>Ces écarts sont invisibles à l’échelle de la préfecture, qui les moyenne. Changer d’échelle change la carte des </a:t>
            </a:r>
            <a:r>
              <a:rPr lang="en-US" sz="1250" dirty="0" err="1">
                <a:solidFill>
                  <a:srgbClr val="0B0B0B"/>
                </a:solidFill>
                <a:latin typeface="Aptos" pitchFamily="34" charset="0"/>
                <a:ea typeface="Calibri" pitchFamily="34" charset="-122"/>
                <a:cs typeface="Calibri" pitchFamily="34" charset="-120"/>
              </a:rPr>
              <a:t>priorités</a:t>
            </a:r>
            <a:r>
              <a:rPr lang="en-US" sz="1250" dirty="0">
                <a:solidFill>
                  <a:srgbClr val="0B0B0B"/>
                </a:solidFill>
                <a:latin typeface="Aptos" pitchFamily="34" charset="0"/>
                <a:ea typeface="Calibri" pitchFamily="34" charset="-122"/>
                <a:cs typeface="Calibri" pitchFamily="34" charset="-120"/>
              </a:rPr>
              <a:t>.</a:t>
            </a:r>
            <a:endParaRPr lang="en-US" sz="1250" dirty="0"/>
          </a:p>
        </p:txBody>
      </p:sp>
      <p:sp>
        <p:nvSpPr>
          <p:cNvPr id="16" name="Text 13"/>
          <p:cNvSpPr txBox="1"/>
          <p:nvPr/>
        </p:nvSpPr>
        <p:spPr>
          <a:xfrm>
            <a:off x="640080" y="6236208"/>
            <a:ext cx="10881360" cy="365760"/>
          </a:xfrm>
          <a:prstGeom prst="rect">
            <a:avLst/>
          </a:prstGeom>
          <a:noFill/>
          <a:ln/>
        </p:spPr>
        <p:txBody>
          <a:bodyPr wrap="square" lIns="0" tIns="0" rIns="0" bIns="0" rtlCol="0" anchor="ctr"/>
          <a:lstStyle/>
          <a:p>
            <a:pPr marL="0" indent="0">
              <a:buNone/>
            </a:pPr>
            <a:r>
              <a:rPr lang="en-US" sz="1200" b="1" dirty="0">
                <a:solidFill>
                  <a:srgbClr val="0B0B0B"/>
                </a:solidFill>
                <a:latin typeface="Aptos" pitchFamily="34" charset="0"/>
                <a:ea typeface="Calibri" pitchFamily="34" charset="-122"/>
                <a:cs typeface="Calibri" pitchFamily="34" charset="-120"/>
              </a:rPr>
              <a:t>Couverture radio indisponible (couches Géoportail en accès restreint) : la zone blanche est définie par la distance au service, depuis le centroïde du canton.</a:t>
            </a:r>
            <a:endParaRPr lang="en-US" sz="1200"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CFB"/>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ctr"/>
          <a:lstStyle/>
          <a:p>
            <a:pPr marL="0" indent="0">
              <a:buNone/>
            </a:pPr>
            <a:r>
              <a:rPr lang="en-US" sz="1100" b="1" kern="0" spc="200" dirty="0">
                <a:solidFill>
                  <a:srgbClr val="12345F"/>
                </a:solidFill>
                <a:latin typeface="Aptos" pitchFamily="34" charset="0"/>
                <a:ea typeface="Calibri" pitchFamily="34" charset="-122"/>
                <a:cs typeface="Calibri" pitchFamily="34" charset="-120"/>
              </a:rPr>
              <a:t>RÉSULTAT 4 · ÉQUITÉ</a:t>
            </a:r>
            <a:endParaRPr lang="en-US" sz="1100" dirty="0"/>
          </a:p>
        </p:txBody>
      </p:sp>
      <p:sp>
        <p:nvSpPr>
          <p:cNvPr id="3" name="Text 1"/>
          <p:cNvSpPr txBox="1"/>
          <p:nvPr/>
        </p:nvSpPr>
        <p:spPr>
          <a:xfrm>
            <a:off x="640080" y="658368"/>
            <a:ext cx="10881360" cy="658368"/>
          </a:xfrm>
          <a:prstGeom prst="rect">
            <a:avLst/>
          </a:prstGeom>
          <a:noFill/>
          <a:ln/>
        </p:spPr>
        <p:txBody>
          <a:bodyPr wrap="square" lIns="0" tIns="0" rIns="0" bIns="0" rtlCol="0" anchor="ctr"/>
          <a:lstStyle/>
          <a:p>
            <a:pPr marL="0" indent="0">
              <a:buNone/>
            </a:pPr>
            <a:r>
              <a:rPr lang="en-US" sz="3000" b="1" dirty="0">
                <a:solidFill>
                  <a:srgbClr val="12345F"/>
                </a:solidFill>
                <a:latin typeface="Aptos" pitchFamily="34" charset="0"/>
                <a:ea typeface="Cambria" pitchFamily="34" charset="-122"/>
                <a:cs typeface="Cambria" pitchFamily="34" charset="-120"/>
              </a:rPr>
              <a:t>Le marché a maillé le territoire mieux que l’institution</a:t>
            </a:r>
            <a:endParaRPr lang="en-US" sz="3000" dirty="0"/>
          </a:p>
        </p:txBody>
      </p:sp>
      <p:pic>
        <p:nvPicPr>
          <p:cNvPr id="4" name="Image 0" descr="img/lorenz.png"/>
          <p:cNvPicPr>
            <a:picLocks noChangeAspect="1"/>
          </p:cNvPicPr>
          <p:nvPr/>
        </p:nvPicPr>
        <p:blipFill>
          <a:blip r:embed="rId3"/>
          <a:stretch>
            <a:fillRect/>
          </a:stretch>
        </p:blipFill>
        <p:spPr>
          <a:xfrm>
            <a:off x="640080" y="1508760"/>
            <a:ext cx="6309360" cy="4572000"/>
          </a:xfrm>
          <a:prstGeom prst="rect">
            <a:avLst/>
          </a:prstGeom>
        </p:spPr>
      </p:pic>
      <p:sp>
        <p:nvSpPr>
          <p:cNvPr id="5" name="Shape 2"/>
          <p:cNvSpPr/>
          <p:nvPr/>
        </p:nvSpPr>
        <p:spPr>
          <a:xfrm>
            <a:off x="7269480" y="1600200"/>
            <a:ext cx="2011680" cy="1481328"/>
          </a:xfrm>
          <a:prstGeom prst="roundRect">
            <a:avLst>
              <a:gd name="adj" fmla="val 4938"/>
            </a:avLst>
          </a:prstGeom>
          <a:solidFill>
            <a:srgbClr val="EAF1FB"/>
          </a:solidFill>
          <a:ln w="12700">
            <a:solidFill>
              <a:srgbClr val="EAF1FB"/>
            </a:solidFill>
            <a:prstDash val="solid"/>
          </a:ln>
        </p:spPr>
        <p:txBody>
          <a:bodyPr/>
          <a:lstStyle/>
          <a:p>
            <a:endParaRPr/>
          </a:p>
        </p:txBody>
      </p:sp>
      <p:sp>
        <p:nvSpPr>
          <p:cNvPr id="6" name="Text 3"/>
          <p:cNvSpPr txBox="1"/>
          <p:nvPr/>
        </p:nvSpPr>
        <p:spPr>
          <a:xfrm>
            <a:off x="7525512" y="1764792"/>
            <a:ext cx="1554480" cy="658368"/>
          </a:xfrm>
          <a:prstGeom prst="rect">
            <a:avLst/>
          </a:prstGeom>
          <a:noFill/>
          <a:ln/>
        </p:spPr>
        <p:txBody>
          <a:bodyPr wrap="square" lIns="0" tIns="0" rIns="0" bIns="0" rtlCol="0" anchor="ctr"/>
          <a:lstStyle/>
          <a:p>
            <a:pPr marL="0" indent="0">
              <a:buNone/>
            </a:pPr>
            <a:r>
              <a:rPr lang="en-US" sz="3400" b="1" dirty="0">
                <a:solidFill>
                  <a:srgbClr val="12345F"/>
                </a:solidFill>
                <a:latin typeface="Aptos" pitchFamily="34" charset="0"/>
                <a:ea typeface="Cambria" pitchFamily="34" charset="-122"/>
                <a:cs typeface="Cambria" pitchFamily="34" charset="-120"/>
              </a:rPr>
              <a:t>0,31</a:t>
            </a:r>
            <a:endParaRPr lang="en-US" sz="3400" dirty="0"/>
          </a:p>
        </p:txBody>
      </p:sp>
      <p:sp>
        <p:nvSpPr>
          <p:cNvPr id="7" name="Text 4"/>
          <p:cNvSpPr txBox="1"/>
          <p:nvPr/>
        </p:nvSpPr>
        <p:spPr>
          <a:xfrm>
            <a:off x="7525512" y="2423160"/>
            <a:ext cx="1554480" cy="237744"/>
          </a:xfrm>
          <a:prstGeom prst="rect">
            <a:avLst/>
          </a:prstGeom>
          <a:noFill/>
          <a:ln/>
        </p:spPr>
        <p:txBody>
          <a:bodyPr wrap="square" lIns="0" tIns="0" rIns="0" bIns="0" rtlCol="0" anchor="ctr"/>
          <a:lstStyle/>
          <a:p>
            <a:pPr marL="0" indent="0">
              <a:buNone/>
            </a:pPr>
            <a:r>
              <a:rPr lang="en-US" sz="1200" b="1" dirty="0">
                <a:solidFill>
                  <a:srgbClr val="12345F"/>
                </a:solidFill>
                <a:latin typeface="Aptos" pitchFamily="34" charset="0"/>
                <a:ea typeface="Calibri" pitchFamily="34" charset="-122"/>
                <a:cs typeface="Calibri" pitchFamily="34" charset="-120"/>
              </a:rPr>
              <a:t>Gini mobile money</a:t>
            </a:r>
            <a:endParaRPr lang="en-US" sz="1200" dirty="0"/>
          </a:p>
        </p:txBody>
      </p:sp>
      <p:sp>
        <p:nvSpPr>
          <p:cNvPr id="8" name="Text 5"/>
          <p:cNvSpPr txBox="1"/>
          <p:nvPr/>
        </p:nvSpPr>
        <p:spPr>
          <a:xfrm>
            <a:off x="7525512" y="2660904"/>
            <a:ext cx="1554480" cy="310896"/>
          </a:xfrm>
          <a:prstGeom prst="rect">
            <a:avLst/>
          </a:prstGeom>
          <a:noFill/>
          <a:ln/>
        </p:spPr>
        <p:txBody>
          <a:bodyPr wrap="square" lIns="0" tIns="0" rIns="0" bIns="0" rtlCol="0" anchor="ctr"/>
          <a:lstStyle/>
          <a:p>
            <a:pPr marL="0" indent="0">
              <a:buNone/>
            </a:pPr>
            <a:r>
              <a:rPr lang="en-US" sz="1000" dirty="0">
                <a:solidFill>
                  <a:srgbClr val="12345F"/>
                </a:solidFill>
                <a:latin typeface="Aptos" pitchFamily="34" charset="0"/>
                <a:ea typeface="Calibri" pitchFamily="34" charset="-122"/>
                <a:cs typeface="Calibri" pitchFamily="34" charset="-120"/>
              </a:rPr>
              <a:t>réseau d’agents privés</a:t>
            </a:r>
            <a:endParaRPr lang="en-US" sz="1000" dirty="0"/>
          </a:p>
        </p:txBody>
      </p:sp>
      <p:sp>
        <p:nvSpPr>
          <p:cNvPr id="9" name="Shape 6"/>
          <p:cNvSpPr/>
          <p:nvPr/>
        </p:nvSpPr>
        <p:spPr>
          <a:xfrm>
            <a:off x="9509760" y="1600200"/>
            <a:ext cx="2011680" cy="1481328"/>
          </a:xfrm>
          <a:prstGeom prst="roundRect">
            <a:avLst>
              <a:gd name="adj" fmla="val 4938"/>
            </a:avLst>
          </a:prstGeom>
          <a:solidFill>
            <a:srgbClr val="EAF1FB"/>
          </a:solidFill>
          <a:ln w="12700">
            <a:solidFill>
              <a:srgbClr val="EAF1FB"/>
            </a:solidFill>
            <a:prstDash val="solid"/>
          </a:ln>
        </p:spPr>
        <p:txBody>
          <a:bodyPr/>
          <a:lstStyle/>
          <a:p>
            <a:endParaRPr/>
          </a:p>
        </p:txBody>
      </p:sp>
      <p:sp>
        <p:nvSpPr>
          <p:cNvPr id="10" name="Text 7"/>
          <p:cNvSpPr txBox="1"/>
          <p:nvPr/>
        </p:nvSpPr>
        <p:spPr>
          <a:xfrm>
            <a:off x="9765792" y="1764792"/>
            <a:ext cx="1554480" cy="658368"/>
          </a:xfrm>
          <a:prstGeom prst="rect">
            <a:avLst/>
          </a:prstGeom>
          <a:noFill/>
          <a:ln/>
        </p:spPr>
        <p:txBody>
          <a:bodyPr wrap="square" lIns="0" tIns="0" rIns="0" bIns="0" rtlCol="0" anchor="ctr"/>
          <a:lstStyle/>
          <a:p>
            <a:pPr marL="0" indent="0">
              <a:buNone/>
            </a:pPr>
            <a:r>
              <a:rPr lang="en-US" sz="3400" b="1" dirty="0">
                <a:solidFill>
                  <a:srgbClr val="12345F"/>
                </a:solidFill>
                <a:latin typeface="Aptos" pitchFamily="34" charset="0"/>
                <a:ea typeface="Cambria" pitchFamily="34" charset="-122"/>
                <a:cs typeface="Cambria" pitchFamily="34" charset="-120"/>
              </a:rPr>
              <a:t>0,38</a:t>
            </a:r>
            <a:endParaRPr lang="en-US" sz="3400" dirty="0"/>
          </a:p>
        </p:txBody>
      </p:sp>
      <p:sp>
        <p:nvSpPr>
          <p:cNvPr id="11" name="Text 8"/>
          <p:cNvSpPr txBox="1"/>
          <p:nvPr/>
        </p:nvSpPr>
        <p:spPr>
          <a:xfrm>
            <a:off x="9765792" y="2423160"/>
            <a:ext cx="1554480" cy="237744"/>
          </a:xfrm>
          <a:prstGeom prst="rect">
            <a:avLst/>
          </a:prstGeom>
          <a:noFill/>
          <a:ln/>
        </p:spPr>
        <p:txBody>
          <a:bodyPr wrap="square" lIns="0" tIns="0" rIns="0" bIns="0" rtlCol="0" anchor="ctr"/>
          <a:lstStyle/>
          <a:p>
            <a:pPr marL="0" indent="0">
              <a:buNone/>
            </a:pPr>
            <a:r>
              <a:rPr lang="en-US" sz="1200" b="1" dirty="0">
                <a:solidFill>
                  <a:srgbClr val="12345F"/>
                </a:solidFill>
                <a:latin typeface="Aptos" pitchFamily="34" charset="0"/>
                <a:ea typeface="Calibri" pitchFamily="34" charset="-122"/>
                <a:cs typeface="Calibri" pitchFamily="34" charset="-120"/>
              </a:rPr>
              <a:t>Gini agences</a:t>
            </a:r>
            <a:endParaRPr lang="en-US" sz="1200" dirty="0"/>
          </a:p>
        </p:txBody>
      </p:sp>
      <p:sp>
        <p:nvSpPr>
          <p:cNvPr id="12" name="Text 9"/>
          <p:cNvSpPr txBox="1"/>
          <p:nvPr/>
        </p:nvSpPr>
        <p:spPr>
          <a:xfrm>
            <a:off x="9765792" y="2660904"/>
            <a:ext cx="1554480" cy="310896"/>
          </a:xfrm>
          <a:prstGeom prst="rect">
            <a:avLst/>
          </a:prstGeom>
          <a:noFill/>
          <a:ln/>
        </p:spPr>
        <p:txBody>
          <a:bodyPr wrap="square" lIns="0" tIns="0" rIns="0" bIns="0" rtlCol="0" anchor="ctr"/>
          <a:lstStyle/>
          <a:p>
            <a:pPr marL="0" indent="0">
              <a:buNone/>
            </a:pPr>
            <a:r>
              <a:rPr lang="en-US" sz="1000" dirty="0">
                <a:solidFill>
                  <a:srgbClr val="12345F"/>
                </a:solidFill>
                <a:latin typeface="Aptos" pitchFamily="34" charset="0"/>
                <a:ea typeface="Calibri" pitchFamily="34" charset="-122"/>
                <a:cs typeface="Calibri" pitchFamily="34" charset="-120"/>
              </a:rPr>
              <a:t>réseau en propre</a:t>
            </a:r>
            <a:endParaRPr lang="en-US" sz="1000" dirty="0"/>
          </a:p>
        </p:txBody>
      </p:sp>
      <p:sp>
        <p:nvSpPr>
          <p:cNvPr id="13" name="Text 10"/>
          <p:cNvSpPr txBox="1"/>
          <p:nvPr/>
        </p:nvSpPr>
        <p:spPr>
          <a:xfrm>
            <a:off x="7269480" y="3429000"/>
            <a:ext cx="4251960" cy="2651760"/>
          </a:xfrm>
          <a:prstGeom prst="rect">
            <a:avLst/>
          </a:prstGeom>
          <a:noFill/>
          <a:ln/>
        </p:spPr>
        <p:txBody>
          <a:bodyPr wrap="square" lIns="0" tIns="0" rIns="0" bIns="0" rtlCol="0" anchor="ctr"/>
          <a:lstStyle/>
          <a:p>
            <a:pPr marL="0" indent="0">
              <a:lnSpc>
                <a:spcPts val="1700"/>
              </a:lnSpc>
              <a:buNone/>
            </a:pPr>
            <a:r>
              <a:rPr lang="en-US" sz="1250" b="1" dirty="0">
                <a:solidFill>
                  <a:srgbClr val="0B0B0B"/>
                </a:solidFill>
                <a:latin typeface="Aptos" pitchFamily="34" charset="0"/>
                <a:ea typeface="Calibri" pitchFamily="34" charset="-122"/>
                <a:cs typeface="Calibri" pitchFamily="34" charset="-120"/>
              </a:rPr>
              <a:t>Ce que cela signifie.</a:t>
            </a:r>
            <a:endParaRPr lang="en-US" sz="1250" dirty="0"/>
          </a:p>
          <a:p>
            <a:pPr marL="0" indent="0">
              <a:lnSpc>
                <a:spcPts val="1700"/>
              </a:lnSpc>
              <a:buNone/>
            </a:pPr>
            <a:r>
              <a:rPr lang="en-US" sz="1250" dirty="0">
                <a:solidFill>
                  <a:srgbClr val="0B0B0B"/>
                </a:solidFill>
                <a:latin typeface="Aptos" pitchFamily="34" charset="0"/>
                <a:ea typeface="Calibri" pitchFamily="34" charset="-122"/>
                <a:cs typeface="Calibri" pitchFamily="34" charset="-120"/>
              </a:rPr>
              <a:t>Plus l’indice est bas, plus l’accès est également réparti entre les habitants. Le réseau d’agents agréés, porté par le marché, atteint une population que le réseau d’agences des opérateurs n’atteint pas.</a:t>
            </a:r>
            <a:endParaRPr lang="en-US" sz="1250" dirty="0"/>
          </a:p>
          <a:p>
            <a:pPr marL="0" indent="0">
              <a:lnSpc>
                <a:spcPts val="1700"/>
              </a:lnSpc>
              <a:buNone/>
            </a:pPr>
            <a:endParaRPr lang="en-US" sz="1250" dirty="0"/>
          </a:p>
          <a:p>
            <a:pPr marL="0" indent="0">
              <a:lnSpc>
                <a:spcPts val="1700"/>
              </a:lnSpc>
              <a:buNone/>
            </a:pPr>
            <a:r>
              <a:rPr lang="en-US" sz="1250" dirty="0">
                <a:solidFill>
                  <a:srgbClr val="0B0B0B"/>
                </a:solidFill>
                <a:latin typeface="Aptos" pitchFamily="34" charset="0"/>
                <a:ea typeface="Calibri" pitchFamily="34" charset="-122"/>
                <a:cs typeface="Calibri" pitchFamily="34" charset="-120"/>
              </a:rPr>
              <a:t>Les données plaident pour densifier les agents, mieux répartis territorialement que les agences.</a:t>
            </a:r>
            <a:endParaRPr lang="en-US" sz="1250" dirty="0"/>
          </a:p>
        </p:txBody>
      </p:sp>
      <p:sp>
        <p:nvSpPr>
          <p:cNvPr id="14" name="Text 11"/>
          <p:cNvSpPr txBox="1"/>
          <p:nvPr/>
        </p:nvSpPr>
        <p:spPr>
          <a:xfrm>
            <a:off x="640080" y="6236208"/>
            <a:ext cx="10881360" cy="365760"/>
          </a:xfrm>
          <a:prstGeom prst="rect">
            <a:avLst/>
          </a:prstGeom>
          <a:noFill/>
          <a:ln/>
        </p:spPr>
        <p:txBody>
          <a:bodyPr wrap="square" lIns="0" tIns="0" rIns="0" bIns="0" rtlCol="0" anchor="ctr"/>
          <a:lstStyle/>
          <a:p>
            <a:pPr marL="0" indent="0">
              <a:buNone/>
            </a:pPr>
            <a:r>
              <a:rPr lang="en-US" sz="1000" dirty="0">
                <a:solidFill>
                  <a:srgbClr val="12345F"/>
                </a:solidFill>
                <a:latin typeface="Aptos" pitchFamily="34" charset="0"/>
                <a:ea typeface="Calibri" pitchFamily="34" charset="-122"/>
                <a:cs typeface="Calibri" pitchFamily="34" charset="-120"/>
              </a:rPr>
              <a:t>Indice de Gini pondéré par la population, calculé sur l’accès rapporté aux habitants.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CFB"/>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ctr"/>
          <a:lstStyle/>
          <a:p>
            <a:pPr marL="0" indent="0">
              <a:buNone/>
            </a:pPr>
            <a:r>
              <a:rPr lang="en-US" sz="1100" b="1" kern="0" spc="200" dirty="0">
                <a:solidFill>
                  <a:srgbClr val="12345F"/>
                </a:solidFill>
                <a:latin typeface="Aptos" pitchFamily="34" charset="0"/>
                <a:ea typeface="Calibri" pitchFamily="34" charset="-122"/>
                <a:cs typeface="Calibri" pitchFamily="34" charset="-120"/>
              </a:rPr>
              <a:t>RÉSULTAT 5</a:t>
            </a:r>
            <a:endParaRPr lang="en-US" sz="1100" dirty="0"/>
          </a:p>
        </p:txBody>
      </p:sp>
      <p:sp>
        <p:nvSpPr>
          <p:cNvPr id="3" name="Text 1"/>
          <p:cNvSpPr txBox="1"/>
          <p:nvPr/>
        </p:nvSpPr>
        <p:spPr>
          <a:xfrm>
            <a:off x="640080" y="658368"/>
            <a:ext cx="10881360" cy="658368"/>
          </a:xfrm>
          <a:prstGeom prst="rect">
            <a:avLst/>
          </a:prstGeom>
          <a:noFill/>
          <a:ln/>
        </p:spPr>
        <p:txBody>
          <a:bodyPr wrap="square" lIns="0" tIns="0" rIns="0" bIns="0" rtlCol="0" anchor="ctr"/>
          <a:lstStyle/>
          <a:p>
            <a:pPr marL="0" indent="0">
              <a:buNone/>
            </a:pPr>
            <a:r>
              <a:rPr lang="en-US" sz="3000" b="1" dirty="0">
                <a:solidFill>
                  <a:srgbClr val="12345F"/>
                </a:solidFill>
                <a:latin typeface="Aptos" pitchFamily="34" charset="0"/>
                <a:ea typeface="Cambria" pitchFamily="34" charset="-122"/>
                <a:cs typeface="Cambria" pitchFamily="34" charset="-120"/>
              </a:rPr>
              <a:t>Le plus gros déficit est périurbain, pas rural</a:t>
            </a:r>
            <a:endParaRPr lang="en-US" sz="3000" dirty="0"/>
          </a:p>
        </p:txBody>
      </p:sp>
      <p:sp>
        <p:nvSpPr>
          <p:cNvPr id="4" name="Shape 2"/>
          <p:cNvSpPr/>
          <p:nvPr/>
        </p:nvSpPr>
        <p:spPr>
          <a:xfrm>
            <a:off x="640080" y="1463040"/>
            <a:ext cx="3840480" cy="2331720"/>
          </a:xfrm>
          <a:prstGeom prst="roundRect">
            <a:avLst>
              <a:gd name="adj" fmla="val 3137"/>
            </a:avLst>
          </a:prstGeom>
          <a:solidFill>
            <a:srgbClr val="12345F"/>
          </a:solidFill>
          <a:ln w="12700">
            <a:solidFill>
              <a:srgbClr val="12345F"/>
            </a:solidFill>
            <a:prstDash val="solid"/>
          </a:ln>
        </p:spPr>
        <p:txBody>
          <a:bodyPr/>
          <a:lstStyle/>
          <a:p>
            <a:endParaRPr/>
          </a:p>
        </p:txBody>
      </p:sp>
      <p:sp>
        <p:nvSpPr>
          <p:cNvPr id="5" name="Text 3"/>
          <p:cNvSpPr txBox="1"/>
          <p:nvPr/>
        </p:nvSpPr>
        <p:spPr>
          <a:xfrm>
            <a:off x="914400" y="1664208"/>
            <a:ext cx="3291840" cy="411480"/>
          </a:xfrm>
          <a:prstGeom prst="rect">
            <a:avLst/>
          </a:prstGeom>
          <a:noFill/>
          <a:ln/>
        </p:spPr>
        <p:txBody>
          <a:bodyPr wrap="square" lIns="0" tIns="0" rIns="0" bIns="0" rtlCol="0" anchor="ctr"/>
          <a:lstStyle/>
          <a:p>
            <a:pPr marL="0" indent="0">
              <a:buNone/>
            </a:pPr>
            <a:r>
              <a:rPr lang="en-US" sz="2000" b="1" dirty="0">
                <a:solidFill>
                  <a:srgbClr val="FFFFFF"/>
                </a:solidFill>
                <a:latin typeface="Aptos" pitchFamily="34" charset="0"/>
                <a:ea typeface="Cambria" pitchFamily="34" charset="-122"/>
                <a:cs typeface="Cambria" pitchFamily="34" charset="-120"/>
              </a:rPr>
              <a:t>Agoè-Nyivé</a:t>
            </a:r>
            <a:endParaRPr lang="en-US" sz="2000" dirty="0"/>
          </a:p>
        </p:txBody>
      </p:sp>
      <p:sp>
        <p:nvSpPr>
          <p:cNvPr id="6" name="Text 4"/>
          <p:cNvSpPr txBox="1"/>
          <p:nvPr/>
        </p:nvSpPr>
        <p:spPr>
          <a:xfrm>
            <a:off x="914400" y="2103120"/>
            <a:ext cx="3291840" cy="777240"/>
          </a:xfrm>
          <a:prstGeom prst="rect">
            <a:avLst/>
          </a:prstGeom>
          <a:noFill/>
          <a:ln/>
        </p:spPr>
        <p:txBody>
          <a:bodyPr wrap="square" lIns="0" tIns="0" rIns="0" bIns="0" rtlCol="0" anchor="ctr"/>
          <a:lstStyle/>
          <a:p>
            <a:pPr marL="0" indent="0">
              <a:buNone/>
            </a:pPr>
            <a:r>
              <a:rPr lang="en-US" sz="4600" b="1" dirty="0">
                <a:solidFill>
                  <a:srgbClr val="FFFFFF"/>
                </a:solidFill>
                <a:latin typeface="Aptos" pitchFamily="34" charset="0"/>
                <a:ea typeface="Cambria" pitchFamily="34" charset="-122"/>
                <a:cs typeface="Cambria" pitchFamily="34" charset="-120"/>
              </a:rPr>
              <a:t>760</a:t>
            </a:r>
            <a:endParaRPr lang="en-US" sz="4600" dirty="0"/>
          </a:p>
        </p:txBody>
      </p:sp>
      <p:sp>
        <p:nvSpPr>
          <p:cNvPr id="7" name="Text 5"/>
          <p:cNvSpPr txBox="1"/>
          <p:nvPr/>
        </p:nvSpPr>
        <p:spPr>
          <a:xfrm>
            <a:off x="914400" y="2880360"/>
            <a:ext cx="3291840" cy="685800"/>
          </a:xfrm>
          <a:prstGeom prst="rect">
            <a:avLst/>
          </a:prstGeom>
          <a:noFill/>
          <a:ln/>
        </p:spPr>
        <p:txBody>
          <a:bodyPr wrap="square" lIns="0" tIns="0" rIns="0" bIns="0" rtlCol="0" anchor="ctr"/>
          <a:lstStyle/>
          <a:p>
            <a:pPr marL="0" indent="0">
              <a:buNone/>
            </a:pPr>
            <a:r>
              <a:rPr lang="en-US" sz="1200" dirty="0">
                <a:solidFill>
                  <a:srgbClr val="FFFFFF"/>
                </a:solidFill>
                <a:latin typeface="Aptos" pitchFamily="34" charset="0"/>
                <a:ea typeface="Calibri" pitchFamily="34" charset="-122"/>
                <a:cs typeface="Calibri" pitchFamily="34" charset="-120"/>
              </a:rPr>
              <a:t>points de service manquants</a:t>
            </a:r>
            <a:endParaRPr lang="en-US" sz="1200" dirty="0"/>
          </a:p>
          <a:p>
            <a:pPr marL="0" indent="0">
              <a:buNone/>
            </a:pPr>
            <a:r>
              <a:rPr lang="en-US" sz="1200" dirty="0">
                <a:solidFill>
                  <a:srgbClr val="FFFFFF"/>
                </a:solidFill>
                <a:latin typeface="Aptos" pitchFamily="34" charset="0"/>
                <a:ea typeface="Calibri" pitchFamily="34" charset="-122"/>
                <a:cs typeface="Calibri" pitchFamily="34" charset="-120"/>
              </a:rPr>
              <a:t>pour 882 695 habitants</a:t>
            </a:r>
            <a:endParaRPr lang="en-US" sz="1200" dirty="0"/>
          </a:p>
        </p:txBody>
      </p:sp>
      <p:sp>
        <p:nvSpPr>
          <p:cNvPr id="8" name="Text 6"/>
          <p:cNvSpPr txBox="1"/>
          <p:nvPr/>
        </p:nvSpPr>
        <p:spPr>
          <a:xfrm>
            <a:off x="640080" y="3977640"/>
            <a:ext cx="3840480" cy="2148840"/>
          </a:xfrm>
          <a:prstGeom prst="rect">
            <a:avLst/>
          </a:prstGeom>
          <a:noFill/>
          <a:ln/>
        </p:spPr>
        <p:txBody>
          <a:bodyPr wrap="square" lIns="0" tIns="0" rIns="0" bIns="0" rtlCol="0" anchor="ctr"/>
          <a:lstStyle/>
          <a:p>
            <a:pPr marL="0" indent="0">
              <a:lnSpc>
                <a:spcPts val="1600"/>
              </a:lnSpc>
              <a:buNone/>
            </a:pPr>
            <a:r>
              <a:rPr lang="en-US" sz="1200" b="1" dirty="0">
                <a:solidFill>
                  <a:srgbClr val="0B0B0B"/>
                </a:solidFill>
                <a:latin typeface="Aptos" pitchFamily="34" charset="0"/>
                <a:ea typeface="Calibri" pitchFamily="34" charset="-122"/>
                <a:cs typeface="Calibri" pitchFamily="34" charset="-120"/>
              </a:rPr>
              <a:t>La banlieue de Lomé, pas une zone reculée.</a:t>
            </a:r>
            <a:endParaRPr lang="en-US" sz="1200" dirty="0"/>
          </a:p>
          <a:p>
            <a:pPr marL="0" indent="0">
              <a:lnSpc>
                <a:spcPts val="1600"/>
              </a:lnSpc>
              <a:buNone/>
            </a:pPr>
            <a:r>
              <a:rPr lang="en-US" sz="1200" dirty="0">
                <a:solidFill>
                  <a:srgbClr val="0B0B0B"/>
                </a:solidFill>
                <a:latin typeface="Aptos" pitchFamily="34" charset="0"/>
                <a:ea typeface="Calibri" pitchFamily="34" charset="-122"/>
                <a:cs typeface="Calibri" pitchFamily="34" charset="-120"/>
              </a:rPr>
              <a:t>Une préfecture périurbaine fortement peuplée affiche 0,65 fois l’accès attendu au regard de sa population. Son niveau de service reste inférieur à ce qu’impliquerait une répartition proportionnelle à la population.</a:t>
            </a:r>
            <a:endParaRPr lang="en-US" sz="1200" dirty="0"/>
          </a:p>
          <a:p>
            <a:pPr marL="0" indent="0">
              <a:lnSpc>
                <a:spcPts val="1600"/>
              </a:lnSpc>
              <a:buNone/>
            </a:pPr>
            <a:endParaRPr lang="en-US" sz="1200" dirty="0"/>
          </a:p>
          <a:p>
            <a:pPr marL="0" indent="0">
              <a:lnSpc>
                <a:spcPts val="1600"/>
              </a:lnSpc>
              <a:buNone/>
            </a:pPr>
            <a:r>
              <a:rPr lang="en-US" sz="1200" dirty="0">
                <a:solidFill>
                  <a:srgbClr val="0B0B0B"/>
                </a:solidFill>
                <a:latin typeface="Aptos" pitchFamily="34" charset="0"/>
                <a:ea typeface="Calibri" pitchFamily="34" charset="-122"/>
                <a:cs typeface="Calibri" pitchFamily="34" charset="-120"/>
              </a:rPr>
              <a:t>À l’inverse, les préfectures les mieux dotées sont les chefs-lieux régionaux : Sokodé (2,4×), Kara (2,3×), Cinkassé (1,7×), devant Lomé.</a:t>
            </a:r>
            <a:endParaRPr lang="en-US" sz="1200" dirty="0"/>
          </a:p>
          <a:p>
            <a:pPr marL="0" indent="0">
              <a:lnSpc>
                <a:spcPts val="1600"/>
              </a:lnSpc>
              <a:buNone/>
            </a:pPr>
            <a:endParaRPr lang="en-US" sz="1200" dirty="0"/>
          </a:p>
          <a:p>
            <a:pPr marL="0" indent="0">
              <a:lnSpc>
                <a:spcPts val="1600"/>
              </a:lnSpc>
              <a:buNone/>
            </a:pPr>
            <a:r>
              <a:rPr lang="en-US" sz="1200" b="1" dirty="0">
                <a:solidFill>
                  <a:srgbClr val="0B0B0B"/>
                </a:solidFill>
                <a:latin typeface="Aptos" pitchFamily="34" charset="0"/>
                <a:ea typeface="Calibri" pitchFamily="34" charset="-122"/>
                <a:cs typeface="Calibri" pitchFamily="34" charset="-120"/>
              </a:rPr>
              <a:t>L’implantation suit la carte administrative, pas la carte démographique.</a:t>
            </a:r>
            <a:endParaRPr lang="en-US" sz="1200" dirty="0"/>
          </a:p>
        </p:txBody>
      </p:sp>
      <p:graphicFrame>
        <p:nvGraphicFramePr>
          <p:cNvPr id="9" name="Chart 0"/>
          <p:cNvGraphicFramePr/>
          <p:nvPr/>
        </p:nvGraphicFramePr>
        <p:xfrm>
          <a:off x="4846320" y="1554480"/>
          <a:ext cx="667512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 7"/>
          <p:cNvSpPr txBox="1"/>
          <p:nvPr/>
        </p:nvSpPr>
        <p:spPr>
          <a:xfrm>
            <a:off x="640080" y="6369558"/>
            <a:ext cx="10881360" cy="365760"/>
          </a:xfrm>
          <a:prstGeom prst="rect">
            <a:avLst/>
          </a:prstGeom>
          <a:noFill/>
          <a:ln/>
        </p:spPr>
        <p:txBody>
          <a:bodyPr wrap="square" lIns="0" tIns="0" rIns="0" bIns="0" rtlCol="0" anchor="ctr"/>
          <a:lstStyle/>
          <a:p>
            <a:pPr marL="0" indent="0">
              <a:buNone/>
            </a:pPr>
            <a:r>
              <a:rPr lang="en-US" sz="1200" b="1" dirty="0">
                <a:solidFill>
                  <a:srgbClr val="0B0B0B"/>
                </a:solidFill>
                <a:latin typeface="Aptos" pitchFamily="34" charset="0"/>
                <a:ea typeface="Calibri" pitchFamily="34" charset="-122"/>
                <a:cs typeface="Calibri" pitchFamily="34" charset="-120"/>
              </a:rPr>
              <a:t>« Attendu » = répartition strictement proportionnelle à la population. Hypothèse normative explicite, pas une vérité économique.</a:t>
            </a:r>
            <a:endParaRPr lang="en-US" sz="1200" b="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CFB"/>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ctr"/>
          <a:lstStyle/>
          <a:p>
            <a:pPr marL="0" indent="0">
              <a:buNone/>
            </a:pPr>
            <a:r>
              <a:rPr lang="en-US" sz="1100" b="1" kern="0" spc="200" dirty="0">
                <a:solidFill>
                  <a:srgbClr val="12345F"/>
                </a:solidFill>
                <a:latin typeface="Aptos" pitchFamily="34" charset="0"/>
                <a:ea typeface="Calibri" pitchFamily="34" charset="-122"/>
                <a:cs typeface="Calibri" pitchFamily="34" charset="-120"/>
              </a:rPr>
              <a:t>PRIORISATION</a:t>
            </a:r>
            <a:endParaRPr lang="en-US" sz="1100" dirty="0"/>
          </a:p>
        </p:txBody>
      </p:sp>
      <p:sp>
        <p:nvSpPr>
          <p:cNvPr id="3" name="Text 1"/>
          <p:cNvSpPr txBox="1"/>
          <p:nvPr/>
        </p:nvSpPr>
        <p:spPr>
          <a:xfrm>
            <a:off x="640080" y="658368"/>
            <a:ext cx="10881360" cy="658368"/>
          </a:xfrm>
          <a:prstGeom prst="rect">
            <a:avLst/>
          </a:prstGeom>
          <a:noFill/>
          <a:ln/>
        </p:spPr>
        <p:txBody>
          <a:bodyPr wrap="square" lIns="0" tIns="0" rIns="0" bIns="0" rtlCol="0" anchor="ctr"/>
          <a:lstStyle/>
          <a:p>
            <a:pPr marL="0" indent="0">
              <a:buNone/>
            </a:pPr>
            <a:r>
              <a:rPr lang="en-US" sz="3000" b="1" dirty="0">
                <a:solidFill>
                  <a:srgbClr val="12345F"/>
                </a:solidFill>
                <a:latin typeface="Aptos" pitchFamily="34" charset="0"/>
                <a:ea typeface="Cambria" pitchFamily="34" charset="-122"/>
                <a:cs typeface="Cambria" pitchFamily="34" charset="-120"/>
              </a:rPr>
              <a:t>Une priorisation dont chaque paramètre est visible</a:t>
            </a:r>
            <a:endParaRPr lang="en-US" sz="3000" dirty="0"/>
          </a:p>
        </p:txBody>
      </p:sp>
      <p:sp>
        <p:nvSpPr>
          <p:cNvPr id="4" name="Shape 2"/>
          <p:cNvSpPr/>
          <p:nvPr/>
        </p:nvSpPr>
        <p:spPr>
          <a:xfrm>
            <a:off x="640080" y="1463040"/>
            <a:ext cx="3931920" cy="914400"/>
          </a:xfrm>
          <a:prstGeom prst="roundRect">
            <a:avLst>
              <a:gd name="adj" fmla="val 6000"/>
            </a:avLst>
          </a:prstGeom>
          <a:solidFill>
            <a:srgbClr val="EAF1FB"/>
          </a:solidFill>
          <a:ln w="12700">
            <a:solidFill>
              <a:srgbClr val="EAF1FB"/>
            </a:solidFill>
            <a:prstDash val="solid"/>
          </a:ln>
        </p:spPr>
        <p:txBody>
          <a:bodyPr/>
          <a:lstStyle/>
          <a:p>
            <a:endParaRPr/>
          </a:p>
        </p:txBody>
      </p:sp>
      <p:sp>
        <p:nvSpPr>
          <p:cNvPr id="5" name="Text 3"/>
          <p:cNvSpPr txBox="1"/>
          <p:nvPr/>
        </p:nvSpPr>
        <p:spPr>
          <a:xfrm>
            <a:off x="841248" y="1664208"/>
            <a:ext cx="3566160" cy="548640"/>
          </a:xfrm>
          <a:prstGeom prst="rect">
            <a:avLst/>
          </a:prstGeom>
          <a:noFill/>
          <a:ln/>
        </p:spPr>
        <p:txBody>
          <a:bodyPr wrap="square" lIns="0" tIns="0" rIns="0" bIns="0" rtlCol="0" anchor="ctr"/>
          <a:lstStyle/>
          <a:p>
            <a:pPr marL="0" indent="0">
              <a:buNone/>
            </a:pPr>
            <a:r>
              <a:rPr lang="en-US" sz="1200" b="1" dirty="0">
                <a:solidFill>
                  <a:srgbClr val="12345F"/>
                </a:solidFill>
                <a:latin typeface="Aptos" pitchFamily="34" charset="0"/>
                <a:ea typeface="Courier New" pitchFamily="34" charset="-122"/>
                <a:cs typeface="Courier New" pitchFamily="34" charset="-120"/>
              </a:rPr>
              <a:t>priorité  =  déficit  ×  (part de population)^α  ×  bonus zone blanche</a:t>
            </a:r>
            <a:endParaRPr lang="en-US" sz="1200" dirty="0"/>
          </a:p>
        </p:txBody>
      </p:sp>
      <p:sp>
        <p:nvSpPr>
          <p:cNvPr id="6" name="Text 4"/>
          <p:cNvSpPr txBox="1"/>
          <p:nvPr/>
        </p:nvSpPr>
        <p:spPr>
          <a:xfrm>
            <a:off x="640080" y="2606040"/>
            <a:ext cx="3931920" cy="3291840"/>
          </a:xfrm>
          <a:prstGeom prst="rect">
            <a:avLst/>
          </a:prstGeom>
          <a:noFill/>
          <a:ln/>
        </p:spPr>
        <p:txBody>
          <a:bodyPr wrap="square" lIns="0" tIns="0" rIns="0" bIns="0" rtlCol="0" anchor="ctr"/>
          <a:lstStyle/>
          <a:p>
            <a:pPr marL="0" indent="0">
              <a:lnSpc>
                <a:spcPts val="1600"/>
              </a:lnSpc>
              <a:buNone/>
            </a:pPr>
            <a:r>
              <a:rPr lang="en-US" sz="1200" b="1" dirty="0">
                <a:solidFill>
                  <a:srgbClr val="0B0B0B"/>
                </a:solidFill>
                <a:latin typeface="Aptos" pitchFamily="34" charset="0"/>
                <a:ea typeface="Calibri" pitchFamily="34" charset="-122"/>
                <a:cs typeface="Calibri" pitchFamily="34" charset="-120"/>
              </a:rPr>
              <a:t>Le rôle de α.</a:t>
            </a:r>
            <a:endParaRPr lang="en-US" sz="1200" dirty="0"/>
          </a:p>
          <a:p>
            <a:pPr marL="0" indent="0">
              <a:lnSpc>
                <a:spcPts val="1600"/>
              </a:lnSpc>
              <a:buNone/>
            </a:pPr>
            <a:r>
              <a:rPr lang="en-US" sz="1200" dirty="0">
                <a:solidFill>
                  <a:srgbClr val="0B0B0B"/>
                </a:solidFill>
                <a:latin typeface="Aptos" pitchFamily="34" charset="0"/>
                <a:ea typeface="Calibri" pitchFamily="34" charset="-122"/>
                <a:cs typeface="Calibri" pitchFamily="34" charset="-120"/>
              </a:rPr>
              <a:t>Le curseur α équilibre deux priorités : corriger le déficit brut ou privilégier les territoires où davantage d’habitants sont concernés.</a:t>
            </a:r>
            <a:endParaRPr lang="en-US" sz="1200" dirty="0"/>
          </a:p>
          <a:p>
            <a:pPr marL="0" indent="0">
              <a:lnSpc>
                <a:spcPts val="1600"/>
              </a:lnSpc>
              <a:buNone/>
            </a:pPr>
            <a:endParaRPr lang="en-US" sz="1200" dirty="0"/>
          </a:p>
          <a:p>
            <a:pPr marL="0" indent="0">
              <a:lnSpc>
                <a:spcPts val="1600"/>
              </a:lnSpc>
              <a:buNone/>
            </a:pPr>
            <a:r>
              <a:rPr lang="en-US" sz="1200" dirty="0">
                <a:solidFill>
                  <a:srgbClr val="0B0B0B"/>
                </a:solidFill>
                <a:latin typeface="Aptos" pitchFamily="34" charset="0"/>
                <a:ea typeface="Calibri" pitchFamily="34" charset="-122"/>
                <a:cs typeface="Calibri" pitchFamily="34" charset="-120"/>
              </a:rPr>
              <a:t>α = 0 classe au déficit brut ; α = 1 privilégie le nombre d’habitants touchés. La valeur retenue, 0,5, est un compromise, et il est réglable en direct dans le tableau de bord.</a:t>
            </a:r>
            <a:endParaRPr lang="en-US" sz="1200" dirty="0"/>
          </a:p>
          <a:p>
            <a:pPr marL="0" indent="0">
              <a:lnSpc>
                <a:spcPts val="1600"/>
              </a:lnSpc>
              <a:buNone/>
            </a:pPr>
            <a:endParaRPr lang="en-US" sz="1200" dirty="0"/>
          </a:p>
          <a:p>
            <a:pPr marL="0" indent="0">
              <a:lnSpc>
                <a:spcPts val="1600"/>
              </a:lnSpc>
              <a:buNone/>
            </a:pPr>
            <a:r>
              <a:rPr lang="en-US" sz="1200" b="1" dirty="0">
                <a:solidFill>
                  <a:srgbClr val="0B0B0B"/>
                </a:solidFill>
                <a:latin typeface="Aptos" pitchFamily="34" charset="0"/>
                <a:ea typeface="Calibri" pitchFamily="34" charset="-122"/>
                <a:cs typeface="Calibri" pitchFamily="34" charset="-120"/>
              </a:rPr>
              <a:t>Ce choix est un arbitrage politique, pas un </a:t>
            </a:r>
            <a:r>
              <a:rPr lang="en-US" sz="1200" b="1" dirty="0" err="1">
                <a:solidFill>
                  <a:srgbClr val="0B0B0B"/>
                </a:solidFill>
                <a:latin typeface="Aptos" pitchFamily="34" charset="0"/>
                <a:ea typeface="Calibri" pitchFamily="34" charset="-122"/>
                <a:cs typeface="Calibri" pitchFamily="34" charset="-120"/>
              </a:rPr>
              <a:t>résultat</a:t>
            </a:r>
            <a:r>
              <a:rPr lang="en-US" sz="1200" b="1" dirty="0">
                <a:solidFill>
                  <a:srgbClr val="0B0B0B"/>
                </a:solidFill>
                <a:latin typeface="Aptos" pitchFamily="34" charset="0"/>
                <a:ea typeface="Calibri" pitchFamily="34" charset="-122"/>
                <a:cs typeface="Calibri" pitchFamily="34" charset="-120"/>
              </a:rPr>
              <a:t> </a:t>
            </a:r>
            <a:r>
              <a:rPr lang="en-US" sz="1200" b="1" dirty="0" err="1">
                <a:solidFill>
                  <a:srgbClr val="0B0B0B"/>
                </a:solidFill>
                <a:latin typeface="Aptos" pitchFamily="34" charset="0"/>
                <a:ea typeface="Calibri" pitchFamily="34" charset="-122"/>
                <a:cs typeface="Calibri" pitchFamily="34" charset="-120"/>
              </a:rPr>
              <a:t>statistique</a:t>
            </a:r>
            <a:r>
              <a:rPr lang="en-US" sz="1200" b="1" dirty="0">
                <a:solidFill>
                  <a:srgbClr val="0B0B0B"/>
                </a:solidFill>
                <a:latin typeface="Aptos" pitchFamily="34" charset="0"/>
                <a:ea typeface="Calibri" pitchFamily="34" charset="-122"/>
                <a:cs typeface="Calibri" pitchFamily="34" charset="-120"/>
              </a:rPr>
              <a:t>.</a:t>
            </a:r>
            <a:endParaRPr lang="en-US" sz="1200" dirty="0"/>
          </a:p>
        </p:txBody>
      </p:sp>
      <p:graphicFrame>
        <p:nvGraphicFramePr>
          <p:cNvPr id="7" name="Chart 0"/>
          <p:cNvGraphicFramePr/>
          <p:nvPr/>
        </p:nvGraphicFramePr>
        <p:xfrm>
          <a:off x="4846320" y="1554480"/>
          <a:ext cx="667512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txBox="1"/>
          <p:nvPr/>
        </p:nvSpPr>
        <p:spPr>
          <a:xfrm>
            <a:off x="640080" y="6236208"/>
            <a:ext cx="10881360" cy="365760"/>
          </a:xfrm>
          <a:prstGeom prst="rect">
            <a:avLst/>
          </a:prstGeom>
          <a:noFill/>
          <a:ln/>
        </p:spPr>
        <p:txBody>
          <a:bodyPr wrap="square" lIns="0" tIns="0" rIns="0" bIns="0" rtlCol="0" anchor="ctr"/>
          <a:lstStyle/>
          <a:p>
            <a:pPr marL="0" indent="0">
              <a:buNone/>
            </a:pPr>
            <a:r>
              <a:rPr lang="en-US" sz="1100" b="1" dirty="0">
                <a:solidFill>
                  <a:srgbClr val="0B0B0B"/>
                </a:solidFill>
                <a:latin typeface="Aptos" pitchFamily="34" charset="0"/>
                <a:ea typeface="Calibri" pitchFamily="34" charset="-122"/>
                <a:cs typeface="Calibri" pitchFamily="34" charset="-120"/>
              </a:rPr>
              <a:t>Aucun modèle </a:t>
            </a:r>
            <a:r>
              <a:rPr lang="en-US" sz="1100" b="1" dirty="0" err="1">
                <a:solidFill>
                  <a:srgbClr val="0B0B0B"/>
                </a:solidFill>
                <a:latin typeface="Aptos" pitchFamily="34" charset="0"/>
                <a:ea typeface="Calibri" pitchFamily="34" charset="-122"/>
                <a:cs typeface="Calibri" pitchFamily="34" charset="-120"/>
              </a:rPr>
              <a:t>boîte</a:t>
            </a:r>
            <a:r>
              <a:rPr lang="en-US" sz="1100" b="1" dirty="0">
                <a:solidFill>
                  <a:srgbClr val="0B0B0B"/>
                </a:solidFill>
                <a:latin typeface="Aptos" pitchFamily="34" charset="0"/>
                <a:ea typeface="Calibri" pitchFamily="34" charset="-122"/>
                <a:cs typeface="Calibri" pitchFamily="34" charset="-120"/>
              </a:rPr>
              <a:t> noire : le score se </a:t>
            </a:r>
            <a:r>
              <a:rPr lang="en-US" sz="1100" b="1" dirty="0" err="1">
                <a:solidFill>
                  <a:srgbClr val="0B0B0B"/>
                </a:solidFill>
                <a:latin typeface="Aptos" pitchFamily="34" charset="0"/>
                <a:ea typeface="Calibri" pitchFamily="34" charset="-122"/>
                <a:cs typeface="Calibri" pitchFamily="34" charset="-120"/>
              </a:rPr>
              <a:t>recalcule</a:t>
            </a:r>
            <a:r>
              <a:rPr lang="en-US" sz="1100" b="1" dirty="0">
                <a:solidFill>
                  <a:srgbClr val="0B0B0B"/>
                </a:solidFill>
                <a:latin typeface="Aptos" pitchFamily="34" charset="0"/>
                <a:ea typeface="Calibri" pitchFamily="34" charset="-122"/>
                <a:cs typeface="Calibri" pitchFamily="34" charset="-120"/>
              </a:rPr>
              <a:t> à partir de la table publiée.</a:t>
            </a:r>
            <a:endParaRPr lang="en-US" sz="1100" b="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CFB"/>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ctr"/>
          <a:lstStyle/>
          <a:p>
            <a:pPr marL="0" indent="0">
              <a:buNone/>
            </a:pPr>
            <a:r>
              <a:rPr lang="en-US" sz="1100" b="1" kern="0" spc="200" dirty="0">
                <a:solidFill>
                  <a:srgbClr val="12345F"/>
                </a:solidFill>
                <a:latin typeface="Aptos" pitchFamily="34" charset="0"/>
                <a:ea typeface="Calibri" pitchFamily="34" charset="-122"/>
                <a:cs typeface="Calibri" pitchFamily="34" charset="-120"/>
              </a:rPr>
              <a:t>RECOMMANDATIONS</a:t>
            </a:r>
            <a:endParaRPr lang="en-US" sz="1100" dirty="0"/>
          </a:p>
        </p:txBody>
      </p:sp>
      <p:sp>
        <p:nvSpPr>
          <p:cNvPr id="3" name="Text 1"/>
          <p:cNvSpPr txBox="1"/>
          <p:nvPr/>
        </p:nvSpPr>
        <p:spPr>
          <a:xfrm>
            <a:off x="640080" y="658368"/>
            <a:ext cx="10881360" cy="658368"/>
          </a:xfrm>
          <a:prstGeom prst="rect">
            <a:avLst/>
          </a:prstGeom>
          <a:noFill/>
          <a:ln/>
        </p:spPr>
        <p:txBody>
          <a:bodyPr wrap="square" lIns="0" tIns="0" rIns="0" bIns="0" rtlCol="0" anchor="ctr"/>
          <a:lstStyle/>
          <a:p>
            <a:pPr marL="0" indent="0">
              <a:buNone/>
            </a:pPr>
            <a:r>
              <a:rPr lang="en-US" sz="3000" b="1" dirty="0">
                <a:solidFill>
                  <a:srgbClr val="12345F"/>
                </a:solidFill>
                <a:latin typeface="Aptos" pitchFamily="34" charset="0"/>
                <a:ea typeface="Cambria" pitchFamily="34" charset="-122"/>
                <a:cs typeface="Cambria" pitchFamily="34" charset="-120"/>
              </a:rPr>
              <a:t>Cinq recommandations</a:t>
            </a:r>
            <a:endParaRPr lang="en-US" sz="3000" dirty="0"/>
          </a:p>
        </p:txBody>
      </p:sp>
      <p:sp>
        <p:nvSpPr>
          <p:cNvPr id="4" name="Shape 2"/>
          <p:cNvSpPr/>
          <p:nvPr/>
        </p:nvSpPr>
        <p:spPr>
          <a:xfrm>
            <a:off x="685800" y="1536192"/>
            <a:ext cx="384048" cy="384048"/>
          </a:xfrm>
          <a:prstGeom prst="ellipse">
            <a:avLst/>
          </a:prstGeom>
          <a:solidFill>
            <a:srgbClr val="12345F"/>
          </a:solidFill>
          <a:ln w="12700">
            <a:solidFill>
              <a:srgbClr val="12345F"/>
            </a:solidFill>
            <a:prstDash val="solid"/>
          </a:ln>
        </p:spPr>
        <p:txBody>
          <a:bodyPr/>
          <a:lstStyle/>
          <a:p>
            <a:endParaRPr/>
          </a:p>
        </p:txBody>
      </p:sp>
      <p:sp>
        <p:nvSpPr>
          <p:cNvPr id="5" name="Text 3"/>
          <p:cNvSpPr txBox="1"/>
          <p:nvPr/>
        </p:nvSpPr>
        <p:spPr>
          <a:xfrm>
            <a:off x="685800" y="1586484"/>
            <a:ext cx="384048" cy="274320"/>
          </a:xfrm>
          <a:prstGeom prst="rect">
            <a:avLst/>
          </a:prstGeom>
          <a:noFill/>
          <a:ln/>
        </p:spPr>
        <p:txBody>
          <a:bodyPr wrap="square" lIns="0" tIns="0" rIns="0" bIns="0" rtlCol="0" anchor="ctr"/>
          <a:lstStyle/>
          <a:p>
            <a:pPr marL="0" indent="0" algn="ctr">
              <a:buNone/>
            </a:pPr>
            <a:r>
              <a:rPr lang="en-US" sz="1500" b="1" dirty="0">
                <a:solidFill>
                  <a:srgbClr val="FFFFFF"/>
                </a:solidFill>
                <a:latin typeface="Aptos" pitchFamily="34" charset="0"/>
                <a:ea typeface="Cambria" pitchFamily="34" charset="-122"/>
                <a:cs typeface="Cambria" pitchFamily="34" charset="-120"/>
              </a:rPr>
              <a:t>1</a:t>
            </a:r>
            <a:endParaRPr lang="en-US" sz="1500" dirty="0"/>
          </a:p>
        </p:txBody>
      </p:sp>
      <p:sp>
        <p:nvSpPr>
          <p:cNvPr id="6" name="Text 4"/>
          <p:cNvSpPr txBox="1"/>
          <p:nvPr/>
        </p:nvSpPr>
        <p:spPr>
          <a:xfrm>
            <a:off x="1298448" y="1481328"/>
            <a:ext cx="10241280" cy="292608"/>
          </a:xfrm>
          <a:prstGeom prst="rect">
            <a:avLst/>
          </a:prstGeom>
          <a:noFill/>
          <a:ln/>
        </p:spPr>
        <p:txBody>
          <a:bodyPr wrap="square" lIns="0" tIns="0" rIns="0" bIns="0" rtlCol="0" anchor="ctr"/>
          <a:lstStyle/>
          <a:p>
            <a:pPr marL="0" indent="0">
              <a:buNone/>
            </a:pPr>
            <a:r>
              <a:rPr lang="en-US" sz="1400" b="1" dirty="0">
                <a:solidFill>
                  <a:srgbClr val="12345F"/>
                </a:solidFill>
                <a:latin typeface="Aptos" pitchFamily="34" charset="0"/>
                <a:ea typeface="Cambria" pitchFamily="34" charset="-122"/>
                <a:cs typeface="Cambria" pitchFamily="34" charset="-120"/>
              </a:rPr>
              <a:t>Concentrer l’effort sur trois préfectures</a:t>
            </a:r>
            <a:endParaRPr lang="en-US" sz="1400" dirty="0"/>
          </a:p>
        </p:txBody>
      </p:sp>
      <p:sp>
        <p:nvSpPr>
          <p:cNvPr id="7" name="Text 5"/>
          <p:cNvSpPr txBox="1"/>
          <p:nvPr/>
        </p:nvSpPr>
        <p:spPr>
          <a:xfrm>
            <a:off x="1298448" y="1792224"/>
            <a:ext cx="10241280" cy="548640"/>
          </a:xfrm>
          <a:prstGeom prst="rect">
            <a:avLst/>
          </a:prstGeom>
          <a:noFill/>
          <a:ln/>
        </p:spPr>
        <p:txBody>
          <a:bodyPr wrap="square" lIns="0" tIns="0" rIns="0" bIns="0" rtlCol="0" anchor="ctr"/>
          <a:lstStyle/>
          <a:p>
            <a:pPr marL="0" indent="0">
              <a:buNone/>
            </a:pPr>
            <a:r>
              <a:rPr lang="en-US" sz="1150" dirty="0">
                <a:solidFill>
                  <a:srgbClr val="0B0B0B"/>
                </a:solidFill>
                <a:latin typeface="Aptos" pitchFamily="34" charset="0"/>
                <a:ea typeface="Calibri" pitchFamily="34" charset="-122"/>
                <a:cs typeface="Calibri" pitchFamily="34" charset="-120"/>
              </a:rPr>
              <a:t>Agoè-Nyivé, Zio et Haho obtiennent les scores les plus élevés : elles combinent déficit important et population nombreuse.</a:t>
            </a:r>
            <a:endParaRPr lang="en-US" sz="1150" dirty="0"/>
          </a:p>
        </p:txBody>
      </p:sp>
      <p:sp>
        <p:nvSpPr>
          <p:cNvPr id="8" name="Shape 6"/>
          <p:cNvSpPr/>
          <p:nvPr/>
        </p:nvSpPr>
        <p:spPr>
          <a:xfrm>
            <a:off x="685800" y="2523744"/>
            <a:ext cx="384048" cy="384048"/>
          </a:xfrm>
          <a:prstGeom prst="ellipse">
            <a:avLst/>
          </a:prstGeom>
          <a:solidFill>
            <a:srgbClr val="12345F"/>
          </a:solidFill>
          <a:ln w="12700">
            <a:solidFill>
              <a:srgbClr val="12345F"/>
            </a:solidFill>
            <a:prstDash val="solid"/>
          </a:ln>
        </p:spPr>
        <p:txBody>
          <a:bodyPr/>
          <a:lstStyle/>
          <a:p>
            <a:endParaRPr/>
          </a:p>
        </p:txBody>
      </p:sp>
      <p:sp>
        <p:nvSpPr>
          <p:cNvPr id="9" name="Text 7"/>
          <p:cNvSpPr txBox="1"/>
          <p:nvPr/>
        </p:nvSpPr>
        <p:spPr>
          <a:xfrm>
            <a:off x="685800" y="2574036"/>
            <a:ext cx="384048" cy="274320"/>
          </a:xfrm>
          <a:prstGeom prst="rect">
            <a:avLst/>
          </a:prstGeom>
          <a:noFill/>
          <a:ln/>
        </p:spPr>
        <p:txBody>
          <a:bodyPr wrap="square" lIns="0" tIns="0" rIns="0" bIns="0" rtlCol="0" anchor="ctr"/>
          <a:lstStyle/>
          <a:p>
            <a:pPr marL="0" indent="0" algn="ctr">
              <a:buNone/>
            </a:pPr>
            <a:r>
              <a:rPr lang="en-US" sz="1500" b="1" dirty="0">
                <a:solidFill>
                  <a:srgbClr val="FFFFFF"/>
                </a:solidFill>
                <a:latin typeface="Aptos" pitchFamily="34" charset="0"/>
                <a:ea typeface="Cambria" pitchFamily="34" charset="-122"/>
                <a:cs typeface="Cambria" pitchFamily="34" charset="-120"/>
              </a:rPr>
              <a:t>2</a:t>
            </a:r>
            <a:endParaRPr lang="en-US" sz="1500" dirty="0"/>
          </a:p>
        </p:txBody>
      </p:sp>
      <p:sp>
        <p:nvSpPr>
          <p:cNvPr id="10" name="Text 8"/>
          <p:cNvSpPr txBox="1"/>
          <p:nvPr/>
        </p:nvSpPr>
        <p:spPr>
          <a:xfrm>
            <a:off x="1298448" y="2468880"/>
            <a:ext cx="10241280" cy="292608"/>
          </a:xfrm>
          <a:prstGeom prst="rect">
            <a:avLst/>
          </a:prstGeom>
          <a:noFill/>
          <a:ln/>
        </p:spPr>
        <p:txBody>
          <a:bodyPr wrap="square" lIns="0" tIns="0" rIns="0" bIns="0" rtlCol="0" anchor="ctr"/>
          <a:lstStyle/>
          <a:p>
            <a:pPr marL="0" indent="0">
              <a:buNone/>
            </a:pPr>
            <a:r>
              <a:rPr lang="en-US" sz="1400" b="1" dirty="0">
                <a:solidFill>
                  <a:srgbClr val="12345F"/>
                </a:solidFill>
                <a:latin typeface="Aptos" pitchFamily="34" charset="0"/>
                <a:ea typeface="Cambria" pitchFamily="34" charset="-122"/>
                <a:cs typeface="Cambria" pitchFamily="34" charset="-120"/>
              </a:rPr>
              <a:t>S’appuyer sur les agents, pas sur les agences</a:t>
            </a:r>
            <a:endParaRPr lang="en-US" sz="1400" dirty="0"/>
          </a:p>
        </p:txBody>
      </p:sp>
      <p:sp>
        <p:nvSpPr>
          <p:cNvPr id="11" name="Text 9"/>
          <p:cNvSpPr txBox="1"/>
          <p:nvPr/>
        </p:nvSpPr>
        <p:spPr>
          <a:xfrm>
            <a:off x="1298448" y="2779776"/>
            <a:ext cx="10241280" cy="548640"/>
          </a:xfrm>
          <a:prstGeom prst="rect">
            <a:avLst/>
          </a:prstGeom>
          <a:noFill/>
          <a:ln/>
        </p:spPr>
        <p:txBody>
          <a:bodyPr wrap="square" lIns="0" tIns="0" rIns="0" bIns="0" rtlCol="0" anchor="ctr"/>
          <a:lstStyle/>
          <a:p>
            <a:pPr marL="0" indent="0">
              <a:buNone/>
            </a:pPr>
            <a:r>
              <a:rPr lang="en-US" sz="1150" dirty="0">
                <a:solidFill>
                  <a:srgbClr val="0B0B0B"/>
                </a:solidFill>
                <a:latin typeface="Aptos" pitchFamily="34" charset="0"/>
                <a:ea typeface="Calibri" pitchFamily="34" charset="-122"/>
                <a:cs typeface="Calibri" pitchFamily="34" charset="-120"/>
              </a:rPr>
              <a:t>Gini 0,31 contre 0,38. Les données plaident pour densifier les agents, mieux répartis territorialement que les agences.</a:t>
            </a:r>
            <a:endParaRPr lang="en-US" sz="1150" dirty="0"/>
          </a:p>
        </p:txBody>
      </p:sp>
      <p:sp>
        <p:nvSpPr>
          <p:cNvPr id="12" name="Shape 10"/>
          <p:cNvSpPr/>
          <p:nvPr/>
        </p:nvSpPr>
        <p:spPr>
          <a:xfrm>
            <a:off x="685800" y="3511296"/>
            <a:ext cx="384048" cy="384048"/>
          </a:xfrm>
          <a:prstGeom prst="ellipse">
            <a:avLst/>
          </a:prstGeom>
          <a:solidFill>
            <a:srgbClr val="12345F"/>
          </a:solidFill>
          <a:ln w="12700">
            <a:solidFill>
              <a:srgbClr val="12345F"/>
            </a:solidFill>
            <a:prstDash val="solid"/>
          </a:ln>
        </p:spPr>
        <p:txBody>
          <a:bodyPr/>
          <a:lstStyle/>
          <a:p>
            <a:endParaRPr/>
          </a:p>
        </p:txBody>
      </p:sp>
      <p:sp>
        <p:nvSpPr>
          <p:cNvPr id="13" name="Text 11"/>
          <p:cNvSpPr txBox="1"/>
          <p:nvPr/>
        </p:nvSpPr>
        <p:spPr>
          <a:xfrm>
            <a:off x="685800" y="3561588"/>
            <a:ext cx="384048" cy="274320"/>
          </a:xfrm>
          <a:prstGeom prst="rect">
            <a:avLst/>
          </a:prstGeom>
          <a:noFill/>
          <a:ln/>
        </p:spPr>
        <p:txBody>
          <a:bodyPr wrap="square" lIns="0" tIns="0" rIns="0" bIns="0" rtlCol="0" anchor="ctr"/>
          <a:lstStyle/>
          <a:p>
            <a:pPr marL="0" indent="0" algn="ctr">
              <a:buNone/>
            </a:pPr>
            <a:r>
              <a:rPr lang="en-US" sz="1500" b="1" dirty="0">
                <a:solidFill>
                  <a:srgbClr val="FFFFFF"/>
                </a:solidFill>
                <a:latin typeface="Aptos" pitchFamily="34" charset="0"/>
                <a:ea typeface="Cambria" pitchFamily="34" charset="-122"/>
                <a:cs typeface="Cambria" pitchFamily="34" charset="-120"/>
              </a:rPr>
              <a:t>3</a:t>
            </a:r>
            <a:endParaRPr lang="en-US" sz="1500" dirty="0"/>
          </a:p>
        </p:txBody>
      </p:sp>
      <p:sp>
        <p:nvSpPr>
          <p:cNvPr id="14" name="Text 12"/>
          <p:cNvSpPr txBox="1"/>
          <p:nvPr/>
        </p:nvSpPr>
        <p:spPr>
          <a:xfrm>
            <a:off x="1298448" y="3456432"/>
            <a:ext cx="10241280" cy="292608"/>
          </a:xfrm>
          <a:prstGeom prst="rect">
            <a:avLst/>
          </a:prstGeom>
          <a:noFill/>
          <a:ln/>
        </p:spPr>
        <p:txBody>
          <a:bodyPr wrap="square" lIns="0" tIns="0" rIns="0" bIns="0" rtlCol="0" anchor="ctr"/>
          <a:lstStyle/>
          <a:p>
            <a:pPr marL="0" indent="0">
              <a:buNone/>
            </a:pPr>
            <a:r>
              <a:rPr lang="en-US" sz="1400" b="1" dirty="0">
                <a:solidFill>
                  <a:srgbClr val="12345F"/>
                </a:solidFill>
                <a:latin typeface="Aptos" pitchFamily="34" charset="0"/>
                <a:ea typeface="Cambria" pitchFamily="34" charset="-122"/>
                <a:cs typeface="Cambria" pitchFamily="34" charset="-120"/>
              </a:rPr>
              <a:t>Ouvrir un point opérateur, même mutualisé, dans les 12 préfectures sans agence</a:t>
            </a:r>
            <a:endParaRPr lang="en-US" sz="1400" dirty="0"/>
          </a:p>
        </p:txBody>
      </p:sp>
      <p:sp>
        <p:nvSpPr>
          <p:cNvPr id="15" name="Text 13"/>
          <p:cNvSpPr txBox="1"/>
          <p:nvPr/>
        </p:nvSpPr>
        <p:spPr>
          <a:xfrm>
            <a:off x="1298448" y="3767328"/>
            <a:ext cx="10241280" cy="548640"/>
          </a:xfrm>
          <a:prstGeom prst="rect">
            <a:avLst/>
          </a:prstGeom>
          <a:noFill/>
          <a:ln/>
        </p:spPr>
        <p:txBody>
          <a:bodyPr wrap="square" lIns="0" tIns="0" rIns="0" bIns="0" rtlCol="0" anchor="ctr"/>
          <a:lstStyle/>
          <a:p>
            <a:pPr marL="0" indent="0">
              <a:buNone/>
            </a:pPr>
            <a:r>
              <a:rPr lang="en-US" sz="1150" dirty="0">
                <a:solidFill>
                  <a:srgbClr val="0B0B0B"/>
                </a:solidFill>
                <a:latin typeface="Aptos" pitchFamily="34" charset="0"/>
                <a:ea typeface="Calibri" pitchFamily="34" charset="-122"/>
                <a:cs typeface="Calibri" pitchFamily="34" charset="-120"/>
              </a:rPr>
              <a:t>Est-Mono, Vo et Lacs n’ont aucun guichet opérateur. Leurs besoins en mobile money restent différents.</a:t>
            </a:r>
            <a:endParaRPr lang="en-US" sz="1150" dirty="0"/>
          </a:p>
        </p:txBody>
      </p:sp>
      <p:sp>
        <p:nvSpPr>
          <p:cNvPr id="16" name="Shape 14"/>
          <p:cNvSpPr/>
          <p:nvPr/>
        </p:nvSpPr>
        <p:spPr>
          <a:xfrm>
            <a:off x="685800" y="4498848"/>
            <a:ext cx="384048" cy="384048"/>
          </a:xfrm>
          <a:prstGeom prst="ellipse">
            <a:avLst/>
          </a:prstGeom>
          <a:solidFill>
            <a:srgbClr val="1BAF7A"/>
          </a:solidFill>
          <a:ln w="12700">
            <a:solidFill>
              <a:srgbClr val="1BAF7A"/>
            </a:solidFill>
            <a:prstDash val="solid"/>
          </a:ln>
        </p:spPr>
        <p:txBody>
          <a:bodyPr/>
          <a:lstStyle/>
          <a:p>
            <a:endParaRPr/>
          </a:p>
        </p:txBody>
      </p:sp>
      <p:sp>
        <p:nvSpPr>
          <p:cNvPr id="17" name="Text 15"/>
          <p:cNvSpPr txBox="1"/>
          <p:nvPr/>
        </p:nvSpPr>
        <p:spPr>
          <a:xfrm>
            <a:off x="685800" y="4549140"/>
            <a:ext cx="384048" cy="274320"/>
          </a:xfrm>
          <a:prstGeom prst="rect">
            <a:avLst/>
          </a:prstGeom>
          <a:noFill/>
          <a:ln/>
        </p:spPr>
        <p:txBody>
          <a:bodyPr wrap="square" lIns="0" tIns="0" rIns="0" bIns="0" rtlCol="0" anchor="ctr"/>
          <a:lstStyle/>
          <a:p>
            <a:pPr marL="0" indent="0" algn="ctr">
              <a:buNone/>
            </a:pPr>
            <a:r>
              <a:rPr lang="en-US" sz="1500" b="1" dirty="0">
                <a:solidFill>
                  <a:srgbClr val="12345F"/>
                </a:solidFill>
                <a:latin typeface="Aptos" pitchFamily="34" charset="0"/>
                <a:ea typeface="Cambria" pitchFamily="34" charset="-122"/>
                <a:cs typeface="Cambria" pitchFamily="34" charset="-120"/>
              </a:rPr>
              <a:t>4</a:t>
            </a:r>
            <a:endParaRPr lang="en-US" sz="1500" dirty="0"/>
          </a:p>
        </p:txBody>
      </p:sp>
      <p:sp>
        <p:nvSpPr>
          <p:cNvPr id="18" name="Text 16"/>
          <p:cNvSpPr txBox="1"/>
          <p:nvPr/>
        </p:nvSpPr>
        <p:spPr>
          <a:xfrm>
            <a:off x="1298448" y="4443984"/>
            <a:ext cx="10241280" cy="292608"/>
          </a:xfrm>
          <a:prstGeom prst="rect">
            <a:avLst/>
          </a:prstGeom>
          <a:noFill/>
          <a:ln/>
        </p:spPr>
        <p:txBody>
          <a:bodyPr wrap="square" lIns="0" tIns="0" rIns="0" bIns="0" rtlCol="0" anchor="ctr"/>
          <a:lstStyle/>
          <a:p>
            <a:pPr marL="0" indent="0">
              <a:buNone/>
            </a:pPr>
            <a:r>
              <a:rPr lang="en-US" sz="1400" b="1" dirty="0">
                <a:solidFill>
                  <a:srgbClr val="12345F"/>
                </a:solidFill>
                <a:latin typeface="Aptos" pitchFamily="34" charset="0"/>
                <a:ea typeface="Cambria" pitchFamily="34" charset="-122"/>
                <a:cs typeface="Cambria" pitchFamily="34" charset="-120"/>
              </a:rPr>
              <a:t>Ne pas confondre urbain et desservi</a:t>
            </a:r>
            <a:endParaRPr lang="en-US" sz="1400" dirty="0"/>
          </a:p>
        </p:txBody>
      </p:sp>
      <p:sp>
        <p:nvSpPr>
          <p:cNvPr id="19" name="Text 17"/>
          <p:cNvSpPr txBox="1"/>
          <p:nvPr/>
        </p:nvSpPr>
        <p:spPr>
          <a:xfrm>
            <a:off x="1298448" y="4754880"/>
            <a:ext cx="10241280" cy="548640"/>
          </a:xfrm>
          <a:prstGeom prst="rect">
            <a:avLst/>
          </a:prstGeom>
          <a:noFill/>
          <a:ln/>
        </p:spPr>
        <p:txBody>
          <a:bodyPr wrap="square" lIns="0" tIns="0" rIns="0" bIns="0" rtlCol="0" anchor="ctr"/>
          <a:lstStyle/>
          <a:p>
            <a:pPr marL="0" indent="0">
              <a:buNone/>
            </a:pPr>
            <a:r>
              <a:rPr lang="en-US" sz="1150" dirty="0">
                <a:solidFill>
                  <a:srgbClr val="0B0B0B"/>
                </a:solidFill>
                <a:latin typeface="Aptos" pitchFamily="34" charset="0"/>
                <a:ea typeface="Calibri" pitchFamily="34" charset="-122"/>
                <a:cs typeface="Calibri" pitchFamily="34" charset="-120"/>
              </a:rPr>
              <a:t>Le déficit le plus lourd est périurbain. Un plan fondé uniquement sur la ruralité manquerait une importante population sous-servie.</a:t>
            </a:r>
            <a:endParaRPr lang="en-US" sz="1150" dirty="0"/>
          </a:p>
        </p:txBody>
      </p:sp>
      <p:sp>
        <p:nvSpPr>
          <p:cNvPr id="20" name="Shape 18"/>
          <p:cNvSpPr/>
          <p:nvPr/>
        </p:nvSpPr>
        <p:spPr>
          <a:xfrm>
            <a:off x="685800" y="5486400"/>
            <a:ext cx="384048" cy="384048"/>
          </a:xfrm>
          <a:prstGeom prst="ellipse">
            <a:avLst/>
          </a:prstGeom>
          <a:solidFill>
            <a:srgbClr val="1BAF7A"/>
          </a:solidFill>
          <a:ln w="12700">
            <a:solidFill>
              <a:srgbClr val="1BAF7A"/>
            </a:solidFill>
            <a:prstDash val="solid"/>
          </a:ln>
        </p:spPr>
        <p:txBody>
          <a:bodyPr/>
          <a:lstStyle/>
          <a:p>
            <a:endParaRPr/>
          </a:p>
        </p:txBody>
      </p:sp>
      <p:sp>
        <p:nvSpPr>
          <p:cNvPr id="21" name="Text 19"/>
          <p:cNvSpPr txBox="1"/>
          <p:nvPr/>
        </p:nvSpPr>
        <p:spPr>
          <a:xfrm>
            <a:off x="685800" y="5536692"/>
            <a:ext cx="384048" cy="274320"/>
          </a:xfrm>
          <a:prstGeom prst="rect">
            <a:avLst/>
          </a:prstGeom>
          <a:noFill/>
          <a:ln/>
        </p:spPr>
        <p:txBody>
          <a:bodyPr wrap="square" lIns="0" tIns="0" rIns="0" bIns="0" rtlCol="0" anchor="ctr"/>
          <a:lstStyle/>
          <a:p>
            <a:pPr marL="0" indent="0" algn="ctr">
              <a:buNone/>
            </a:pPr>
            <a:r>
              <a:rPr lang="en-US" sz="1500" b="1" dirty="0">
                <a:solidFill>
                  <a:srgbClr val="12345F"/>
                </a:solidFill>
                <a:latin typeface="Aptos" pitchFamily="34" charset="0"/>
                <a:ea typeface="Cambria" pitchFamily="34" charset="-122"/>
                <a:cs typeface="Cambria" pitchFamily="34" charset="-120"/>
              </a:rPr>
              <a:t>5</a:t>
            </a:r>
            <a:endParaRPr lang="en-US" sz="1500" dirty="0"/>
          </a:p>
        </p:txBody>
      </p:sp>
      <p:sp>
        <p:nvSpPr>
          <p:cNvPr id="22" name="Text 20"/>
          <p:cNvSpPr txBox="1"/>
          <p:nvPr/>
        </p:nvSpPr>
        <p:spPr>
          <a:xfrm>
            <a:off x="1298448" y="5431536"/>
            <a:ext cx="10241280" cy="292608"/>
          </a:xfrm>
          <a:prstGeom prst="rect">
            <a:avLst/>
          </a:prstGeom>
          <a:noFill/>
          <a:ln/>
        </p:spPr>
        <p:txBody>
          <a:bodyPr wrap="square" lIns="0" tIns="0" rIns="0" bIns="0" rtlCol="0" anchor="ctr"/>
          <a:lstStyle/>
          <a:p>
            <a:pPr marL="0" indent="0">
              <a:buNone/>
            </a:pPr>
            <a:r>
              <a:rPr lang="en-US" sz="1400" b="1" dirty="0">
                <a:solidFill>
                  <a:srgbClr val="12345F"/>
                </a:solidFill>
                <a:latin typeface="Aptos" pitchFamily="34" charset="0"/>
                <a:ea typeface="Cambria" pitchFamily="34" charset="-122"/>
                <a:cs typeface="Cambria" pitchFamily="34" charset="-120"/>
              </a:rPr>
              <a:t>Fiabiliser la donnée avant de cibler plus fin</a:t>
            </a:r>
            <a:endParaRPr lang="en-US" sz="1400" dirty="0"/>
          </a:p>
        </p:txBody>
      </p:sp>
      <p:sp>
        <p:nvSpPr>
          <p:cNvPr id="23" name="Text 21"/>
          <p:cNvSpPr txBox="1"/>
          <p:nvPr/>
        </p:nvSpPr>
        <p:spPr>
          <a:xfrm>
            <a:off x="1298448" y="5742432"/>
            <a:ext cx="10241280" cy="548640"/>
          </a:xfrm>
          <a:prstGeom prst="rect">
            <a:avLst/>
          </a:prstGeom>
          <a:noFill/>
          <a:ln/>
        </p:spPr>
        <p:txBody>
          <a:bodyPr wrap="square" lIns="0" tIns="0" rIns="0" bIns="0" rtlCol="0" anchor="ctr"/>
          <a:lstStyle/>
          <a:p>
            <a:pPr marL="0" indent="0">
              <a:buNone/>
            </a:pPr>
            <a:r>
              <a:rPr lang="en-US" sz="1150" dirty="0">
                <a:solidFill>
                  <a:srgbClr val="0B0B0B"/>
                </a:solidFill>
                <a:latin typeface="Aptos" pitchFamily="34" charset="0"/>
                <a:ea typeface="Calibri" pitchFamily="34" charset="-122"/>
                <a:cs typeface="Calibri" pitchFamily="34" charset="-120"/>
              </a:rPr>
              <a:t>Avant un ciblage plus fin, compléter les données : boutiques CANAL+, couverture radio et opérateur des points mobile money.</a:t>
            </a:r>
            <a:endParaRPr lang="en-US" sz="1150" dirty="0"/>
          </a:p>
        </p:txBody>
      </p:sp>
      <p:sp>
        <p:nvSpPr>
          <p:cNvPr id="24" name="Text 22"/>
          <p:cNvSpPr txBox="1"/>
          <p:nvPr/>
        </p:nvSpPr>
        <p:spPr>
          <a:xfrm>
            <a:off x="640080" y="6350508"/>
            <a:ext cx="10881360" cy="365760"/>
          </a:xfrm>
          <a:prstGeom prst="rect">
            <a:avLst/>
          </a:prstGeom>
          <a:noFill/>
          <a:ln/>
        </p:spPr>
        <p:txBody>
          <a:bodyPr wrap="square" lIns="0" tIns="0" rIns="0" bIns="0" rtlCol="0" anchor="ctr"/>
          <a:lstStyle/>
          <a:p>
            <a:pPr marL="0" indent="0">
              <a:buNone/>
            </a:pPr>
            <a:r>
              <a:rPr lang="en-US" sz="1600" b="1" dirty="0">
                <a:solidFill>
                  <a:srgbClr val="0B0B0B"/>
                </a:solidFill>
                <a:latin typeface="Aptos" pitchFamily="34" charset="0"/>
                <a:ea typeface="Calibri" pitchFamily="34" charset="-122"/>
                <a:cs typeface="Calibri" pitchFamily="34" charset="-120"/>
              </a:rPr>
              <a:t>Les trois premières recommandations viennent du score ; les deux dernières répondent aux limites des données.</a:t>
            </a:r>
            <a:endParaRPr lang="en-US" sz="1600" b="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CFB"/>
        </a:solidFill>
        <a:effectLst/>
      </p:bgPr>
    </p:bg>
    <p:spTree>
      <p:nvGrpSpPr>
        <p:cNvPr id="1" name=""/>
        <p:cNvGrpSpPr/>
        <p:nvPr/>
      </p:nvGrpSpPr>
      <p:grpSpPr>
        <a:xfrm>
          <a:off x="0" y="0"/>
          <a:ext cx="0" cy="0"/>
          <a:chOff x="0" y="0"/>
          <a:chExt cx="0" cy="0"/>
        </a:xfrm>
      </p:grpSpPr>
      <p:sp>
        <p:nvSpPr>
          <p:cNvPr id="2" name="Text 0"/>
          <p:cNvSpPr txBox="1"/>
          <p:nvPr/>
        </p:nvSpPr>
        <p:spPr>
          <a:xfrm>
            <a:off x="822960" y="777240"/>
            <a:ext cx="10515600" cy="274320"/>
          </a:xfrm>
          <a:prstGeom prst="rect">
            <a:avLst/>
          </a:prstGeom>
          <a:noFill/>
          <a:ln/>
        </p:spPr>
        <p:txBody>
          <a:bodyPr wrap="square" lIns="0" tIns="0" rIns="0" bIns="0" rtlCol="0" anchor="ctr"/>
          <a:lstStyle/>
          <a:p>
            <a:pPr marL="0" indent="0">
              <a:buNone/>
            </a:pPr>
            <a:r>
              <a:rPr lang="en-US" sz="1200" b="1" kern="0" spc="200" dirty="0">
                <a:solidFill>
                  <a:srgbClr val="12345F"/>
                </a:solidFill>
                <a:latin typeface="Aptos" pitchFamily="34" charset="0"/>
                <a:ea typeface="Calibri" pitchFamily="34" charset="-122"/>
                <a:cs typeface="Calibri" pitchFamily="34" charset="-120"/>
              </a:rPr>
              <a:t>CE SUR QUOI REPOSE CE DIAGNOSTIC </a:t>
            </a:r>
            <a:endParaRPr lang="en-US" sz="1200" dirty="0"/>
          </a:p>
        </p:txBody>
      </p:sp>
      <p:sp>
        <p:nvSpPr>
          <p:cNvPr id="3" name="Text 1"/>
          <p:cNvSpPr txBox="1"/>
          <p:nvPr/>
        </p:nvSpPr>
        <p:spPr>
          <a:xfrm>
            <a:off x="822960" y="1097280"/>
            <a:ext cx="10515600" cy="640080"/>
          </a:xfrm>
          <a:prstGeom prst="rect">
            <a:avLst/>
          </a:prstGeom>
          <a:noFill/>
          <a:ln/>
        </p:spPr>
        <p:txBody>
          <a:bodyPr wrap="square" lIns="0" tIns="0" rIns="0" bIns="0" rtlCol="0" anchor="ctr"/>
          <a:lstStyle/>
          <a:p>
            <a:pPr marL="0" indent="0">
              <a:buNone/>
            </a:pPr>
            <a:r>
              <a:rPr lang="en-US" sz="3000" b="1" dirty="0">
                <a:solidFill>
                  <a:srgbClr val="12345F"/>
                </a:solidFill>
                <a:latin typeface="Aptos" pitchFamily="34" charset="0"/>
                <a:ea typeface="Cambria" pitchFamily="34" charset="-122"/>
                <a:cs typeface="Cambria" pitchFamily="34" charset="-120"/>
              </a:rPr>
              <a:t>Six </a:t>
            </a:r>
            <a:r>
              <a:rPr lang="en-US" sz="3000" b="1" dirty="0" err="1">
                <a:solidFill>
                  <a:srgbClr val="12345F"/>
                </a:solidFill>
                <a:latin typeface="Aptos" pitchFamily="34" charset="0"/>
                <a:ea typeface="Cambria" pitchFamily="34" charset="-122"/>
                <a:cs typeface="Cambria" pitchFamily="34" charset="-120"/>
              </a:rPr>
              <a:t>hypothèses</a:t>
            </a:r>
            <a:endParaRPr lang="en-US" sz="3000" dirty="0"/>
          </a:p>
        </p:txBody>
      </p:sp>
      <p:sp>
        <p:nvSpPr>
          <p:cNvPr id="4" name="Text 2"/>
          <p:cNvSpPr txBox="1"/>
          <p:nvPr/>
        </p:nvSpPr>
        <p:spPr>
          <a:xfrm>
            <a:off x="822960" y="2011680"/>
            <a:ext cx="3337560" cy="274320"/>
          </a:xfrm>
          <a:prstGeom prst="rect">
            <a:avLst/>
          </a:prstGeom>
          <a:noFill/>
          <a:ln/>
        </p:spPr>
        <p:txBody>
          <a:bodyPr wrap="square" lIns="0" tIns="0" rIns="0" bIns="0" rtlCol="0" anchor="ctr"/>
          <a:lstStyle/>
          <a:p>
            <a:pPr marL="0" indent="0">
              <a:buNone/>
            </a:pPr>
            <a:r>
              <a:rPr lang="en-US" sz="1600" b="1" dirty="0">
                <a:solidFill>
                  <a:srgbClr val="12345F"/>
                </a:solidFill>
                <a:latin typeface="Aptos" pitchFamily="34" charset="0"/>
                <a:ea typeface="Cambria" pitchFamily="34" charset="-122"/>
                <a:cs typeface="Cambria" pitchFamily="34" charset="-120"/>
              </a:rPr>
              <a:t>H1 · Norme d’équité</a:t>
            </a:r>
            <a:endParaRPr lang="en-US" sz="1600" dirty="0"/>
          </a:p>
        </p:txBody>
      </p:sp>
      <p:sp>
        <p:nvSpPr>
          <p:cNvPr id="5" name="Text 3"/>
          <p:cNvSpPr txBox="1"/>
          <p:nvPr/>
        </p:nvSpPr>
        <p:spPr>
          <a:xfrm>
            <a:off x="822960" y="2322576"/>
            <a:ext cx="3337560" cy="1143000"/>
          </a:xfrm>
          <a:prstGeom prst="rect">
            <a:avLst/>
          </a:prstGeom>
          <a:noFill/>
          <a:ln/>
        </p:spPr>
        <p:txBody>
          <a:bodyPr wrap="square" lIns="0" tIns="0" rIns="0" bIns="0" rtlCol="0" anchor="ctr"/>
          <a:lstStyle/>
          <a:p>
            <a:pPr marL="0" indent="0">
              <a:buNone/>
            </a:pPr>
            <a:r>
              <a:rPr lang="en-US" sz="1600" dirty="0">
                <a:solidFill>
                  <a:srgbClr val="0B0B0B"/>
                </a:solidFill>
                <a:latin typeface="Aptos" pitchFamily="34" charset="0"/>
                <a:ea typeface="Calibri" pitchFamily="34" charset="-122"/>
                <a:cs typeface="Calibri" pitchFamily="34" charset="-120"/>
              </a:rPr>
              <a:t>« Attendu » = répartition proportionnelle à la population. C’est une norme d’équité, pas une loi économique.</a:t>
            </a:r>
            <a:endParaRPr lang="en-US" sz="1600" dirty="0"/>
          </a:p>
        </p:txBody>
      </p:sp>
      <p:sp>
        <p:nvSpPr>
          <p:cNvPr id="6" name="Text 4"/>
          <p:cNvSpPr txBox="1"/>
          <p:nvPr/>
        </p:nvSpPr>
        <p:spPr>
          <a:xfrm>
            <a:off x="4602480" y="2011680"/>
            <a:ext cx="3337560" cy="274320"/>
          </a:xfrm>
          <a:prstGeom prst="rect">
            <a:avLst/>
          </a:prstGeom>
          <a:noFill/>
          <a:ln/>
        </p:spPr>
        <p:txBody>
          <a:bodyPr wrap="square" lIns="0" tIns="0" rIns="0" bIns="0" rtlCol="0" anchor="ctr"/>
          <a:lstStyle/>
          <a:p>
            <a:pPr marL="0" indent="0">
              <a:buNone/>
            </a:pPr>
            <a:r>
              <a:rPr lang="en-US" sz="1600" b="1" dirty="0">
                <a:solidFill>
                  <a:srgbClr val="12345F"/>
                </a:solidFill>
                <a:latin typeface="Aptos" pitchFamily="34" charset="0"/>
                <a:ea typeface="Cambria" pitchFamily="34" charset="-122"/>
                <a:cs typeface="Cambria" pitchFamily="34" charset="-120"/>
              </a:rPr>
              <a:t>H2 · Poids de la population</a:t>
            </a:r>
            <a:endParaRPr lang="en-US" sz="1600" dirty="0"/>
          </a:p>
        </p:txBody>
      </p:sp>
      <p:sp>
        <p:nvSpPr>
          <p:cNvPr id="7" name="Text 5"/>
          <p:cNvSpPr txBox="1"/>
          <p:nvPr/>
        </p:nvSpPr>
        <p:spPr>
          <a:xfrm>
            <a:off x="4488180" y="2157984"/>
            <a:ext cx="3337560" cy="905256"/>
          </a:xfrm>
          <a:prstGeom prst="rect">
            <a:avLst/>
          </a:prstGeom>
          <a:noFill/>
          <a:ln/>
        </p:spPr>
        <p:txBody>
          <a:bodyPr wrap="square" lIns="0" tIns="0" rIns="0" bIns="0" rtlCol="0" anchor="ctr"/>
          <a:lstStyle/>
          <a:p>
            <a:pPr marL="0" indent="0">
              <a:buNone/>
            </a:pPr>
            <a:r>
              <a:rPr lang="en-US" sz="1600" dirty="0">
                <a:solidFill>
                  <a:srgbClr val="0B0B0B"/>
                </a:solidFill>
                <a:latin typeface="Aptos" pitchFamily="34" charset="0"/>
                <a:ea typeface="Calibri" pitchFamily="34" charset="-122"/>
                <a:cs typeface="Calibri" pitchFamily="34" charset="-120"/>
              </a:rPr>
              <a:t>α = 0,5 est un arbitrage politique réglable dans le tableau de bord.</a:t>
            </a:r>
            <a:endParaRPr lang="en-US" sz="1600" dirty="0"/>
          </a:p>
        </p:txBody>
      </p:sp>
      <p:sp>
        <p:nvSpPr>
          <p:cNvPr id="8" name="Text 6"/>
          <p:cNvSpPr txBox="1"/>
          <p:nvPr/>
        </p:nvSpPr>
        <p:spPr>
          <a:xfrm>
            <a:off x="8229600" y="2011680"/>
            <a:ext cx="3337560" cy="274320"/>
          </a:xfrm>
          <a:prstGeom prst="rect">
            <a:avLst/>
          </a:prstGeom>
          <a:noFill/>
          <a:ln/>
        </p:spPr>
        <p:txBody>
          <a:bodyPr wrap="square" lIns="0" tIns="0" rIns="0" bIns="0" rtlCol="0" anchor="ctr"/>
          <a:lstStyle/>
          <a:p>
            <a:pPr marL="0" indent="0">
              <a:buNone/>
            </a:pPr>
            <a:r>
              <a:rPr lang="en-US" sz="1600" b="1" dirty="0">
                <a:solidFill>
                  <a:srgbClr val="12345F"/>
                </a:solidFill>
                <a:latin typeface="Aptos" pitchFamily="34" charset="0"/>
                <a:ea typeface="Cambria" pitchFamily="34" charset="-122"/>
                <a:cs typeface="Cambria" pitchFamily="34" charset="-120"/>
              </a:rPr>
              <a:t>H3 · Couverture radio</a:t>
            </a:r>
            <a:endParaRPr lang="en-US" sz="1600" dirty="0"/>
          </a:p>
        </p:txBody>
      </p:sp>
      <p:sp>
        <p:nvSpPr>
          <p:cNvPr id="9" name="Text 7"/>
          <p:cNvSpPr txBox="1"/>
          <p:nvPr/>
        </p:nvSpPr>
        <p:spPr>
          <a:xfrm>
            <a:off x="8201025" y="2227326"/>
            <a:ext cx="3337560" cy="1143000"/>
          </a:xfrm>
          <a:prstGeom prst="rect">
            <a:avLst/>
          </a:prstGeom>
          <a:noFill/>
          <a:ln/>
        </p:spPr>
        <p:txBody>
          <a:bodyPr wrap="square" lIns="0" tIns="0" rIns="0" bIns="0" rtlCol="0" anchor="ctr"/>
          <a:lstStyle/>
          <a:p>
            <a:pPr marL="0" indent="0">
              <a:buNone/>
            </a:pPr>
            <a:r>
              <a:rPr lang="en-US" sz="1600" dirty="0">
                <a:solidFill>
                  <a:srgbClr val="0B0B0B"/>
                </a:solidFill>
                <a:latin typeface="Aptos" pitchFamily="34" charset="0"/>
                <a:ea typeface="Calibri" pitchFamily="34" charset="-122"/>
                <a:cs typeface="Calibri" pitchFamily="34" charset="-120"/>
              </a:rPr>
              <a:t>Faute de données radio accessibles, une zone blanche signifie ici absence de service physique, pas absence de signal.</a:t>
            </a:r>
            <a:endParaRPr lang="en-US" sz="1600" dirty="0"/>
          </a:p>
        </p:txBody>
      </p:sp>
      <p:sp>
        <p:nvSpPr>
          <p:cNvPr id="10" name="Text 8"/>
          <p:cNvSpPr txBox="1"/>
          <p:nvPr/>
        </p:nvSpPr>
        <p:spPr>
          <a:xfrm>
            <a:off x="822960" y="3611880"/>
            <a:ext cx="3337560" cy="274320"/>
          </a:xfrm>
          <a:prstGeom prst="rect">
            <a:avLst/>
          </a:prstGeom>
          <a:noFill/>
          <a:ln/>
        </p:spPr>
        <p:txBody>
          <a:bodyPr wrap="square" lIns="0" tIns="0" rIns="0" bIns="0" rtlCol="0" anchor="ctr"/>
          <a:lstStyle/>
          <a:p>
            <a:pPr marL="0" indent="0">
              <a:buNone/>
            </a:pPr>
            <a:r>
              <a:rPr lang="en-US" sz="1600" b="1" dirty="0">
                <a:solidFill>
                  <a:srgbClr val="12345F"/>
                </a:solidFill>
                <a:latin typeface="Aptos" pitchFamily="34" charset="0"/>
                <a:ea typeface="Cambria" pitchFamily="34" charset="-122"/>
                <a:cs typeface="Cambria" pitchFamily="34" charset="-120"/>
              </a:rPr>
              <a:t>H4 · Centroïde du canton</a:t>
            </a:r>
            <a:endParaRPr lang="en-US" sz="1600" dirty="0"/>
          </a:p>
        </p:txBody>
      </p:sp>
      <p:sp>
        <p:nvSpPr>
          <p:cNvPr id="11" name="Text 9"/>
          <p:cNvSpPr txBox="1"/>
          <p:nvPr/>
        </p:nvSpPr>
        <p:spPr>
          <a:xfrm>
            <a:off x="822960" y="3842004"/>
            <a:ext cx="3337560" cy="1033272"/>
          </a:xfrm>
          <a:prstGeom prst="rect">
            <a:avLst/>
          </a:prstGeom>
          <a:noFill/>
          <a:ln/>
        </p:spPr>
        <p:txBody>
          <a:bodyPr wrap="square" lIns="0" tIns="0" rIns="0" bIns="0" rtlCol="0" anchor="ctr"/>
          <a:lstStyle/>
          <a:p>
            <a:pPr marL="0" indent="0">
              <a:buNone/>
            </a:pPr>
            <a:r>
              <a:rPr lang="en-US" sz="1600" dirty="0">
                <a:solidFill>
                  <a:srgbClr val="0B0B0B"/>
                </a:solidFill>
                <a:latin typeface="Aptos" pitchFamily="34" charset="0"/>
                <a:ea typeface="Calibri" pitchFamily="34" charset="-122"/>
                <a:cs typeface="Calibri" pitchFamily="34" charset="-120"/>
              </a:rPr>
              <a:t>Les distances partent du centroïde du canton, faute de population infra-préfectorale.</a:t>
            </a:r>
            <a:endParaRPr lang="en-US" sz="1600" dirty="0"/>
          </a:p>
        </p:txBody>
      </p:sp>
      <p:sp>
        <p:nvSpPr>
          <p:cNvPr id="12" name="Text 10"/>
          <p:cNvSpPr txBox="1"/>
          <p:nvPr/>
        </p:nvSpPr>
        <p:spPr>
          <a:xfrm>
            <a:off x="4526280" y="3611880"/>
            <a:ext cx="3337560" cy="274320"/>
          </a:xfrm>
          <a:prstGeom prst="rect">
            <a:avLst/>
          </a:prstGeom>
          <a:noFill/>
          <a:ln/>
        </p:spPr>
        <p:txBody>
          <a:bodyPr wrap="square" lIns="0" tIns="0" rIns="0" bIns="0" rtlCol="0" anchor="ctr"/>
          <a:lstStyle/>
          <a:p>
            <a:pPr marL="0" indent="0">
              <a:buNone/>
            </a:pPr>
            <a:r>
              <a:rPr lang="en-US" sz="1600" b="1" dirty="0">
                <a:solidFill>
                  <a:srgbClr val="12345F"/>
                </a:solidFill>
                <a:latin typeface="Aptos" pitchFamily="34" charset="0"/>
                <a:ea typeface="Cambria" pitchFamily="34" charset="-122"/>
                <a:cs typeface="Cambria" pitchFamily="34" charset="-120"/>
              </a:rPr>
              <a:t>H5 · Noms reconstruits</a:t>
            </a:r>
            <a:endParaRPr lang="en-US" sz="1600" dirty="0"/>
          </a:p>
        </p:txBody>
      </p:sp>
      <p:sp>
        <p:nvSpPr>
          <p:cNvPr id="13" name="Text 11"/>
          <p:cNvSpPr txBox="1"/>
          <p:nvPr/>
        </p:nvSpPr>
        <p:spPr>
          <a:xfrm>
            <a:off x="4526280" y="3742563"/>
            <a:ext cx="3337560" cy="1143000"/>
          </a:xfrm>
          <a:prstGeom prst="rect">
            <a:avLst/>
          </a:prstGeom>
          <a:noFill/>
          <a:ln/>
        </p:spPr>
        <p:txBody>
          <a:bodyPr wrap="square" lIns="0" tIns="0" rIns="0" bIns="0" rtlCol="0" anchor="ctr"/>
          <a:lstStyle/>
          <a:p>
            <a:pPr marL="0" indent="0">
              <a:buNone/>
            </a:pPr>
            <a:r>
              <a:rPr lang="en-US" sz="1600" dirty="0">
                <a:solidFill>
                  <a:srgbClr val="0B0B0B"/>
                </a:solidFill>
                <a:latin typeface="Aptos" pitchFamily="34" charset="0"/>
                <a:ea typeface="Calibri" pitchFamily="34" charset="-122"/>
                <a:cs typeface="Calibri" pitchFamily="34" charset="-120"/>
              </a:rPr>
              <a:t>Les noms ont été reconstruits par jointure spatiale ; 39/39 préfectures concordent.</a:t>
            </a:r>
            <a:endParaRPr lang="en-US" sz="1600" dirty="0"/>
          </a:p>
        </p:txBody>
      </p:sp>
      <p:sp>
        <p:nvSpPr>
          <p:cNvPr id="14" name="Text 12"/>
          <p:cNvSpPr txBox="1"/>
          <p:nvPr/>
        </p:nvSpPr>
        <p:spPr>
          <a:xfrm>
            <a:off x="8229600" y="3611880"/>
            <a:ext cx="3337560" cy="274320"/>
          </a:xfrm>
          <a:prstGeom prst="rect">
            <a:avLst/>
          </a:prstGeom>
          <a:noFill/>
          <a:ln/>
        </p:spPr>
        <p:txBody>
          <a:bodyPr wrap="square" lIns="0" tIns="0" rIns="0" bIns="0" rtlCol="0" anchor="ctr"/>
          <a:lstStyle/>
          <a:p>
            <a:pPr marL="0" indent="0">
              <a:buNone/>
            </a:pPr>
            <a:r>
              <a:rPr lang="en-US" sz="1600" b="1" dirty="0">
                <a:solidFill>
                  <a:srgbClr val="12345F"/>
                </a:solidFill>
                <a:latin typeface="Aptos" pitchFamily="34" charset="0"/>
                <a:ea typeface="Cambria" pitchFamily="34" charset="-122"/>
                <a:cs typeface="Cambria" pitchFamily="34" charset="-120"/>
              </a:rPr>
              <a:t>H6 · Données et millésimes</a:t>
            </a:r>
            <a:endParaRPr lang="en-US" sz="1600" dirty="0"/>
          </a:p>
        </p:txBody>
      </p:sp>
      <p:sp>
        <p:nvSpPr>
          <p:cNvPr id="15" name="Text 13"/>
          <p:cNvSpPr txBox="1"/>
          <p:nvPr/>
        </p:nvSpPr>
        <p:spPr>
          <a:xfrm>
            <a:off x="8201025" y="3813049"/>
            <a:ext cx="3337560" cy="1143000"/>
          </a:xfrm>
          <a:prstGeom prst="rect">
            <a:avLst/>
          </a:prstGeom>
          <a:noFill/>
          <a:ln/>
        </p:spPr>
        <p:txBody>
          <a:bodyPr wrap="square" lIns="0" tIns="0" rIns="0" bIns="0" rtlCol="0" anchor="ctr"/>
          <a:lstStyle/>
          <a:p>
            <a:pPr marL="0" indent="0">
              <a:buNone/>
            </a:pPr>
            <a:r>
              <a:rPr lang="en-US" sz="1600" dirty="0">
                <a:solidFill>
                  <a:srgbClr val="0B0B0B"/>
                </a:solidFill>
                <a:latin typeface="Aptos" pitchFamily="34" charset="0"/>
                <a:ea typeface="Calibri" pitchFamily="34" charset="-122"/>
                <a:cs typeface="Calibri" pitchFamily="34" charset="-120"/>
              </a:rPr>
              <a:t>Les données forment un inventaire. Population 2022, implantations de date inconnue, 6,8 % d’opérateurs non renseignés.</a:t>
            </a:r>
            <a:endParaRPr lang="en-US" sz="1600" dirty="0"/>
          </a:p>
        </p:txBody>
      </p:sp>
      <p:sp>
        <p:nvSpPr>
          <p:cNvPr id="16" name="Shape 14"/>
          <p:cNvSpPr/>
          <p:nvPr/>
        </p:nvSpPr>
        <p:spPr>
          <a:xfrm>
            <a:off x="822960" y="5257800"/>
            <a:ext cx="10515600" cy="0"/>
          </a:xfrm>
          <a:prstGeom prst="line">
            <a:avLst/>
          </a:prstGeom>
          <a:noFill/>
          <a:ln w="19050">
            <a:solidFill>
              <a:srgbClr val="1C7C54"/>
            </a:solidFill>
            <a:prstDash val="solid"/>
          </a:ln>
        </p:spPr>
        <p:txBody>
          <a:bodyPr/>
          <a:lstStyle/>
          <a:p>
            <a:endParaRPr/>
          </a:p>
        </p:txBody>
      </p:sp>
      <p:sp>
        <p:nvSpPr>
          <p:cNvPr id="17" name="Text 15"/>
          <p:cNvSpPr txBox="1"/>
          <p:nvPr/>
        </p:nvSpPr>
        <p:spPr>
          <a:xfrm>
            <a:off x="822960" y="5468112"/>
            <a:ext cx="6858000" cy="320040"/>
          </a:xfrm>
          <a:prstGeom prst="rect">
            <a:avLst/>
          </a:prstGeom>
          <a:noFill/>
          <a:ln/>
        </p:spPr>
        <p:txBody>
          <a:bodyPr wrap="square" lIns="0" tIns="0" rIns="0" bIns="0" rtlCol="0" anchor="ctr"/>
          <a:lstStyle/>
          <a:p>
            <a:pPr marL="0" indent="0">
              <a:buNone/>
            </a:pPr>
            <a:r>
              <a:rPr lang="en-US" sz="1600" b="1" dirty="0">
                <a:solidFill>
                  <a:srgbClr val="12345F"/>
                </a:solidFill>
                <a:latin typeface="Aptos" pitchFamily="34" charset="0"/>
                <a:ea typeface="Cambria" pitchFamily="34" charset="-122"/>
                <a:cs typeface="Cambria" pitchFamily="34" charset="-120"/>
              </a:rPr>
              <a:t>Tableau de bord interactif, données et code reproductible</a:t>
            </a:r>
            <a:endParaRPr lang="en-US" sz="1600" dirty="0"/>
          </a:p>
        </p:txBody>
      </p:sp>
      <p:sp>
        <p:nvSpPr>
          <p:cNvPr id="18" name="Text 16"/>
          <p:cNvSpPr txBox="1"/>
          <p:nvPr/>
        </p:nvSpPr>
        <p:spPr>
          <a:xfrm>
            <a:off x="822960" y="5797296"/>
            <a:ext cx="10515600" cy="548640"/>
          </a:xfrm>
          <a:prstGeom prst="rect">
            <a:avLst/>
          </a:prstGeom>
          <a:noFill/>
          <a:ln/>
        </p:spPr>
        <p:txBody>
          <a:bodyPr wrap="square" lIns="0" tIns="0" rIns="0" bIns="0" rtlCol="0" anchor="ctr"/>
          <a:lstStyle/>
          <a:p>
            <a:pPr marL="0" indent="0">
              <a:buNone/>
            </a:pPr>
            <a:r>
              <a:rPr lang="en-US" sz="1600" dirty="0">
                <a:solidFill>
                  <a:srgbClr val="0B0B0B"/>
                </a:solidFill>
                <a:latin typeface="Aptos" pitchFamily="34" charset="0"/>
                <a:ea typeface="Calibri" pitchFamily="34" charset="-122"/>
                <a:cs typeface="Calibri" pitchFamily="34" charset="-120"/>
              </a:rPr>
              <a:t>8 vues filtrables par région ; analyse cantonale dans Accès local ; lecture recalculée ; export CSV ; 3 scripts Python reproductibles.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TotalTime>
  <Words>1308</Words>
  <Application>Microsoft Office PowerPoint</Application>
  <PresentationFormat>Widescreen</PresentationFormat>
  <Paragraphs>148</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Accès aux télécoms et aux services numériques au Togo</dc:title>
  <dc:subject>PptxGenJS Presentation</dc:subject>
  <dc:creator>Komi Selassi GAYI</dc:creator>
  <cp:lastModifiedBy>Gayi Komi Selassi</cp:lastModifiedBy>
  <cp:revision>2</cp:revision>
  <dcterms:created xsi:type="dcterms:W3CDTF">2026-09-11T13:50:44Z</dcterms:created>
  <dcterms:modified xsi:type="dcterms:W3CDTF">2026-09-13T14:37:21Z</dcterms:modified>
</cp:coreProperties>
</file>